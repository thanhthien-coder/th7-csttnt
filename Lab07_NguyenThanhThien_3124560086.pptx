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 id="214748367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Lst>
  <p:sldSz cy="6858000" cx="12192000"/>
  <p:notesSz cx="6858000" cy="9144000"/>
  <p:embeddedFontLst>
    <p:embeddedFont>
      <p:font typeface="Plus Jakarta Sans ExtraBold"/>
      <p:bold r:id="rId60"/>
      <p:boldItalic r:id="rId61"/>
    </p:embeddedFont>
    <p:embeddedFont>
      <p:font typeface="Inter SemiBold"/>
      <p:regular r:id="rId62"/>
      <p:bold r:id="rId63"/>
      <p:italic r:id="rId64"/>
      <p:boldItalic r:id="rId65"/>
    </p:embeddedFont>
    <p:embeddedFont>
      <p:font typeface="Playfair Display"/>
      <p:regular r:id="rId66"/>
      <p:bold r:id="rId67"/>
      <p:italic r:id="rId68"/>
      <p:boldItalic r:id="rId69"/>
    </p:embeddedFont>
    <p:embeddedFont>
      <p:font typeface="Nunito"/>
      <p:regular r:id="rId70"/>
      <p:bold r:id="rId71"/>
      <p:italic r:id="rId72"/>
      <p:boldItalic r:id="rId73"/>
    </p:embeddedFont>
    <p:embeddedFont>
      <p:font typeface="Plus Jakarta Sans"/>
      <p:regular r:id="rId74"/>
      <p:bold r:id="rId75"/>
      <p:italic r:id="rId76"/>
      <p:boldItalic r:id="rId77"/>
    </p:embeddedFont>
    <p:embeddedFont>
      <p:font typeface="Inter"/>
      <p:regular r:id="rId78"/>
      <p:bold r:id="rId79"/>
      <p:italic r:id="rId80"/>
      <p:boldItalic r:id="rId81"/>
    </p:embeddedFont>
    <p:embeddedFont>
      <p:font typeface="Plus Jakarta Sans SemiBold"/>
      <p:regular r:id="rId82"/>
      <p:bold r:id="rId83"/>
      <p:italic r:id="rId84"/>
      <p:boldItalic r:id="rId85"/>
    </p:embeddedFont>
    <p:embeddedFont>
      <p:font typeface="Plus Jakarta Sans Medium"/>
      <p:regular r:id="rId86"/>
      <p:bold r:id="rId87"/>
      <p:italic r:id="rId88"/>
      <p:boldItalic r:id="rId89"/>
    </p:embeddedFont>
    <p:embeddedFont>
      <p:font typeface="Inter ExtraBold"/>
      <p:bold r:id="rId90"/>
      <p:boldItalic r:id="rId91"/>
    </p:embeddedFont>
    <p:embeddedFont>
      <p:font typeface="Playfair Display ExtraBold"/>
      <p:bold r:id="rId92"/>
      <p:boldItalic r:id="rId93"/>
    </p:embeddedFont>
    <p:embeddedFont>
      <p:font typeface="Roboto Mono"/>
      <p:regular r:id="rId94"/>
      <p:bold r:id="rId95"/>
      <p:italic r:id="rId96"/>
      <p:boldItalic r:id="rId9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AAFA0E-85FE-4FC6-A6DD-8A86827CEECE}">
  <a:tblStyle styleId="{B6AAFA0E-85FE-4FC6-A6DD-8A86827CEEC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font" Target="fonts/RobotoMono-bold.fntdata"/><Relationship Id="rId94" Type="http://schemas.openxmlformats.org/officeDocument/2006/relationships/font" Target="fonts/RobotoMono-regular.fntdata"/><Relationship Id="rId97" Type="http://schemas.openxmlformats.org/officeDocument/2006/relationships/font" Target="fonts/RobotoMono-boldItalic.fntdata"/><Relationship Id="rId96" Type="http://schemas.openxmlformats.org/officeDocument/2006/relationships/font" Target="fonts/RobotoMono-italic.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font" Target="fonts/InterExtraBold-boldItalic.fntdata"/><Relationship Id="rId90" Type="http://schemas.openxmlformats.org/officeDocument/2006/relationships/font" Target="fonts/InterExtraBold-bold.fntdata"/><Relationship Id="rId93" Type="http://schemas.openxmlformats.org/officeDocument/2006/relationships/font" Target="fonts/PlayfairDisplayExtraBold-boldItalic.fntdata"/><Relationship Id="rId92" Type="http://schemas.openxmlformats.org/officeDocument/2006/relationships/font" Target="fonts/PlayfairDisplayExtraBold-bold.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font" Target="fonts/PlusJakartaSansSemiBold-italic.fntdata"/><Relationship Id="rId83" Type="http://schemas.openxmlformats.org/officeDocument/2006/relationships/font" Target="fonts/PlusJakartaSansSemiBold-bold.fntdata"/><Relationship Id="rId86" Type="http://schemas.openxmlformats.org/officeDocument/2006/relationships/font" Target="fonts/PlusJakartaSansMedium-regular.fntdata"/><Relationship Id="rId85" Type="http://schemas.openxmlformats.org/officeDocument/2006/relationships/font" Target="fonts/PlusJakartaSansSemiBold-boldItalic.fntdata"/><Relationship Id="rId88" Type="http://schemas.openxmlformats.org/officeDocument/2006/relationships/font" Target="fonts/PlusJakartaSansMedium-italic.fntdata"/><Relationship Id="rId87" Type="http://schemas.openxmlformats.org/officeDocument/2006/relationships/font" Target="fonts/PlusJakartaSansMedium-bold.fntdata"/><Relationship Id="rId89" Type="http://schemas.openxmlformats.org/officeDocument/2006/relationships/font" Target="fonts/PlusJakartaSansMedium-boldItalic.fntdata"/><Relationship Id="rId80" Type="http://schemas.openxmlformats.org/officeDocument/2006/relationships/font" Target="fonts/Inter-italic.fntdata"/><Relationship Id="rId82" Type="http://schemas.openxmlformats.org/officeDocument/2006/relationships/font" Target="fonts/PlusJakartaSansSemiBold-regular.fntdata"/><Relationship Id="rId81" Type="http://schemas.openxmlformats.org/officeDocument/2006/relationships/font" Target="fonts/Inter-boldItalic.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font" Target="fonts/Nunito-boldItalic.fntdata"/><Relationship Id="rId72" Type="http://schemas.openxmlformats.org/officeDocument/2006/relationships/font" Target="fonts/Nunito-italic.fntdata"/><Relationship Id="rId75" Type="http://schemas.openxmlformats.org/officeDocument/2006/relationships/font" Target="fonts/PlusJakartaSans-bold.fntdata"/><Relationship Id="rId74" Type="http://schemas.openxmlformats.org/officeDocument/2006/relationships/font" Target="fonts/PlusJakartaSans-regular.fntdata"/><Relationship Id="rId77" Type="http://schemas.openxmlformats.org/officeDocument/2006/relationships/font" Target="fonts/PlusJakartaSans-boldItalic.fntdata"/><Relationship Id="rId76" Type="http://schemas.openxmlformats.org/officeDocument/2006/relationships/font" Target="fonts/PlusJakartaSans-italic.fntdata"/><Relationship Id="rId79" Type="http://schemas.openxmlformats.org/officeDocument/2006/relationships/font" Target="fonts/Inter-bold.fntdata"/><Relationship Id="rId78" Type="http://schemas.openxmlformats.org/officeDocument/2006/relationships/font" Target="fonts/Inter-regular.fntdata"/><Relationship Id="rId71" Type="http://schemas.openxmlformats.org/officeDocument/2006/relationships/font" Target="fonts/Nunito-bold.fntdata"/><Relationship Id="rId70" Type="http://schemas.openxmlformats.org/officeDocument/2006/relationships/font" Target="fonts/Nunito-regular.fntdata"/><Relationship Id="rId62" Type="http://schemas.openxmlformats.org/officeDocument/2006/relationships/font" Target="fonts/InterSemiBold-regular.fntdata"/><Relationship Id="rId61" Type="http://schemas.openxmlformats.org/officeDocument/2006/relationships/font" Target="fonts/PlusJakartaSansExtraBold-boldItalic.fntdata"/><Relationship Id="rId64" Type="http://schemas.openxmlformats.org/officeDocument/2006/relationships/font" Target="fonts/InterSemiBold-italic.fntdata"/><Relationship Id="rId63" Type="http://schemas.openxmlformats.org/officeDocument/2006/relationships/font" Target="fonts/InterSemiBold-bold.fntdata"/><Relationship Id="rId66" Type="http://schemas.openxmlformats.org/officeDocument/2006/relationships/font" Target="fonts/PlayfairDisplay-regular.fntdata"/><Relationship Id="rId65" Type="http://schemas.openxmlformats.org/officeDocument/2006/relationships/font" Target="fonts/InterSemiBold-boldItalic.fntdata"/><Relationship Id="rId68" Type="http://schemas.openxmlformats.org/officeDocument/2006/relationships/font" Target="fonts/PlayfairDisplay-italic.fntdata"/><Relationship Id="rId67" Type="http://schemas.openxmlformats.org/officeDocument/2006/relationships/font" Target="fonts/PlayfairDisplay-bold.fntdata"/><Relationship Id="rId60" Type="http://schemas.openxmlformats.org/officeDocument/2006/relationships/font" Target="fonts/PlusJakartaSansExtraBold-bold.fntdata"/><Relationship Id="rId69" Type="http://schemas.openxmlformats.org/officeDocument/2006/relationships/font" Target="fonts/PlayfairDisplay-boldItalic.fntdata"/><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b4717f7b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cb4717f7be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b8b519f90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3cb8b519f90_0_8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cb8b519f90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cb8b519f90_0_3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c0a4a6cf8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c0a4a6cf83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cb4717f7be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cb4717f7be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cb5476165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3cb54761656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cb8b519f90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cb8b519f90_0_2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cb8b519f90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g3cb8b519f90_0_2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cb5476165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3cb54761656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c0a4a6cf83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3c0a4a6cf83_0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cb54761656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g3cb54761656_0_1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cb5476165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g3cb54761656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cb5476165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g3cb54761656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cb8b519f90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g3cb8b519f90_0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cb8b519f9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g3cb8b519f90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cb54761656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g3cb54761656_0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cb8b519f90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g3cb8b519f90_0_3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cb8b519f90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g3cb8b519f90_0_3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cb8b519f90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g3cb8b519f90_0_3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cb5476165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g3cb54761656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cb8b519f9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g3cb8b519f90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cb8b519f9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g3cb8b519f90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cb8b519f90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g3cb8b519f90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cb8b519f9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g3cb8b519f90_0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cb8b519f90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g3cb8b519f90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cb8b519f90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g3cb8b519f90_0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cb8b519f90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g3cb8b519f90_0_2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cbd8a673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g3cbd8a673d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cb8b519f90_0_1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g3cb8b519f90_0_11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cb8b519f90_0_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g3cb8b519f90_0_9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cb8b519f90_0_1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g3cb8b519f90_0_10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cb8b519f90_0_116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g3cb8b519f90_0_116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0" name="Google Shape;940;g3cb8b519f90_0_116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cb8b519f90_0_1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g3cb8b519f90_0_13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cb8b519f90_0_1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3cb8b519f90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1" name="Shape 8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8" name="Shape 88"/>
        <p:cNvGrpSpPr/>
        <p:nvPr/>
      </p:nvGrpSpPr>
      <p:grpSpPr>
        <a:xfrm>
          <a:off x="0" y="0"/>
          <a:ext cx="0" cy="0"/>
          <a:chOff x="0" y="0"/>
          <a:chExt cx="0" cy="0"/>
        </a:xfrm>
      </p:grpSpPr>
      <p:sp>
        <p:nvSpPr>
          <p:cNvPr id="89" name="Google Shape;89;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2" name="Shape 92"/>
        <p:cNvGrpSpPr/>
        <p:nvPr/>
      </p:nvGrpSpPr>
      <p:grpSpPr>
        <a:xfrm>
          <a:off x="0" y="0"/>
          <a:ext cx="0" cy="0"/>
          <a:chOff x="0" y="0"/>
          <a:chExt cx="0" cy="0"/>
        </a:xfrm>
      </p:grpSpPr>
      <p:sp>
        <p:nvSpPr>
          <p:cNvPr id="93" name="Google Shape;93;p17"/>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5" name="Google Shape;95;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8" name="Shape 98"/>
        <p:cNvGrpSpPr/>
        <p:nvPr/>
      </p:nvGrpSpPr>
      <p:grpSpPr>
        <a:xfrm>
          <a:off x="0" y="0"/>
          <a:ext cx="0" cy="0"/>
          <a:chOff x="0" y="0"/>
          <a:chExt cx="0" cy="0"/>
        </a:xfrm>
      </p:grpSpPr>
      <p:sp>
        <p:nvSpPr>
          <p:cNvPr id="99" name="Google Shape;9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1" name="Google Shape;101;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4" name="Shape 104"/>
        <p:cNvGrpSpPr/>
        <p:nvPr/>
      </p:nvGrpSpPr>
      <p:grpSpPr>
        <a:xfrm>
          <a:off x="0" y="0"/>
          <a:ext cx="0" cy="0"/>
          <a:chOff x="0" y="0"/>
          <a:chExt cx="0" cy="0"/>
        </a:xfrm>
      </p:grpSpPr>
      <p:sp>
        <p:nvSpPr>
          <p:cNvPr id="105" name="Google Shape;105;p19"/>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9"/>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7" name="Google Shape;107;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0" name="Shape 110"/>
        <p:cNvGrpSpPr/>
        <p:nvPr/>
      </p:nvGrpSpPr>
      <p:grpSpPr>
        <a:xfrm>
          <a:off x="0" y="0"/>
          <a:ext cx="0" cy="0"/>
          <a:chOff x="0" y="0"/>
          <a:chExt cx="0" cy="0"/>
        </a:xfrm>
      </p:grpSpPr>
      <p:sp>
        <p:nvSpPr>
          <p:cNvPr id="111" name="Google Shape;11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20"/>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3" name="Google Shape;113;p20"/>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4" name="Google Shape;114;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7" name="Shape 117"/>
        <p:cNvGrpSpPr/>
        <p:nvPr/>
      </p:nvGrpSpPr>
      <p:grpSpPr>
        <a:xfrm>
          <a:off x="0" y="0"/>
          <a:ext cx="0" cy="0"/>
          <a:chOff x="0" y="0"/>
          <a:chExt cx="0" cy="0"/>
        </a:xfrm>
      </p:grpSpPr>
      <p:sp>
        <p:nvSpPr>
          <p:cNvPr id="118" name="Google Shape;11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21"/>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0" name="Google Shape;120;p21"/>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1" name="Google Shape;121;p21"/>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2" name="Google Shape;122;p21"/>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3" name="Google Shape;123;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6" name="Shape 126"/>
        <p:cNvGrpSpPr/>
        <p:nvPr/>
      </p:nvGrpSpPr>
      <p:grpSpPr>
        <a:xfrm>
          <a:off x="0" y="0"/>
          <a:ext cx="0" cy="0"/>
          <a:chOff x="0" y="0"/>
          <a:chExt cx="0" cy="0"/>
        </a:xfrm>
      </p:grpSpPr>
      <p:sp>
        <p:nvSpPr>
          <p:cNvPr id="127" name="Google Shape;127;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1" name="Shape 131"/>
        <p:cNvGrpSpPr/>
        <p:nvPr/>
      </p:nvGrpSpPr>
      <p:grpSpPr>
        <a:xfrm>
          <a:off x="0" y="0"/>
          <a:ext cx="0" cy="0"/>
          <a:chOff x="0" y="0"/>
          <a:chExt cx="0" cy="0"/>
        </a:xfrm>
      </p:grpSpPr>
      <p:sp>
        <p:nvSpPr>
          <p:cNvPr id="132" name="Google Shape;132;p23"/>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23"/>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4" name="Google Shape;134;p23"/>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5" name="Google Shape;135;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8" name="Shape 138"/>
        <p:cNvGrpSpPr/>
        <p:nvPr/>
      </p:nvGrpSpPr>
      <p:grpSpPr>
        <a:xfrm>
          <a:off x="0" y="0"/>
          <a:ext cx="0" cy="0"/>
          <a:chOff x="0" y="0"/>
          <a:chExt cx="0" cy="0"/>
        </a:xfrm>
      </p:grpSpPr>
      <p:sp>
        <p:nvSpPr>
          <p:cNvPr id="139" name="Google Shape;139;p24"/>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24"/>
          <p:cNvSpPr/>
          <p:nvPr>
            <p:ph idx="2" type="pic"/>
          </p:nvPr>
        </p:nvSpPr>
        <p:spPr>
          <a:xfrm>
            <a:off x="1792288" y="612775"/>
            <a:ext cx="5486400" cy="4114800"/>
          </a:xfrm>
          <a:prstGeom prst="rect">
            <a:avLst/>
          </a:prstGeom>
          <a:noFill/>
          <a:ln>
            <a:noFill/>
          </a:ln>
        </p:spPr>
      </p:sp>
      <p:sp>
        <p:nvSpPr>
          <p:cNvPr id="141" name="Google Shape;141;p24"/>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2" name="Google Shape;142;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5" name="Shape 145"/>
        <p:cNvGrpSpPr/>
        <p:nvPr/>
      </p:nvGrpSpPr>
      <p:grpSpPr>
        <a:xfrm>
          <a:off x="0" y="0"/>
          <a:ext cx="0" cy="0"/>
          <a:chOff x="0" y="0"/>
          <a:chExt cx="0" cy="0"/>
        </a:xfrm>
      </p:grpSpPr>
      <p:sp>
        <p:nvSpPr>
          <p:cNvPr id="146" name="Google Shape;14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25"/>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 name="Google Shape;148;p2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2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1" name="Shape 151"/>
        <p:cNvGrpSpPr/>
        <p:nvPr/>
      </p:nvGrpSpPr>
      <p:grpSpPr>
        <a:xfrm>
          <a:off x="0" y="0"/>
          <a:ext cx="0" cy="0"/>
          <a:chOff x="0" y="0"/>
          <a:chExt cx="0" cy="0"/>
        </a:xfrm>
      </p:grpSpPr>
      <p:sp>
        <p:nvSpPr>
          <p:cNvPr id="152" name="Google Shape;152;p26"/>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26"/>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4" name="Google Shape;154;p2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2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4" name="Google Shape;84;p1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5" name="Google Shape;85;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6" name="Google Shape;86;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13.png"/><Relationship Id="rId13" Type="http://schemas.openxmlformats.org/officeDocument/2006/relationships/image" Target="../media/image15.png"/><Relationship Id="rId12"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9" Type="http://schemas.openxmlformats.org/officeDocument/2006/relationships/image" Target="../media/image4.png"/><Relationship Id="rId15" Type="http://schemas.openxmlformats.org/officeDocument/2006/relationships/image" Target="../media/image17.png"/><Relationship Id="rId14" Type="http://schemas.openxmlformats.org/officeDocument/2006/relationships/image" Target="../media/image21.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12.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1" Type="http://schemas.openxmlformats.org/officeDocument/2006/relationships/image" Target="../media/image28.png"/><Relationship Id="rId10" Type="http://schemas.openxmlformats.org/officeDocument/2006/relationships/image" Target="../media/image48.png"/><Relationship Id="rId13" Type="http://schemas.openxmlformats.org/officeDocument/2006/relationships/image" Target="../media/image30.png"/><Relationship Id="rId12" Type="http://schemas.openxmlformats.org/officeDocument/2006/relationships/image" Target="../media/image45.png"/><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1.png"/><Relationship Id="rId9" Type="http://schemas.openxmlformats.org/officeDocument/2006/relationships/image" Target="../media/image24.png"/><Relationship Id="rId15" Type="http://schemas.openxmlformats.org/officeDocument/2006/relationships/image" Target="../media/image18.png"/><Relationship Id="rId14" Type="http://schemas.openxmlformats.org/officeDocument/2006/relationships/image" Target="../media/image25.png"/><Relationship Id="rId5" Type="http://schemas.openxmlformats.org/officeDocument/2006/relationships/image" Target="../media/image9.png"/><Relationship Id="rId6" Type="http://schemas.openxmlformats.org/officeDocument/2006/relationships/image" Target="../media/image19.png"/><Relationship Id="rId7" Type="http://schemas.openxmlformats.org/officeDocument/2006/relationships/image" Target="../media/image16.png"/><Relationship Id="rId8" Type="http://schemas.openxmlformats.org/officeDocument/2006/relationships/image" Target="../media/image20.png"/></Relationships>
</file>

<file path=ppt/slides/_rels/slide4.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image" Target="../media/image35.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6.png"/><Relationship Id="rId4" Type="http://schemas.openxmlformats.org/officeDocument/2006/relationships/image" Target="../media/image22.png"/><Relationship Id="rId9" Type="http://schemas.openxmlformats.org/officeDocument/2006/relationships/image" Target="../media/image38.png"/><Relationship Id="rId5" Type="http://schemas.openxmlformats.org/officeDocument/2006/relationships/image" Target="../media/image27.png"/><Relationship Id="rId6" Type="http://schemas.openxmlformats.org/officeDocument/2006/relationships/image" Target="../media/image32.png"/><Relationship Id="rId7" Type="http://schemas.openxmlformats.org/officeDocument/2006/relationships/image" Target="../media/image31.png"/><Relationship Id="rId8" Type="http://schemas.openxmlformats.org/officeDocument/2006/relationships/image" Target="../media/image23.png"/></Relationships>
</file>

<file path=ppt/slides/_rels/slide5.xml.rels><?xml version="1.0" encoding="UTF-8" standalone="yes"?><Relationships xmlns="http://schemas.openxmlformats.org/package/2006/relationships"><Relationship Id="rId11" Type="http://schemas.openxmlformats.org/officeDocument/2006/relationships/image" Target="../media/image37.png"/><Relationship Id="rId10" Type="http://schemas.openxmlformats.org/officeDocument/2006/relationships/image" Target="../media/image43.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39.png"/><Relationship Id="rId5" Type="http://schemas.openxmlformats.org/officeDocument/2006/relationships/image" Target="../media/image34.png"/><Relationship Id="rId6" Type="http://schemas.openxmlformats.org/officeDocument/2006/relationships/image" Target="../media/image33.png"/><Relationship Id="rId7" Type="http://schemas.openxmlformats.org/officeDocument/2006/relationships/image" Target="../media/image47.png"/><Relationship Id="rId8"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9.png"/><Relationship Id="rId4" Type="http://schemas.openxmlformats.org/officeDocument/2006/relationships/image" Target="../media/image4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71.png"/><Relationship Id="rId5" Type="http://schemas.openxmlformats.org/officeDocument/2006/relationships/image" Target="../media/image6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4.png"/><Relationship Id="rId4" Type="http://schemas.openxmlformats.org/officeDocument/2006/relationships/image" Target="../media/image5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9.png"/><Relationship Id="rId4" Type="http://schemas.openxmlformats.org/officeDocument/2006/relationships/image" Target="../media/image5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4.png"/><Relationship Id="rId4" Type="http://schemas.openxmlformats.org/officeDocument/2006/relationships/image" Target="../media/image29.png"/><Relationship Id="rId5" Type="http://schemas.openxmlformats.org/officeDocument/2006/relationships/image" Target="../media/image5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3.png"/><Relationship Id="rId4" Type="http://schemas.openxmlformats.org/officeDocument/2006/relationships/image" Target="../media/image54.png"/><Relationship Id="rId5"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5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7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3.png"/><Relationship Id="rId4" Type="http://schemas.openxmlformats.org/officeDocument/2006/relationships/image" Target="../media/image50.png"/><Relationship Id="rId5" Type="http://schemas.openxmlformats.org/officeDocument/2006/relationships/image" Target="../media/image4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7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9.png"/><Relationship Id="rId4" Type="http://schemas.openxmlformats.org/officeDocument/2006/relationships/image" Target="../media/image9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62.png"/><Relationship Id="rId5" Type="http://schemas.openxmlformats.org/officeDocument/2006/relationships/image" Target="../media/image6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9.png"/><Relationship Id="rId4" Type="http://schemas.openxmlformats.org/officeDocument/2006/relationships/image" Target="../media/image7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6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1.png"/><Relationship Id="rId4" Type="http://schemas.openxmlformats.org/officeDocument/2006/relationships/image" Target="../media/image63.png"/><Relationship Id="rId5" Type="http://schemas.openxmlformats.org/officeDocument/2006/relationships/image" Target="../media/image60.png"/><Relationship Id="rId6" Type="http://schemas.openxmlformats.org/officeDocument/2006/relationships/image" Target="../media/image59.png"/><Relationship Id="rId7" Type="http://schemas.openxmlformats.org/officeDocument/2006/relationships/image" Target="../media/image5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9.png"/><Relationship Id="rId4" Type="http://schemas.openxmlformats.org/officeDocument/2006/relationships/image" Target="../media/image7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8.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9.png"/><Relationship Id="rId4" Type="http://schemas.openxmlformats.org/officeDocument/2006/relationships/image" Target="../media/image7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9.png"/><Relationship Id="rId4" Type="http://schemas.openxmlformats.org/officeDocument/2006/relationships/image" Target="../media/image8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9.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9.png"/><Relationship Id="rId4" Type="http://schemas.openxmlformats.org/officeDocument/2006/relationships/image" Target="../media/image7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9.png"/><Relationship Id="rId4" Type="http://schemas.openxmlformats.org/officeDocument/2006/relationships/image" Target="../media/image8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6.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9.png"/><Relationship Id="rId4" Type="http://schemas.openxmlformats.org/officeDocument/2006/relationships/image" Target="../media/image6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9.png"/><Relationship Id="rId4" Type="http://schemas.openxmlformats.org/officeDocument/2006/relationships/image" Target="../media/image8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9.png"/><Relationship Id="rId4" Type="http://schemas.openxmlformats.org/officeDocument/2006/relationships/image" Target="../media/image8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10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9.png"/><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9.png"/><Relationship Id="rId4" Type="http://schemas.openxmlformats.org/officeDocument/2006/relationships/image" Target="../media/image1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9.png"/><Relationship Id="rId4" Type="http://schemas.openxmlformats.org/officeDocument/2006/relationships/image" Target="../media/image7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9.png"/><Relationship Id="rId4" Type="http://schemas.openxmlformats.org/officeDocument/2006/relationships/image" Target="../media/image1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9.png"/><Relationship Id="rId4" Type="http://schemas.openxmlformats.org/officeDocument/2006/relationships/image" Target="../media/image1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9.png"/><Relationship Id="rId4" Type="http://schemas.openxmlformats.org/officeDocument/2006/relationships/image" Target="../media/image10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9.png"/><Relationship Id="rId4" Type="http://schemas.openxmlformats.org/officeDocument/2006/relationships/image" Target="../media/image1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9.png"/><Relationship Id="rId4" Type="http://schemas.openxmlformats.org/officeDocument/2006/relationships/image" Target="../media/image1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9.png"/><Relationship Id="rId4" Type="http://schemas.openxmlformats.org/officeDocument/2006/relationships/image" Target="../media/image1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9.png"/><Relationship Id="rId4" Type="http://schemas.openxmlformats.org/officeDocument/2006/relationships/image" Target="../media/image1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9.png"/><Relationship Id="rId4" Type="http://schemas.openxmlformats.org/officeDocument/2006/relationships/image" Target="../media/image7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9.png"/><Relationship Id="rId4" Type="http://schemas.openxmlformats.org/officeDocument/2006/relationships/image" Target="../media/image8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9.png"/><Relationship Id="rId4" Type="http://schemas.openxmlformats.org/officeDocument/2006/relationships/image" Target="../media/image84.png"/></Relationships>
</file>

<file path=ppt/slides/_rels/slide46.xml.rels><?xml version="1.0" encoding="UTF-8" standalone="yes"?><Relationships xmlns="http://schemas.openxmlformats.org/package/2006/relationships"><Relationship Id="rId11" Type="http://schemas.openxmlformats.org/officeDocument/2006/relationships/image" Target="../media/image93.png"/><Relationship Id="rId10" Type="http://schemas.openxmlformats.org/officeDocument/2006/relationships/image" Target="../media/image97.png"/><Relationship Id="rId12" Type="http://schemas.openxmlformats.org/officeDocument/2006/relationships/image" Target="../media/image102.png"/><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83.png"/><Relationship Id="rId4" Type="http://schemas.openxmlformats.org/officeDocument/2006/relationships/image" Target="../media/image87.png"/><Relationship Id="rId9" Type="http://schemas.openxmlformats.org/officeDocument/2006/relationships/image" Target="../media/image90.png"/><Relationship Id="rId5" Type="http://schemas.openxmlformats.org/officeDocument/2006/relationships/image" Target="../media/image86.png"/><Relationship Id="rId6" Type="http://schemas.openxmlformats.org/officeDocument/2006/relationships/image" Target="../media/image98.png"/><Relationship Id="rId7" Type="http://schemas.openxmlformats.org/officeDocument/2006/relationships/image" Target="../media/image96.png"/><Relationship Id="rId8" Type="http://schemas.openxmlformats.org/officeDocument/2006/relationships/image" Target="../media/image91.png"/></Relationships>
</file>

<file path=ppt/slides/_rels/slide47.xml.rels><?xml version="1.0" encoding="UTF-8" standalone="yes"?><Relationships xmlns="http://schemas.openxmlformats.org/package/2006/relationships"><Relationship Id="rId11" Type="http://schemas.openxmlformats.org/officeDocument/2006/relationships/image" Target="../media/image117.png"/><Relationship Id="rId10" Type="http://schemas.openxmlformats.org/officeDocument/2006/relationships/image" Target="../media/image106.png"/><Relationship Id="rId12" Type="http://schemas.openxmlformats.org/officeDocument/2006/relationships/image" Target="../media/image118.png"/><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03.png"/><Relationship Id="rId4" Type="http://schemas.openxmlformats.org/officeDocument/2006/relationships/image" Target="../media/image95.png"/><Relationship Id="rId9" Type="http://schemas.openxmlformats.org/officeDocument/2006/relationships/image" Target="../media/image105.png"/><Relationship Id="rId5" Type="http://schemas.openxmlformats.org/officeDocument/2006/relationships/image" Target="../media/image101.png"/><Relationship Id="rId6" Type="http://schemas.openxmlformats.org/officeDocument/2006/relationships/image" Target="../media/image94.png"/><Relationship Id="rId7" Type="http://schemas.openxmlformats.org/officeDocument/2006/relationships/image" Target="../media/image114.png"/><Relationship Id="rId8" Type="http://schemas.openxmlformats.org/officeDocument/2006/relationships/image" Target="../media/image10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12.png"/><Relationship Id="rId4" Type="http://schemas.openxmlformats.org/officeDocument/2006/relationships/image" Target="../media/image115.png"/><Relationship Id="rId5" Type="http://schemas.openxmlformats.org/officeDocument/2006/relationships/image" Target="../media/image108.png"/><Relationship Id="rId6" Type="http://schemas.openxmlformats.org/officeDocument/2006/relationships/image" Target="../media/image120.png"/><Relationship Id="rId7" Type="http://schemas.openxmlformats.org/officeDocument/2006/relationships/image" Target="../media/image121.png"/><Relationship Id="rId8" Type="http://schemas.openxmlformats.org/officeDocument/2006/relationships/image" Target="../media/image1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135.png"/></Relationships>
</file>

<file path=ppt/slides/_rels/slide50.xml.rels><?xml version="1.0" encoding="UTF-8" standalone="yes"?><Relationships xmlns="http://schemas.openxmlformats.org/package/2006/relationships"><Relationship Id="rId11" Type="http://schemas.openxmlformats.org/officeDocument/2006/relationships/image" Target="../media/image128.png"/><Relationship Id="rId10" Type="http://schemas.openxmlformats.org/officeDocument/2006/relationships/image" Target="../media/image130.png"/><Relationship Id="rId12" Type="http://schemas.openxmlformats.org/officeDocument/2006/relationships/image" Target="../media/image132.png"/><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111.png"/><Relationship Id="rId4" Type="http://schemas.openxmlformats.org/officeDocument/2006/relationships/image" Target="../media/image109.png"/><Relationship Id="rId9" Type="http://schemas.openxmlformats.org/officeDocument/2006/relationships/image" Target="../media/image127.png"/><Relationship Id="rId5" Type="http://schemas.openxmlformats.org/officeDocument/2006/relationships/image" Target="../media/image133.png"/><Relationship Id="rId6" Type="http://schemas.openxmlformats.org/officeDocument/2006/relationships/image" Target="../media/image124.png"/><Relationship Id="rId7" Type="http://schemas.openxmlformats.org/officeDocument/2006/relationships/image" Target="../media/image125.png"/><Relationship Id="rId8" Type="http://schemas.openxmlformats.org/officeDocument/2006/relationships/image" Target="../media/image12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160" name="Shape 160"/>
        <p:cNvGrpSpPr/>
        <p:nvPr/>
      </p:nvGrpSpPr>
      <p:grpSpPr>
        <a:xfrm>
          <a:off x="0" y="0"/>
          <a:ext cx="0" cy="0"/>
          <a:chOff x="0" y="0"/>
          <a:chExt cx="0" cy="0"/>
        </a:xfrm>
      </p:grpSpPr>
      <p:pic>
        <p:nvPicPr>
          <p:cNvPr descr="image.png" id="161" name="Google Shape;161;p27"/>
          <p:cNvPicPr preferRelativeResize="0"/>
          <p:nvPr/>
        </p:nvPicPr>
        <p:blipFill rotWithShape="1">
          <a:blip r:embed="rId3">
            <a:alphaModFix/>
          </a:blip>
          <a:srcRect b="0" l="0" r="0" t="0"/>
          <a:stretch/>
        </p:blipFill>
        <p:spPr>
          <a:xfrm>
            <a:off x="4248150" y="4200525"/>
            <a:ext cx="3695700" cy="1935875"/>
          </a:xfrm>
          <a:prstGeom prst="rect">
            <a:avLst/>
          </a:prstGeom>
          <a:noFill/>
          <a:ln>
            <a:noFill/>
          </a:ln>
        </p:spPr>
      </p:pic>
      <p:sp>
        <p:nvSpPr>
          <p:cNvPr id="162" name="Google Shape;162;p27"/>
          <p:cNvSpPr txBox="1"/>
          <p:nvPr/>
        </p:nvSpPr>
        <p:spPr>
          <a:xfrm>
            <a:off x="535304" y="1613594"/>
            <a:ext cx="11121300" cy="1416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700" u="none" cap="none" strike="noStrike">
                <a:solidFill>
                  <a:srgbClr val="FFFFFF"/>
                </a:solidFill>
                <a:latin typeface="Playfair Display"/>
                <a:ea typeface="Playfair Display"/>
                <a:cs typeface="Playfair Display"/>
                <a:sym typeface="Playfair Display"/>
              </a:rPr>
              <a:t>PHÂN TÍCH KHÁM PHÁ</a:t>
            </a:r>
            <a:br>
              <a:rPr b="0" i="0" lang="en-US" sz="1800" u="none" cap="none" strike="noStrike">
                <a:solidFill>
                  <a:schemeClr val="dk1"/>
                </a:solidFill>
                <a:latin typeface="Calibri"/>
                <a:ea typeface="Calibri"/>
                <a:cs typeface="Calibri"/>
                <a:sym typeface="Calibri"/>
              </a:rPr>
            </a:br>
            <a:r>
              <a:rPr b="1" i="0" lang="en-US" sz="4500" u="none" cap="none" strike="noStrike">
                <a:solidFill>
                  <a:srgbClr val="FFFFFF"/>
                </a:solidFill>
                <a:latin typeface="Playfair Display"/>
                <a:ea typeface="Playfair Display"/>
                <a:cs typeface="Playfair Display"/>
                <a:sym typeface="Playfair Display"/>
              </a:rPr>
              <a:t> BỆNH ĐÁI THÁO ĐƯỜNG</a:t>
            </a:r>
            <a:endParaRPr/>
          </a:p>
        </p:txBody>
      </p:sp>
      <p:sp>
        <p:nvSpPr>
          <p:cNvPr id="163" name="Google Shape;163;p27"/>
          <p:cNvSpPr txBox="1"/>
          <p:nvPr/>
        </p:nvSpPr>
        <p:spPr>
          <a:xfrm>
            <a:off x="3300412" y="3328094"/>
            <a:ext cx="5591175"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BFDBFE"/>
                </a:solidFill>
                <a:latin typeface="Playfair Display"/>
                <a:ea typeface="Playfair Display"/>
                <a:cs typeface="Playfair Display"/>
                <a:sym typeface="Playfair Display"/>
              </a:rPr>
              <a:t>Sử dụng bộ dữ liệu Pima Indians Diabetes Dataset</a:t>
            </a:r>
            <a:endParaRPr/>
          </a:p>
        </p:txBody>
      </p:sp>
      <p:sp>
        <p:nvSpPr>
          <p:cNvPr id="164" name="Google Shape;164;p27"/>
          <p:cNvSpPr txBox="1"/>
          <p:nvPr/>
        </p:nvSpPr>
        <p:spPr>
          <a:xfrm>
            <a:off x="4331475" y="4311050"/>
            <a:ext cx="3529200" cy="1205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350" u="none" cap="none" strike="noStrike">
                <a:solidFill>
                  <a:srgbClr val="BFDBFE"/>
                </a:solidFill>
                <a:latin typeface="Nunito"/>
                <a:ea typeface="Nunito"/>
                <a:cs typeface="Nunito"/>
                <a:sym typeface="Nunito"/>
              </a:rPr>
              <a:t>Nhóm thực hiện:</a:t>
            </a:r>
            <a:r>
              <a:rPr b="0" i="0" lang="en-US" sz="1350" u="none" cap="none" strike="noStrike">
                <a:solidFill>
                  <a:srgbClr val="E2E8F0"/>
                </a:solidFill>
                <a:latin typeface="Nunito"/>
                <a:ea typeface="Nunito"/>
                <a:cs typeface="Nunito"/>
                <a:sym typeface="Nunito"/>
              </a:rPr>
              <a:t> </a:t>
            </a:r>
            <a:endParaRPr b="0" i="0" sz="1350" u="none" cap="none" strike="noStrike">
              <a:solidFill>
                <a:srgbClr val="E2E8F0"/>
              </a:solidFill>
              <a:latin typeface="Nunito"/>
              <a:ea typeface="Nunito"/>
              <a:cs typeface="Nunito"/>
              <a:sym typeface="Nunito"/>
            </a:endParaRPr>
          </a:p>
          <a:p>
            <a:pPr indent="0" lvl="0" marL="0" marR="0" rtl="0" algn="ctr">
              <a:lnSpc>
                <a:spcPct val="160000"/>
              </a:lnSpc>
              <a:spcBef>
                <a:spcPts val="0"/>
              </a:spcBef>
              <a:spcAft>
                <a:spcPts val="0"/>
              </a:spcAft>
              <a:buNone/>
            </a:pPr>
            <a:r>
              <a:rPr lang="en-US" sz="1350">
                <a:solidFill>
                  <a:srgbClr val="E2E8F0"/>
                </a:solidFill>
                <a:latin typeface="Nunito"/>
                <a:ea typeface="Nunito"/>
                <a:cs typeface="Nunito"/>
                <a:sym typeface="Nunito"/>
              </a:rPr>
              <a:t>Nguyễn Thanh Thiện</a:t>
            </a:r>
            <a:endParaRPr sz="1350">
              <a:solidFill>
                <a:srgbClr val="E2E8F0"/>
              </a:solidFill>
              <a:latin typeface="Nunito"/>
              <a:ea typeface="Nunito"/>
              <a:cs typeface="Nunito"/>
              <a:sym typeface="Nunito"/>
            </a:endParaRPr>
          </a:p>
          <a:p>
            <a:pPr indent="0" lvl="0" marL="0" marR="0" rtl="0" algn="ctr">
              <a:lnSpc>
                <a:spcPct val="160000"/>
              </a:lnSpc>
              <a:spcBef>
                <a:spcPts val="0"/>
              </a:spcBef>
              <a:spcAft>
                <a:spcPts val="0"/>
              </a:spcAft>
              <a:buNone/>
            </a:pPr>
            <a:r>
              <a:rPr lang="en-US" sz="1350">
                <a:solidFill>
                  <a:srgbClr val="E2E8F0"/>
                </a:solidFill>
                <a:latin typeface="Nunito"/>
                <a:ea typeface="Nunito"/>
                <a:cs typeface="Nunito"/>
                <a:sym typeface="Nunito"/>
              </a:rPr>
              <a:t>Huỳnh Thành Nhân</a:t>
            </a:r>
            <a:endParaRPr sz="1350">
              <a:solidFill>
                <a:srgbClr val="E2E8F0"/>
              </a:solidFill>
              <a:latin typeface="Nunito"/>
              <a:ea typeface="Nunito"/>
              <a:cs typeface="Nunito"/>
              <a:sym typeface="Nunito"/>
            </a:endParaRPr>
          </a:p>
          <a:p>
            <a:pPr indent="0" lvl="0" marL="0" marR="0" rtl="0" algn="ctr">
              <a:lnSpc>
                <a:spcPct val="160000"/>
              </a:lnSpc>
              <a:spcBef>
                <a:spcPts val="0"/>
              </a:spcBef>
              <a:spcAft>
                <a:spcPts val="0"/>
              </a:spcAft>
              <a:buNone/>
            </a:pPr>
            <a:r>
              <a:rPr lang="en-US" sz="1350">
                <a:solidFill>
                  <a:srgbClr val="E2E8F0"/>
                </a:solidFill>
                <a:latin typeface="Nunito"/>
                <a:ea typeface="Nunito"/>
                <a:cs typeface="Nunito"/>
                <a:sym typeface="Nunito"/>
              </a:rPr>
              <a:t>Lê Đặng Hoàng Minh</a:t>
            </a:r>
            <a:endParaRPr sz="1350">
              <a:solidFill>
                <a:srgbClr val="E2E8F0"/>
              </a:solidFill>
              <a:latin typeface="Nunito"/>
              <a:ea typeface="Nunito"/>
              <a:cs typeface="Nunito"/>
              <a:sym typeface="Nunito"/>
            </a:endParaRPr>
          </a:p>
        </p:txBody>
      </p:sp>
      <p:sp>
        <p:nvSpPr>
          <p:cNvPr id="165" name="Google Shape;165;p27"/>
          <p:cNvSpPr txBox="1"/>
          <p:nvPr/>
        </p:nvSpPr>
        <p:spPr>
          <a:xfrm>
            <a:off x="4638550" y="5706315"/>
            <a:ext cx="29148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350" u="none" cap="none" strike="noStrike">
                <a:solidFill>
                  <a:srgbClr val="BFDBFE"/>
                </a:solidFill>
                <a:latin typeface="Nunito"/>
                <a:ea typeface="Nunito"/>
                <a:cs typeface="Nunito"/>
                <a:sym typeface="Nunito"/>
              </a:rPr>
              <a:t>Học phần:</a:t>
            </a:r>
            <a:r>
              <a:rPr b="0" i="0" lang="en-US" sz="1350" u="none" cap="none" strike="noStrike">
                <a:solidFill>
                  <a:srgbClr val="E2E8F0"/>
                </a:solidFill>
                <a:latin typeface="Nunito"/>
                <a:ea typeface="Nunito"/>
                <a:cs typeface="Nunito"/>
                <a:sym typeface="Nunito"/>
              </a:rPr>
              <a:t> </a:t>
            </a:r>
            <a:r>
              <a:rPr lang="en-US" sz="1350">
                <a:solidFill>
                  <a:srgbClr val="E2E8F0"/>
                </a:solidFill>
                <a:latin typeface="Nunito"/>
                <a:ea typeface="Nunito"/>
                <a:cs typeface="Nunito"/>
                <a:sym typeface="Nunito"/>
              </a:rPr>
              <a:t>CSTTNT </a:t>
            </a:r>
            <a:endParaRPr/>
          </a:p>
        </p:txBody>
      </p:sp>
      <p:sp>
        <p:nvSpPr>
          <p:cNvPr id="166" name="Google Shape;166;p27"/>
          <p:cNvSpPr/>
          <p:nvPr/>
        </p:nvSpPr>
        <p:spPr>
          <a:xfrm>
            <a:off x="-1006425" y="498677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167" name="Google Shape;167;p27"/>
          <p:cNvSpPr/>
          <p:nvPr/>
        </p:nvSpPr>
        <p:spPr>
          <a:xfrm>
            <a:off x="584125" y="6295288"/>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168" name="Google Shape;168;p27"/>
          <p:cNvSpPr/>
          <p:nvPr/>
        </p:nvSpPr>
        <p:spPr>
          <a:xfrm>
            <a:off x="10569350" y="-129137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169" name="Google Shape;169;p27"/>
          <p:cNvSpPr/>
          <p:nvPr/>
        </p:nvSpPr>
        <p:spPr>
          <a:xfrm>
            <a:off x="8891575" y="-205255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descr="image.png" id="174" name="Google Shape;174;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5" name="Google Shape;175;p28"/>
          <p:cNvPicPr preferRelativeResize="0"/>
          <p:nvPr/>
        </p:nvPicPr>
        <p:blipFill rotWithShape="1">
          <a:blip r:embed="rId4">
            <a:alphaModFix/>
          </a:blip>
          <a:srcRect b="0" l="0" r="0" t="0"/>
          <a:stretch/>
        </p:blipFill>
        <p:spPr>
          <a:xfrm>
            <a:off x="571500" y="1238250"/>
            <a:ext cx="5334000" cy="2476500"/>
          </a:xfrm>
          <a:prstGeom prst="rect">
            <a:avLst/>
          </a:prstGeom>
          <a:noFill/>
          <a:ln>
            <a:noFill/>
          </a:ln>
        </p:spPr>
      </p:pic>
      <p:pic>
        <p:nvPicPr>
          <p:cNvPr descr="image.png" id="176" name="Google Shape;176;p28"/>
          <p:cNvPicPr preferRelativeResize="0"/>
          <p:nvPr/>
        </p:nvPicPr>
        <p:blipFill rotWithShape="1">
          <a:blip r:embed="rId5">
            <a:alphaModFix/>
          </a:blip>
          <a:srcRect b="0" l="0" r="0" t="0"/>
          <a:stretch/>
        </p:blipFill>
        <p:spPr>
          <a:xfrm>
            <a:off x="6286500" y="1238250"/>
            <a:ext cx="5334000" cy="2476500"/>
          </a:xfrm>
          <a:prstGeom prst="rect">
            <a:avLst/>
          </a:prstGeom>
          <a:noFill/>
          <a:ln>
            <a:noFill/>
          </a:ln>
        </p:spPr>
      </p:pic>
      <p:pic>
        <p:nvPicPr>
          <p:cNvPr descr="image.png" id="177" name="Google Shape;177;p28"/>
          <p:cNvPicPr preferRelativeResize="0"/>
          <p:nvPr/>
        </p:nvPicPr>
        <p:blipFill rotWithShape="1">
          <a:blip r:embed="rId6">
            <a:alphaModFix/>
          </a:blip>
          <a:srcRect b="0" l="0" r="0" t="0"/>
          <a:stretch/>
        </p:blipFill>
        <p:spPr>
          <a:xfrm>
            <a:off x="571500" y="4000500"/>
            <a:ext cx="5334000" cy="2476500"/>
          </a:xfrm>
          <a:prstGeom prst="rect">
            <a:avLst/>
          </a:prstGeom>
          <a:noFill/>
          <a:ln>
            <a:noFill/>
          </a:ln>
        </p:spPr>
      </p:pic>
      <p:pic>
        <p:nvPicPr>
          <p:cNvPr descr="image.png" id="178" name="Google Shape;178;p28"/>
          <p:cNvPicPr preferRelativeResize="0"/>
          <p:nvPr/>
        </p:nvPicPr>
        <p:blipFill rotWithShape="1">
          <a:blip r:embed="rId7">
            <a:alphaModFix/>
          </a:blip>
          <a:srcRect b="0" l="0" r="0" t="0"/>
          <a:stretch/>
        </p:blipFill>
        <p:spPr>
          <a:xfrm>
            <a:off x="6286500" y="4000500"/>
            <a:ext cx="5334000" cy="2476500"/>
          </a:xfrm>
          <a:prstGeom prst="rect">
            <a:avLst/>
          </a:prstGeom>
          <a:noFill/>
          <a:ln>
            <a:noFill/>
          </a:ln>
        </p:spPr>
      </p:pic>
      <p:sp>
        <p:nvSpPr>
          <p:cNvPr id="179" name="Google Shape;179;p28"/>
          <p:cNvSpPr txBox="1"/>
          <p:nvPr/>
        </p:nvSpPr>
        <p:spPr>
          <a:xfrm>
            <a:off x="571500" y="38100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TỔNG QUAN VỀ BÀI TOÁN</a:t>
            </a:r>
            <a:endParaRPr/>
          </a:p>
        </p:txBody>
      </p:sp>
      <p:sp>
        <p:nvSpPr>
          <p:cNvPr id="180" name="Google Shape;180;p28"/>
          <p:cNvSpPr/>
          <p:nvPr/>
        </p:nvSpPr>
        <p:spPr>
          <a:xfrm>
            <a:off x="571500" y="933450"/>
            <a:ext cx="11049000" cy="1920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81" name="Google Shape;181;p28"/>
          <p:cNvPicPr preferRelativeResize="0"/>
          <p:nvPr/>
        </p:nvPicPr>
        <p:blipFill rotWithShape="1">
          <a:blip r:embed="rId8">
            <a:alphaModFix/>
          </a:blip>
          <a:srcRect b="0" l="0" r="0" t="0"/>
          <a:stretch/>
        </p:blipFill>
        <p:spPr>
          <a:xfrm>
            <a:off x="914400" y="1485900"/>
            <a:ext cx="381000" cy="381000"/>
          </a:xfrm>
          <a:prstGeom prst="rect">
            <a:avLst/>
          </a:prstGeom>
          <a:noFill/>
          <a:ln>
            <a:noFill/>
          </a:ln>
        </p:spPr>
      </p:pic>
      <p:sp>
        <p:nvSpPr>
          <p:cNvPr id="182" name="Google Shape;182;p28"/>
          <p:cNvSpPr txBox="1"/>
          <p:nvPr/>
        </p:nvSpPr>
        <p:spPr>
          <a:xfrm>
            <a:off x="1438275" y="1524000"/>
            <a:ext cx="2300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E3A8A"/>
                </a:solidFill>
                <a:latin typeface="Playfair Display"/>
                <a:ea typeface="Playfair Display"/>
                <a:cs typeface="Playfair Display"/>
                <a:sym typeface="Playfair Display"/>
              </a:rPr>
              <a:t>Bệnh đái tháo đường</a:t>
            </a:r>
            <a:endParaRPr/>
          </a:p>
        </p:txBody>
      </p:sp>
      <p:sp>
        <p:nvSpPr>
          <p:cNvPr id="183" name="Google Shape;183;p28"/>
          <p:cNvSpPr txBox="1"/>
          <p:nvPr/>
        </p:nvSpPr>
        <p:spPr>
          <a:xfrm>
            <a:off x="914400" y="1981200"/>
            <a:ext cx="46959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Nunito"/>
                <a:ea typeface="Nunito"/>
                <a:cs typeface="Nunito"/>
                <a:sym typeface="Nunito"/>
              </a:rPr>
              <a:t>Một rối loạn chuyển hóa mãn tính đặc trưng bởi tình trạng tăng glucose máu kéo dài, bắt nguồn từ thiếu insulin hoặc đề kháng insulin ở mô ngoại vi.</a:t>
            </a:r>
            <a:endParaRPr/>
          </a:p>
        </p:txBody>
      </p:sp>
      <p:pic>
        <p:nvPicPr>
          <p:cNvPr descr="image.png" id="184" name="Google Shape;184;p28"/>
          <p:cNvPicPr preferRelativeResize="0"/>
          <p:nvPr/>
        </p:nvPicPr>
        <p:blipFill rotWithShape="1">
          <a:blip r:embed="rId9">
            <a:alphaModFix/>
          </a:blip>
          <a:srcRect b="0" l="0" r="0" t="0"/>
          <a:stretch/>
        </p:blipFill>
        <p:spPr>
          <a:xfrm>
            <a:off x="6629400" y="1485900"/>
            <a:ext cx="381000" cy="381000"/>
          </a:xfrm>
          <a:prstGeom prst="rect">
            <a:avLst/>
          </a:prstGeom>
          <a:noFill/>
          <a:ln>
            <a:noFill/>
          </a:ln>
        </p:spPr>
      </p:pic>
      <p:sp>
        <p:nvSpPr>
          <p:cNvPr id="185" name="Google Shape;185;p28"/>
          <p:cNvSpPr txBox="1"/>
          <p:nvPr/>
        </p:nvSpPr>
        <p:spPr>
          <a:xfrm>
            <a:off x="7153275" y="1524000"/>
            <a:ext cx="18702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E3A8A"/>
                </a:solidFill>
                <a:latin typeface="Playfair Display"/>
                <a:ea typeface="Playfair Display"/>
                <a:cs typeface="Playfair Display"/>
                <a:sym typeface="Playfair Display"/>
              </a:rPr>
              <a:t>Mức độ phổ biến</a:t>
            </a:r>
            <a:endParaRPr/>
          </a:p>
        </p:txBody>
      </p:sp>
      <p:sp>
        <p:nvSpPr>
          <p:cNvPr id="186" name="Google Shape;186;p28"/>
          <p:cNvSpPr txBox="1"/>
          <p:nvPr/>
        </p:nvSpPr>
        <p:spPr>
          <a:xfrm>
            <a:off x="6629400" y="1981200"/>
            <a:ext cx="46959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Nunito"/>
                <a:ea typeface="Nunito"/>
                <a:cs typeface="Nunito"/>
                <a:sym typeface="Nunito"/>
              </a:rPr>
              <a:t>Theo thống kê WHO, số người mắc bệnh đái tháo đường đã vượt 500 triệu trên toàn cầu, với tỷ lệ gia tăng đáng báo động ở các quốc gia đang phát triển.</a:t>
            </a:r>
            <a:endParaRPr/>
          </a:p>
        </p:txBody>
      </p:sp>
      <p:pic>
        <p:nvPicPr>
          <p:cNvPr descr="image.png" id="187" name="Google Shape;187;p28"/>
          <p:cNvPicPr preferRelativeResize="0"/>
          <p:nvPr/>
        </p:nvPicPr>
        <p:blipFill rotWithShape="1">
          <a:blip r:embed="rId10">
            <a:alphaModFix/>
          </a:blip>
          <a:srcRect b="0" l="0" r="0" t="0"/>
          <a:stretch/>
        </p:blipFill>
        <p:spPr>
          <a:xfrm>
            <a:off x="914400" y="4248150"/>
            <a:ext cx="381000" cy="381000"/>
          </a:xfrm>
          <a:prstGeom prst="rect">
            <a:avLst/>
          </a:prstGeom>
          <a:noFill/>
          <a:ln>
            <a:noFill/>
          </a:ln>
        </p:spPr>
      </p:pic>
      <p:sp>
        <p:nvSpPr>
          <p:cNvPr id="188" name="Google Shape;188;p28"/>
          <p:cNvSpPr txBox="1"/>
          <p:nvPr/>
        </p:nvSpPr>
        <p:spPr>
          <a:xfrm>
            <a:off x="1438275" y="4286250"/>
            <a:ext cx="4370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E3A8A"/>
                </a:solidFill>
                <a:latin typeface="Playfair Display"/>
                <a:ea typeface="Playfair Display"/>
                <a:cs typeface="Playfair Display"/>
                <a:sym typeface="Playfair Display"/>
              </a:rPr>
              <a:t>Tầm quan trọng của việc phát hiện sớm</a:t>
            </a:r>
            <a:endParaRPr/>
          </a:p>
        </p:txBody>
      </p:sp>
      <p:sp>
        <p:nvSpPr>
          <p:cNvPr id="189" name="Google Shape;189;p28"/>
          <p:cNvSpPr txBox="1"/>
          <p:nvPr/>
        </p:nvSpPr>
        <p:spPr>
          <a:xfrm>
            <a:off x="914400" y="4743450"/>
            <a:ext cx="46959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Nunito"/>
                <a:ea typeface="Nunito"/>
                <a:cs typeface="Nunito"/>
                <a:sym typeface="Nunito"/>
              </a:rPr>
              <a:t>Việc phát hiện sớm và dự đoán nguy cơ mắc bệnh là rất quan trọng, giúp ngăn ngừa biến chứng và cải thiện chất lượng sống.</a:t>
            </a:r>
            <a:endParaRPr/>
          </a:p>
        </p:txBody>
      </p:sp>
      <p:pic>
        <p:nvPicPr>
          <p:cNvPr descr="image.png" id="190" name="Google Shape;190;p28"/>
          <p:cNvPicPr preferRelativeResize="0"/>
          <p:nvPr/>
        </p:nvPicPr>
        <p:blipFill rotWithShape="1">
          <a:blip r:embed="rId11">
            <a:alphaModFix/>
          </a:blip>
          <a:srcRect b="0" l="0" r="0" t="0"/>
          <a:stretch/>
        </p:blipFill>
        <p:spPr>
          <a:xfrm>
            <a:off x="6629400" y="4248150"/>
            <a:ext cx="381000" cy="381000"/>
          </a:xfrm>
          <a:prstGeom prst="rect">
            <a:avLst/>
          </a:prstGeom>
          <a:noFill/>
          <a:ln>
            <a:noFill/>
          </a:ln>
        </p:spPr>
      </p:pic>
      <p:sp>
        <p:nvSpPr>
          <p:cNvPr id="191" name="Google Shape;191;p28"/>
          <p:cNvSpPr txBox="1"/>
          <p:nvPr/>
        </p:nvSpPr>
        <p:spPr>
          <a:xfrm>
            <a:off x="7153275" y="4286250"/>
            <a:ext cx="3680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E3A8A"/>
                </a:solidFill>
                <a:latin typeface="Playfair Display"/>
                <a:ea typeface="Playfair Display"/>
                <a:cs typeface="Playfair Display"/>
                <a:sym typeface="Playfair Display"/>
              </a:rPr>
              <a:t>Bộ dữ liệu Pima Indians Diabetes</a:t>
            </a:r>
            <a:endParaRPr/>
          </a:p>
        </p:txBody>
      </p:sp>
      <p:sp>
        <p:nvSpPr>
          <p:cNvPr id="192" name="Google Shape;192;p28"/>
          <p:cNvSpPr txBox="1"/>
          <p:nvPr/>
        </p:nvSpPr>
        <p:spPr>
          <a:xfrm>
            <a:off x="6629400" y="4743450"/>
            <a:ext cx="4695900" cy="1205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Nunito"/>
                <a:ea typeface="Nunito"/>
                <a:cs typeface="Nunito"/>
                <a:sym typeface="Nunito"/>
              </a:rPr>
              <a:t>Một tập dữ liệu kinh điển trong lĩnh vực học máy y sinh, bao gồm thông tin lâm sàng của phụ nữ người Mỹ bản địa Pima, với các biến số như số lần mang thai, glucose, huyết áp, BMI, tuổi.</a:t>
            </a:r>
            <a:endParaRPr/>
          </a:p>
        </p:txBody>
      </p:sp>
      <p:pic>
        <p:nvPicPr>
          <p:cNvPr descr="image.png" id="193" name="Google Shape;193;p28"/>
          <p:cNvPicPr preferRelativeResize="0"/>
          <p:nvPr/>
        </p:nvPicPr>
        <p:blipFill rotWithShape="1">
          <a:blip r:embed="rId12">
            <a:alphaModFix/>
          </a:blip>
          <a:srcRect b="0" l="0" r="0" t="0"/>
          <a:stretch/>
        </p:blipFill>
        <p:spPr>
          <a:xfrm>
            <a:off x="971550" y="1543050"/>
            <a:ext cx="266700" cy="266700"/>
          </a:xfrm>
          <a:prstGeom prst="rect">
            <a:avLst/>
          </a:prstGeom>
          <a:noFill/>
          <a:ln>
            <a:noFill/>
          </a:ln>
        </p:spPr>
      </p:pic>
      <p:pic>
        <p:nvPicPr>
          <p:cNvPr descr="image.png" id="194" name="Google Shape;194;p28"/>
          <p:cNvPicPr preferRelativeResize="0"/>
          <p:nvPr/>
        </p:nvPicPr>
        <p:blipFill rotWithShape="1">
          <a:blip r:embed="rId13">
            <a:alphaModFix/>
          </a:blip>
          <a:srcRect b="0" l="0" r="0" t="0"/>
          <a:stretch/>
        </p:blipFill>
        <p:spPr>
          <a:xfrm>
            <a:off x="6686550" y="1543050"/>
            <a:ext cx="266700" cy="266700"/>
          </a:xfrm>
          <a:prstGeom prst="rect">
            <a:avLst/>
          </a:prstGeom>
          <a:noFill/>
          <a:ln>
            <a:noFill/>
          </a:ln>
        </p:spPr>
      </p:pic>
      <p:pic>
        <p:nvPicPr>
          <p:cNvPr descr="image.png" id="195" name="Google Shape;195;p28"/>
          <p:cNvPicPr preferRelativeResize="0"/>
          <p:nvPr/>
        </p:nvPicPr>
        <p:blipFill rotWithShape="1">
          <a:blip r:embed="rId14">
            <a:alphaModFix/>
          </a:blip>
          <a:srcRect b="0" l="0" r="0" t="0"/>
          <a:stretch/>
        </p:blipFill>
        <p:spPr>
          <a:xfrm>
            <a:off x="971550" y="4305300"/>
            <a:ext cx="266700" cy="266700"/>
          </a:xfrm>
          <a:prstGeom prst="rect">
            <a:avLst/>
          </a:prstGeom>
          <a:noFill/>
          <a:ln>
            <a:noFill/>
          </a:ln>
        </p:spPr>
      </p:pic>
      <p:pic>
        <p:nvPicPr>
          <p:cNvPr descr="image.png" id="196" name="Google Shape;196;p28"/>
          <p:cNvPicPr preferRelativeResize="0"/>
          <p:nvPr/>
        </p:nvPicPr>
        <p:blipFill rotWithShape="1">
          <a:blip r:embed="rId15">
            <a:alphaModFix/>
          </a:blip>
          <a:srcRect b="0" l="0" r="0" t="0"/>
          <a:stretch/>
        </p:blipFill>
        <p:spPr>
          <a:xfrm>
            <a:off x="6700837" y="4305300"/>
            <a:ext cx="238125" cy="266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0" name="Shape 200"/>
        <p:cNvGrpSpPr/>
        <p:nvPr/>
      </p:nvGrpSpPr>
      <p:grpSpPr>
        <a:xfrm>
          <a:off x="0" y="0"/>
          <a:ext cx="0" cy="0"/>
          <a:chOff x="0" y="0"/>
          <a:chExt cx="0" cy="0"/>
        </a:xfrm>
      </p:grpSpPr>
      <p:pic>
        <p:nvPicPr>
          <p:cNvPr descr="image.png" id="201" name="Google Shape;201;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2" name="Google Shape;202;p29"/>
          <p:cNvPicPr preferRelativeResize="0"/>
          <p:nvPr/>
        </p:nvPicPr>
        <p:blipFill rotWithShape="1">
          <a:blip r:embed="rId4">
            <a:alphaModFix/>
          </a:blip>
          <a:srcRect b="0" l="0" r="0" t="0"/>
          <a:stretch/>
        </p:blipFill>
        <p:spPr>
          <a:xfrm>
            <a:off x="4497585" y="762000"/>
            <a:ext cx="3196679" cy="352425"/>
          </a:xfrm>
          <a:prstGeom prst="rect">
            <a:avLst/>
          </a:prstGeom>
          <a:noFill/>
          <a:ln>
            <a:noFill/>
          </a:ln>
        </p:spPr>
      </p:pic>
      <p:pic>
        <p:nvPicPr>
          <p:cNvPr descr="image.png" id="203" name="Google Shape;203;p29"/>
          <p:cNvPicPr preferRelativeResize="0"/>
          <p:nvPr/>
        </p:nvPicPr>
        <p:blipFill rotWithShape="1">
          <a:blip r:embed="rId5">
            <a:alphaModFix/>
          </a:blip>
          <a:srcRect b="0" l="0" r="0" t="0"/>
          <a:stretch/>
        </p:blipFill>
        <p:spPr>
          <a:xfrm>
            <a:off x="762000" y="2649735"/>
            <a:ext cx="3301900" cy="3607593"/>
          </a:xfrm>
          <a:prstGeom prst="rect">
            <a:avLst/>
          </a:prstGeom>
          <a:noFill/>
          <a:ln>
            <a:noFill/>
          </a:ln>
        </p:spPr>
      </p:pic>
      <p:pic>
        <p:nvPicPr>
          <p:cNvPr descr="image.png" id="204" name="Google Shape;204;p29"/>
          <p:cNvPicPr preferRelativeResize="0"/>
          <p:nvPr/>
        </p:nvPicPr>
        <p:blipFill rotWithShape="1">
          <a:blip r:embed="rId6">
            <a:alphaModFix/>
          </a:blip>
          <a:srcRect b="0" l="0" r="0" t="0"/>
          <a:stretch/>
        </p:blipFill>
        <p:spPr>
          <a:xfrm>
            <a:off x="4444900" y="2649735"/>
            <a:ext cx="3302049" cy="3607593"/>
          </a:xfrm>
          <a:prstGeom prst="rect">
            <a:avLst/>
          </a:prstGeom>
          <a:noFill/>
          <a:ln>
            <a:noFill/>
          </a:ln>
        </p:spPr>
      </p:pic>
      <p:pic>
        <p:nvPicPr>
          <p:cNvPr descr="image.png" id="205" name="Google Shape;205;p29"/>
          <p:cNvPicPr preferRelativeResize="0"/>
          <p:nvPr/>
        </p:nvPicPr>
        <p:blipFill rotWithShape="1">
          <a:blip r:embed="rId7">
            <a:alphaModFix/>
          </a:blip>
          <a:srcRect b="0" l="0" r="0" t="0"/>
          <a:stretch/>
        </p:blipFill>
        <p:spPr>
          <a:xfrm>
            <a:off x="8127950" y="2649735"/>
            <a:ext cx="3301900" cy="3607593"/>
          </a:xfrm>
          <a:prstGeom prst="rect">
            <a:avLst/>
          </a:prstGeom>
          <a:noFill/>
          <a:ln>
            <a:noFill/>
          </a:ln>
        </p:spPr>
      </p:pic>
      <p:pic>
        <p:nvPicPr>
          <p:cNvPr descr="image.png" id="206" name="Google Shape;206;p29"/>
          <p:cNvPicPr preferRelativeResize="0"/>
          <p:nvPr/>
        </p:nvPicPr>
        <p:blipFill rotWithShape="1">
          <a:blip r:embed="rId8">
            <a:alphaModFix/>
          </a:blip>
          <a:srcRect b="0" l="0" r="0" t="0"/>
          <a:stretch/>
        </p:blipFill>
        <p:spPr>
          <a:xfrm>
            <a:off x="10401300" y="371475"/>
            <a:ext cx="152400" cy="152400"/>
          </a:xfrm>
          <a:prstGeom prst="rect">
            <a:avLst/>
          </a:prstGeom>
          <a:noFill/>
          <a:ln>
            <a:noFill/>
          </a:ln>
        </p:spPr>
      </p:pic>
      <p:sp>
        <p:nvSpPr>
          <p:cNvPr id="207" name="Google Shape;207;p29"/>
          <p:cNvSpPr txBox="1"/>
          <p:nvPr/>
        </p:nvSpPr>
        <p:spPr>
          <a:xfrm>
            <a:off x="495300" y="1343025"/>
            <a:ext cx="11201400" cy="646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0" lang="en-US" sz="4200" u="none" cap="none" strike="noStrike">
                <a:solidFill>
                  <a:srgbClr val="0F172A"/>
                </a:solidFill>
                <a:latin typeface="Playfair Display ExtraBold"/>
                <a:ea typeface="Playfair Display ExtraBold"/>
                <a:cs typeface="Playfair Display ExtraBold"/>
                <a:sym typeface="Playfair Display ExtraBold"/>
              </a:rPr>
              <a:t>Mục tiêu Nghiên cứu</a:t>
            </a:r>
            <a:endParaRPr>
              <a:latin typeface="Playfair Display"/>
              <a:ea typeface="Playfair Display"/>
              <a:cs typeface="Playfair Display"/>
              <a:sym typeface="Playfair Display"/>
            </a:endParaRPr>
          </a:p>
        </p:txBody>
      </p:sp>
      <p:pic>
        <p:nvPicPr>
          <p:cNvPr descr="image.png" id="208" name="Google Shape;208;p29"/>
          <p:cNvPicPr preferRelativeResize="0"/>
          <p:nvPr/>
        </p:nvPicPr>
        <p:blipFill rotWithShape="1">
          <a:blip r:embed="rId9">
            <a:alphaModFix/>
          </a:blip>
          <a:srcRect b="0" l="0" r="0" t="0"/>
          <a:stretch/>
        </p:blipFill>
        <p:spPr>
          <a:xfrm>
            <a:off x="4688085" y="871537"/>
            <a:ext cx="146744" cy="133350"/>
          </a:xfrm>
          <a:prstGeom prst="rect">
            <a:avLst/>
          </a:prstGeom>
          <a:noFill/>
          <a:ln>
            <a:noFill/>
          </a:ln>
        </p:spPr>
      </p:pic>
      <p:sp>
        <p:nvSpPr>
          <p:cNvPr id="209" name="Google Shape;209;p29"/>
          <p:cNvSpPr/>
          <p:nvPr/>
        </p:nvSpPr>
        <p:spPr>
          <a:xfrm>
            <a:off x="771526" y="4424957"/>
            <a:ext cx="3282900" cy="57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10" name="Google Shape;210;p29"/>
          <p:cNvPicPr preferRelativeResize="0"/>
          <p:nvPr/>
        </p:nvPicPr>
        <p:blipFill rotWithShape="1">
          <a:blip r:embed="rId10">
            <a:alphaModFix/>
          </a:blip>
          <a:srcRect b="0" l="0" r="0" t="0"/>
          <a:stretch/>
        </p:blipFill>
        <p:spPr>
          <a:xfrm>
            <a:off x="1993850" y="3135510"/>
            <a:ext cx="838200" cy="838200"/>
          </a:xfrm>
          <a:prstGeom prst="rect">
            <a:avLst/>
          </a:prstGeom>
          <a:noFill/>
          <a:ln>
            <a:noFill/>
          </a:ln>
        </p:spPr>
      </p:pic>
      <p:sp>
        <p:nvSpPr>
          <p:cNvPr id="211" name="Google Shape;211;p29"/>
          <p:cNvSpPr txBox="1"/>
          <p:nvPr/>
        </p:nvSpPr>
        <p:spPr>
          <a:xfrm>
            <a:off x="1532840" y="4259460"/>
            <a:ext cx="17601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F172A"/>
                </a:solidFill>
                <a:latin typeface="Plus Jakarta Sans"/>
                <a:ea typeface="Plus Jakarta Sans"/>
                <a:cs typeface="Plus Jakarta Sans"/>
                <a:sym typeface="Plus Jakarta Sans"/>
              </a:rPr>
              <a:t>Xác định yếu tố</a:t>
            </a:r>
            <a:endParaRPr/>
          </a:p>
        </p:txBody>
      </p:sp>
      <p:sp>
        <p:nvSpPr>
          <p:cNvPr id="212" name="Google Shape;212;p29"/>
          <p:cNvSpPr txBox="1"/>
          <p:nvPr/>
        </p:nvSpPr>
        <p:spPr>
          <a:xfrm>
            <a:off x="1152525" y="4735710"/>
            <a:ext cx="2520900" cy="1137900"/>
          </a:xfrm>
          <a:prstGeom prst="rect">
            <a:avLst/>
          </a:prstGeom>
          <a:noFill/>
          <a:ln>
            <a:noFill/>
          </a:ln>
        </p:spPr>
        <p:txBody>
          <a:bodyPr anchorCtr="0" anchor="t" bIns="0" lIns="0" spcFirstLastPara="1" rIns="0" wrap="square" tIns="0">
            <a:spAutoFit/>
          </a:bodyPr>
          <a:lstStyle/>
          <a:p>
            <a:pPr indent="0" lvl="0" marL="0" marR="0" rtl="0" algn="ctr">
              <a:lnSpc>
                <a:spcPct val="159921"/>
              </a:lnSpc>
              <a:spcBef>
                <a:spcPts val="0"/>
              </a:spcBef>
              <a:spcAft>
                <a:spcPts val="0"/>
              </a:spcAft>
              <a:buNone/>
            </a:pPr>
            <a:r>
              <a:rPr b="0" i="0" lang="en-US" sz="1275" u="none" cap="none" strike="noStrike">
                <a:solidFill>
                  <a:srgbClr val="475569"/>
                </a:solidFill>
                <a:latin typeface="Inter"/>
                <a:ea typeface="Inter"/>
                <a:cs typeface="Inter"/>
                <a:sym typeface="Inter"/>
              </a:rPr>
              <a:t>Truy tìm các yếu tố nguy cơ cốt lõi dẫn đến bệnh thông qua phân tích thống kê và trực quan hóa dữ liệu y sinh.</a:t>
            </a:r>
            <a:endParaRPr/>
          </a:p>
        </p:txBody>
      </p:sp>
      <p:sp>
        <p:nvSpPr>
          <p:cNvPr id="213" name="Google Shape;213;p29"/>
          <p:cNvSpPr/>
          <p:nvPr/>
        </p:nvSpPr>
        <p:spPr>
          <a:xfrm>
            <a:off x="4454425" y="4424957"/>
            <a:ext cx="3282900" cy="57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14" name="Google Shape;214;p29"/>
          <p:cNvPicPr preferRelativeResize="0"/>
          <p:nvPr/>
        </p:nvPicPr>
        <p:blipFill rotWithShape="1">
          <a:blip r:embed="rId11">
            <a:alphaModFix/>
          </a:blip>
          <a:srcRect b="0" l="0" r="0" t="0"/>
          <a:stretch/>
        </p:blipFill>
        <p:spPr>
          <a:xfrm>
            <a:off x="5676751" y="3135510"/>
            <a:ext cx="838200" cy="838200"/>
          </a:xfrm>
          <a:prstGeom prst="rect">
            <a:avLst/>
          </a:prstGeom>
          <a:noFill/>
          <a:ln>
            <a:noFill/>
          </a:ln>
        </p:spPr>
      </p:pic>
      <p:sp>
        <p:nvSpPr>
          <p:cNvPr id="215" name="Google Shape;215;p29"/>
          <p:cNvSpPr txBox="1"/>
          <p:nvPr/>
        </p:nvSpPr>
        <p:spPr>
          <a:xfrm>
            <a:off x="5595788" y="4259460"/>
            <a:ext cx="10002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F172A"/>
                </a:solidFill>
                <a:latin typeface="Plus Jakarta Sans"/>
                <a:ea typeface="Plus Jakarta Sans"/>
                <a:cs typeface="Plus Jakarta Sans"/>
                <a:sym typeface="Plus Jakarta Sans"/>
              </a:rPr>
              <a:t>Đánh giá</a:t>
            </a:r>
            <a:endParaRPr/>
          </a:p>
        </p:txBody>
      </p:sp>
      <p:sp>
        <p:nvSpPr>
          <p:cNvPr id="216" name="Google Shape;216;p29"/>
          <p:cNvSpPr txBox="1"/>
          <p:nvPr/>
        </p:nvSpPr>
        <p:spPr>
          <a:xfrm>
            <a:off x="4835425" y="4735710"/>
            <a:ext cx="2520900" cy="1137900"/>
          </a:xfrm>
          <a:prstGeom prst="rect">
            <a:avLst/>
          </a:prstGeom>
          <a:noFill/>
          <a:ln>
            <a:noFill/>
          </a:ln>
        </p:spPr>
        <p:txBody>
          <a:bodyPr anchorCtr="0" anchor="t" bIns="0" lIns="0" spcFirstLastPara="1" rIns="0" wrap="square" tIns="0">
            <a:spAutoFit/>
          </a:bodyPr>
          <a:lstStyle/>
          <a:p>
            <a:pPr indent="0" lvl="0" marL="0" marR="0" rtl="0" algn="ctr">
              <a:lnSpc>
                <a:spcPct val="159921"/>
              </a:lnSpc>
              <a:spcBef>
                <a:spcPts val="0"/>
              </a:spcBef>
              <a:spcAft>
                <a:spcPts val="0"/>
              </a:spcAft>
              <a:buNone/>
            </a:pPr>
            <a:r>
              <a:rPr b="0" i="0" lang="en-US" sz="1275" u="none" cap="none" strike="noStrike">
                <a:solidFill>
                  <a:srgbClr val="475569"/>
                </a:solidFill>
                <a:latin typeface="Inter"/>
                <a:ea typeface="Inter"/>
                <a:cs typeface="Inter"/>
                <a:sym typeface="Inter"/>
              </a:rPr>
              <a:t>Đánh giá khả năng sàng lọc và phát hiện bệnh lý từ các chỉ số sinh lý đơn giản của bệnh nhân một cách chính xác.</a:t>
            </a:r>
            <a:endParaRPr/>
          </a:p>
        </p:txBody>
      </p:sp>
      <p:sp>
        <p:nvSpPr>
          <p:cNvPr id="217" name="Google Shape;217;p29"/>
          <p:cNvSpPr/>
          <p:nvPr/>
        </p:nvSpPr>
        <p:spPr>
          <a:xfrm>
            <a:off x="8137476" y="4424957"/>
            <a:ext cx="3282900" cy="57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18" name="Google Shape;218;p29"/>
          <p:cNvPicPr preferRelativeResize="0"/>
          <p:nvPr/>
        </p:nvPicPr>
        <p:blipFill rotWithShape="1">
          <a:blip r:embed="rId12">
            <a:alphaModFix/>
          </a:blip>
          <a:srcRect b="0" l="0" r="0" t="0"/>
          <a:stretch/>
        </p:blipFill>
        <p:spPr>
          <a:xfrm>
            <a:off x="9359800" y="3135510"/>
            <a:ext cx="838200" cy="838200"/>
          </a:xfrm>
          <a:prstGeom prst="rect">
            <a:avLst/>
          </a:prstGeom>
          <a:noFill/>
          <a:ln>
            <a:noFill/>
          </a:ln>
        </p:spPr>
      </p:pic>
      <p:sp>
        <p:nvSpPr>
          <p:cNvPr id="219" name="Google Shape;219;p29"/>
          <p:cNvSpPr txBox="1"/>
          <p:nvPr/>
        </p:nvSpPr>
        <p:spPr>
          <a:xfrm>
            <a:off x="9193827" y="4259460"/>
            <a:ext cx="11700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F172A"/>
                </a:solidFill>
                <a:latin typeface="Plus Jakarta Sans"/>
                <a:ea typeface="Plus Jakarta Sans"/>
                <a:cs typeface="Plus Jakarta Sans"/>
                <a:sym typeface="Plus Jakarta Sans"/>
              </a:rPr>
              <a:t>Tối ưu hóa</a:t>
            </a:r>
            <a:endParaRPr/>
          </a:p>
        </p:txBody>
      </p:sp>
      <p:sp>
        <p:nvSpPr>
          <p:cNvPr id="220" name="Google Shape;220;p29"/>
          <p:cNvSpPr txBox="1"/>
          <p:nvPr/>
        </p:nvSpPr>
        <p:spPr>
          <a:xfrm>
            <a:off x="8518475" y="4735710"/>
            <a:ext cx="2520900" cy="1137900"/>
          </a:xfrm>
          <a:prstGeom prst="rect">
            <a:avLst/>
          </a:prstGeom>
          <a:noFill/>
          <a:ln>
            <a:noFill/>
          </a:ln>
        </p:spPr>
        <p:txBody>
          <a:bodyPr anchorCtr="0" anchor="t" bIns="0" lIns="0" spcFirstLastPara="1" rIns="0" wrap="square" tIns="0">
            <a:spAutoFit/>
          </a:bodyPr>
          <a:lstStyle/>
          <a:p>
            <a:pPr indent="0" lvl="0" marL="0" marR="0" rtl="0" algn="ctr">
              <a:lnSpc>
                <a:spcPct val="159921"/>
              </a:lnSpc>
              <a:spcBef>
                <a:spcPts val="0"/>
              </a:spcBef>
              <a:spcAft>
                <a:spcPts val="0"/>
              </a:spcAft>
              <a:buNone/>
            </a:pPr>
            <a:r>
              <a:rPr b="0" i="0" lang="en-US" sz="1275" u="none" cap="none" strike="noStrike">
                <a:solidFill>
                  <a:srgbClr val="475569"/>
                </a:solidFill>
                <a:latin typeface="Inter"/>
                <a:ea typeface="Inter"/>
                <a:cs typeface="Inter"/>
                <a:sym typeface="Inter"/>
              </a:rPr>
              <a:t>Tối ưu hóa việc phân bổ nguồn lực y tế bằng cách nhận diện các xu hướng tiềm ẩn được khai phá trong tập dữ liệu.</a:t>
            </a:r>
            <a:endParaRPr/>
          </a:p>
        </p:txBody>
      </p:sp>
      <p:pic>
        <p:nvPicPr>
          <p:cNvPr descr="image.png" id="221" name="Google Shape;221;p29"/>
          <p:cNvPicPr preferRelativeResize="0"/>
          <p:nvPr/>
        </p:nvPicPr>
        <p:blipFill rotWithShape="1">
          <a:blip r:embed="rId13">
            <a:alphaModFix/>
          </a:blip>
          <a:srcRect b="0" l="0" r="0" t="0"/>
          <a:stretch/>
        </p:blipFill>
        <p:spPr>
          <a:xfrm>
            <a:off x="2241500" y="3383160"/>
            <a:ext cx="342900" cy="342900"/>
          </a:xfrm>
          <a:prstGeom prst="rect">
            <a:avLst/>
          </a:prstGeom>
          <a:noFill/>
          <a:ln>
            <a:noFill/>
          </a:ln>
        </p:spPr>
      </p:pic>
      <p:pic>
        <p:nvPicPr>
          <p:cNvPr descr="image.png" id="222" name="Google Shape;222;p29"/>
          <p:cNvPicPr preferRelativeResize="0"/>
          <p:nvPr/>
        </p:nvPicPr>
        <p:blipFill rotWithShape="1">
          <a:blip r:embed="rId14">
            <a:alphaModFix/>
          </a:blip>
          <a:srcRect b="0" l="0" r="0" t="0"/>
          <a:stretch/>
        </p:blipFill>
        <p:spPr>
          <a:xfrm>
            <a:off x="5900588" y="3383160"/>
            <a:ext cx="390525" cy="342900"/>
          </a:xfrm>
          <a:prstGeom prst="rect">
            <a:avLst/>
          </a:prstGeom>
          <a:noFill/>
          <a:ln>
            <a:noFill/>
          </a:ln>
        </p:spPr>
      </p:pic>
      <p:pic>
        <p:nvPicPr>
          <p:cNvPr descr="image.png" id="223" name="Google Shape;223;p29"/>
          <p:cNvPicPr preferRelativeResize="0"/>
          <p:nvPr/>
        </p:nvPicPr>
        <p:blipFill rotWithShape="1">
          <a:blip r:embed="rId15">
            <a:alphaModFix/>
          </a:blip>
          <a:srcRect b="0" l="0" r="0" t="0"/>
          <a:stretch/>
        </p:blipFill>
        <p:spPr>
          <a:xfrm>
            <a:off x="9583638" y="3383160"/>
            <a:ext cx="390525" cy="342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pic>
        <p:nvPicPr>
          <p:cNvPr descr="image.png" id="228" name="Google Shape;228;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9" name="Google Shape;229;p30"/>
          <p:cNvPicPr preferRelativeResize="0"/>
          <p:nvPr/>
        </p:nvPicPr>
        <p:blipFill rotWithShape="1">
          <a:blip r:embed="rId4">
            <a:alphaModFix/>
          </a:blip>
          <a:srcRect b="0" l="0" r="0" t="0"/>
          <a:stretch/>
        </p:blipFill>
        <p:spPr>
          <a:xfrm>
            <a:off x="571500" y="2066925"/>
            <a:ext cx="3429000" cy="3590776"/>
          </a:xfrm>
          <a:prstGeom prst="rect">
            <a:avLst/>
          </a:prstGeom>
          <a:noFill/>
          <a:ln>
            <a:noFill/>
          </a:ln>
        </p:spPr>
      </p:pic>
      <p:pic>
        <p:nvPicPr>
          <p:cNvPr descr="image.png" id="230" name="Google Shape;230;p30"/>
          <p:cNvPicPr preferRelativeResize="0"/>
          <p:nvPr/>
        </p:nvPicPr>
        <p:blipFill rotWithShape="1">
          <a:blip r:embed="rId5">
            <a:alphaModFix/>
          </a:blip>
          <a:srcRect b="0" l="0" r="0" t="0"/>
          <a:stretch/>
        </p:blipFill>
        <p:spPr>
          <a:xfrm>
            <a:off x="4381500" y="2066925"/>
            <a:ext cx="3429000" cy="3590776"/>
          </a:xfrm>
          <a:prstGeom prst="rect">
            <a:avLst/>
          </a:prstGeom>
          <a:noFill/>
          <a:ln>
            <a:noFill/>
          </a:ln>
        </p:spPr>
      </p:pic>
      <p:pic>
        <p:nvPicPr>
          <p:cNvPr descr="image.png" id="231" name="Google Shape;231;p30"/>
          <p:cNvPicPr preferRelativeResize="0"/>
          <p:nvPr/>
        </p:nvPicPr>
        <p:blipFill rotWithShape="1">
          <a:blip r:embed="rId5">
            <a:alphaModFix/>
          </a:blip>
          <a:srcRect b="0" l="0" r="0" t="0"/>
          <a:stretch/>
        </p:blipFill>
        <p:spPr>
          <a:xfrm>
            <a:off x="8191500" y="2066925"/>
            <a:ext cx="3429000" cy="3590776"/>
          </a:xfrm>
          <a:prstGeom prst="rect">
            <a:avLst/>
          </a:prstGeom>
          <a:noFill/>
          <a:ln>
            <a:noFill/>
          </a:ln>
        </p:spPr>
      </p:pic>
      <p:pic>
        <p:nvPicPr>
          <p:cNvPr descr="image.png" id="232" name="Google Shape;232;p30"/>
          <p:cNvPicPr preferRelativeResize="0"/>
          <p:nvPr/>
        </p:nvPicPr>
        <p:blipFill rotWithShape="1">
          <a:blip r:embed="rId6">
            <a:alphaModFix/>
          </a:blip>
          <a:srcRect b="0" l="0" r="0" t="0"/>
          <a:stretch/>
        </p:blipFill>
        <p:spPr>
          <a:xfrm>
            <a:off x="866775" y="2457450"/>
            <a:ext cx="609600" cy="609600"/>
          </a:xfrm>
          <a:prstGeom prst="rect">
            <a:avLst/>
          </a:prstGeom>
          <a:noFill/>
          <a:ln>
            <a:noFill/>
          </a:ln>
        </p:spPr>
      </p:pic>
      <p:sp>
        <p:nvSpPr>
          <p:cNvPr id="233" name="Google Shape;233;p30"/>
          <p:cNvSpPr txBox="1"/>
          <p:nvPr/>
        </p:nvSpPr>
        <p:spPr>
          <a:xfrm>
            <a:off x="866775" y="3295650"/>
            <a:ext cx="12234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F172A"/>
                </a:solidFill>
                <a:latin typeface="Plus Jakarta Sans ExtraBold"/>
                <a:ea typeface="Plus Jakarta Sans ExtraBold"/>
                <a:cs typeface="Plus Jakarta Sans ExtraBold"/>
                <a:sym typeface="Plus Jakarta Sans ExtraBold"/>
              </a:rPr>
              <a:t>Đối tượng</a:t>
            </a:r>
            <a:endParaRPr/>
          </a:p>
        </p:txBody>
      </p:sp>
      <p:sp>
        <p:nvSpPr>
          <p:cNvPr id="234" name="Google Shape;234;p30"/>
          <p:cNvSpPr txBox="1"/>
          <p:nvPr/>
        </p:nvSpPr>
        <p:spPr>
          <a:xfrm>
            <a:off x="866775" y="3752850"/>
            <a:ext cx="2838600" cy="1537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Nghiên cứu trên quần thể nữ giới gốc Ấn Pima (tiểu bang Arizona, Mỹ), độ tuổi từ 21 trở lên. Đây là quần thể có tỷ lệ mắc bệnh tiểu đường đặc biệt cao.</a:t>
            </a:r>
            <a:endParaRPr/>
          </a:p>
        </p:txBody>
      </p:sp>
      <p:pic>
        <p:nvPicPr>
          <p:cNvPr descr="image.png" id="235" name="Google Shape;235;p30"/>
          <p:cNvPicPr preferRelativeResize="0"/>
          <p:nvPr/>
        </p:nvPicPr>
        <p:blipFill rotWithShape="1">
          <a:blip r:embed="rId7">
            <a:alphaModFix/>
          </a:blip>
          <a:srcRect b="0" l="0" r="0" t="0"/>
          <a:stretch/>
        </p:blipFill>
        <p:spPr>
          <a:xfrm>
            <a:off x="4676775" y="2457450"/>
            <a:ext cx="609600" cy="609600"/>
          </a:xfrm>
          <a:prstGeom prst="rect">
            <a:avLst/>
          </a:prstGeom>
          <a:noFill/>
          <a:ln>
            <a:noFill/>
          </a:ln>
        </p:spPr>
      </p:pic>
      <p:sp>
        <p:nvSpPr>
          <p:cNvPr id="236" name="Google Shape;236;p30"/>
          <p:cNvSpPr txBox="1"/>
          <p:nvPr/>
        </p:nvSpPr>
        <p:spPr>
          <a:xfrm>
            <a:off x="4676775" y="3295650"/>
            <a:ext cx="9789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F172A"/>
                </a:solidFill>
                <a:latin typeface="Plus Jakarta Sans ExtraBold"/>
                <a:ea typeface="Plus Jakarta Sans ExtraBold"/>
                <a:cs typeface="Plus Jakarta Sans ExtraBold"/>
                <a:sym typeface="Plus Jakarta Sans ExtraBold"/>
              </a:rPr>
              <a:t>Quy mô</a:t>
            </a:r>
            <a:endParaRPr/>
          </a:p>
        </p:txBody>
      </p:sp>
      <p:sp>
        <p:nvSpPr>
          <p:cNvPr id="237" name="Google Shape;237;p30"/>
          <p:cNvSpPr txBox="1"/>
          <p:nvPr/>
        </p:nvSpPr>
        <p:spPr>
          <a:xfrm>
            <a:off x="4676775" y="3752850"/>
            <a:ext cx="2838600" cy="1537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Bao gồm tổng cộng </a:t>
            </a:r>
            <a:r>
              <a:rPr b="1" i="0" lang="en-US" sz="1350" u="none" cap="none" strike="noStrike">
                <a:solidFill>
                  <a:srgbClr val="475569"/>
                </a:solidFill>
                <a:latin typeface="Inter"/>
                <a:ea typeface="Inter"/>
                <a:cs typeface="Inter"/>
                <a:sym typeface="Inter"/>
              </a:rPr>
              <a:t>768 bản ghi</a:t>
            </a:r>
            <a:r>
              <a:rPr b="0" i="0" lang="en-US" sz="1350" u="none" cap="none" strike="noStrike">
                <a:solidFill>
                  <a:srgbClr val="475569"/>
                </a:solidFill>
                <a:latin typeface="Inter"/>
                <a:ea typeface="Inter"/>
                <a:cs typeface="Inter"/>
                <a:sym typeface="Inter"/>
              </a:rPr>
              <a:t> (samples) và </a:t>
            </a:r>
            <a:r>
              <a:rPr b="1" i="0" lang="en-US" sz="1350" u="none" cap="none" strike="noStrike">
                <a:solidFill>
                  <a:srgbClr val="475569"/>
                </a:solidFill>
                <a:latin typeface="Inter"/>
                <a:ea typeface="Inter"/>
                <a:cs typeface="Inter"/>
                <a:sym typeface="Inter"/>
              </a:rPr>
              <a:t>8 đặc trưng</a:t>
            </a:r>
            <a:r>
              <a:rPr b="0" i="0" lang="en-US" sz="1350" u="none" cap="none" strike="noStrike">
                <a:solidFill>
                  <a:srgbClr val="475569"/>
                </a:solidFill>
                <a:latin typeface="Inter"/>
                <a:ea typeface="Inter"/>
                <a:cs typeface="Inter"/>
                <a:sym typeface="Inter"/>
              </a:rPr>
              <a:t> (features) lâm sàng, cùng với 1 biến mục tiêu phân lớp (Outcome: Có/Không).</a:t>
            </a:r>
            <a:endParaRPr/>
          </a:p>
        </p:txBody>
      </p:sp>
      <p:pic>
        <p:nvPicPr>
          <p:cNvPr descr="image.png" id="238" name="Google Shape;238;p30"/>
          <p:cNvPicPr preferRelativeResize="0"/>
          <p:nvPr/>
        </p:nvPicPr>
        <p:blipFill rotWithShape="1">
          <a:blip r:embed="rId8">
            <a:alphaModFix/>
          </a:blip>
          <a:srcRect b="0" l="0" r="0" t="0"/>
          <a:stretch/>
        </p:blipFill>
        <p:spPr>
          <a:xfrm>
            <a:off x="8486775" y="2457450"/>
            <a:ext cx="609600" cy="609600"/>
          </a:xfrm>
          <a:prstGeom prst="rect">
            <a:avLst/>
          </a:prstGeom>
          <a:noFill/>
          <a:ln>
            <a:noFill/>
          </a:ln>
        </p:spPr>
      </p:pic>
      <p:sp>
        <p:nvSpPr>
          <p:cNvPr id="239" name="Google Shape;239;p30"/>
          <p:cNvSpPr txBox="1"/>
          <p:nvPr/>
        </p:nvSpPr>
        <p:spPr>
          <a:xfrm>
            <a:off x="8486775" y="3295650"/>
            <a:ext cx="17028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F172A"/>
                </a:solidFill>
                <a:latin typeface="Plus Jakarta Sans ExtraBold"/>
                <a:ea typeface="Plus Jakarta Sans ExtraBold"/>
                <a:cs typeface="Plus Jakarta Sans ExtraBold"/>
                <a:sym typeface="Plus Jakarta Sans ExtraBold"/>
              </a:rPr>
              <a:t>Nguồn dữ liệu</a:t>
            </a:r>
            <a:endParaRPr/>
          </a:p>
        </p:txBody>
      </p:sp>
      <p:sp>
        <p:nvSpPr>
          <p:cNvPr id="240" name="Google Shape;240;p30"/>
          <p:cNvSpPr txBox="1"/>
          <p:nvPr/>
        </p:nvSpPr>
        <p:spPr>
          <a:xfrm>
            <a:off x="8486775" y="3752850"/>
            <a:ext cx="2838600" cy="1205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Dữ liệu được cung cấp bởi Viện Y tế Quốc gia Hoa Kỳ (NIDDK) và lưu trữ công khai trên kho dữ liệu học máy UCI Repository.</a:t>
            </a:r>
            <a:endParaRPr/>
          </a:p>
        </p:txBody>
      </p:sp>
      <p:pic>
        <p:nvPicPr>
          <p:cNvPr descr="image.png" id="241" name="Google Shape;241;p30"/>
          <p:cNvPicPr preferRelativeResize="0"/>
          <p:nvPr/>
        </p:nvPicPr>
        <p:blipFill rotWithShape="1">
          <a:blip r:embed="rId9">
            <a:alphaModFix/>
          </a:blip>
          <a:srcRect b="0" l="0" r="0" t="0"/>
          <a:stretch/>
        </p:blipFill>
        <p:spPr>
          <a:xfrm>
            <a:off x="1004887" y="2628900"/>
            <a:ext cx="333375" cy="266700"/>
          </a:xfrm>
          <a:prstGeom prst="rect">
            <a:avLst/>
          </a:prstGeom>
          <a:noFill/>
          <a:ln>
            <a:noFill/>
          </a:ln>
        </p:spPr>
      </p:pic>
      <p:pic>
        <p:nvPicPr>
          <p:cNvPr descr="image.png" id="242" name="Google Shape;242;p30"/>
          <p:cNvPicPr preferRelativeResize="0"/>
          <p:nvPr/>
        </p:nvPicPr>
        <p:blipFill rotWithShape="1">
          <a:blip r:embed="rId10">
            <a:alphaModFix/>
          </a:blip>
          <a:srcRect b="0" l="0" r="0" t="0"/>
          <a:stretch/>
        </p:blipFill>
        <p:spPr>
          <a:xfrm>
            <a:off x="4848225" y="2628900"/>
            <a:ext cx="266700" cy="266700"/>
          </a:xfrm>
          <a:prstGeom prst="rect">
            <a:avLst/>
          </a:prstGeom>
          <a:noFill/>
          <a:ln>
            <a:noFill/>
          </a:ln>
        </p:spPr>
      </p:pic>
      <p:pic>
        <p:nvPicPr>
          <p:cNvPr descr="image.png" id="243" name="Google Shape;243;p30"/>
          <p:cNvPicPr preferRelativeResize="0"/>
          <p:nvPr/>
        </p:nvPicPr>
        <p:blipFill rotWithShape="1">
          <a:blip r:embed="rId11">
            <a:alphaModFix/>
          </a:blip>
          <a:srcRect b="0" l="0" r="0" t="0"/>
          <a:stretch/>
        </p:blipFill>
        <p:spPr>
          <a:xfrm>
            <a:off x="8658225" y="2628900"/>
            <a:ext cx="266700" cy="266700"/>
          </a:xfrm>
          <a:prstGeom prst="rect">
            <a:avLst/>
          </a:prstGeom>
          <a:noFill/>
          <a:ln>
            <a:noFill/>
          </a:ln>
        </p:spPr>
      </p:pic>
      <p:sp>
        <p:nvSpPr>
          <p:cNvPr id="244" name="Google Shape;244;p30"/>
          <p:cNvSpPr txBox="1"/>
          <p:nvPr/>
        </p:nvSpPr>
        <p:spPr>
          <a:xfrm>
            <a:off x="4345575" y="1241875"/>
            <a:ext cx="35010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3000" u="none" cap="none" strike="noStrike">
                <a:solidFill>
                  <a:srgbClr val="0F172A"/>
                </a:solidFill>
                <a:latin typeface="Playfair Display ExtraBold"/>
                <a:ea typeface="Playfair Display ExtraBold"/>
                <a:cs typeface="Playfair Display ExtraBold"/>
                <a:sym typeface="Playfair Display ExtraBold"/>
              </a:rPr>
              <a:t>Tổng quan Dataset</a:t>
            </a:r>
            <a:endParaRPr>
              <a:latin typeface="Playfair Display"/>
              <a:ea typeface="Playfair Display"/>
              <a:cs typeface="Playfair Display"/>
              <a:sym typeface="Playfair Display"/>
            </a:endParaRPr>
          </a:p>
        </p:txBody>
      </p:sp>
      <p:sp>
        <p:nvSpPr>
          <p:cNvPr id="245" name="Google Shape;245;p30"/>
          <p:cNvSpPr txBox="1"/>
          <p:nvPr/>
        </p:nvSpPr>
        <p:spPr>
          <a:xfrm>
            <a:off x="571500" y="328525"/>
            <a:ext cx="61107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Giới thiệu Bộ dữ liệu Pima Indians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31"/>
          <p:cNvSpPr txBox="1"/>
          <p:nvPr/>
        </p:nvSpPr>
        <p:spPr>
          <a:xfrm>
            <a:off x="571500" y="47625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Giới thiệu Bộ dữ liệu Pima Indians</a:t>
            </a:r>
            <a:endParaRPr/>
          </a:p>
        </p:txBody>
      </p:sp>
      <p:sp>
        <p:nvSpPr>
          <p:cNvPr id="251" name="Google Shape;251;p31"/>
          <p:cNvSpPr/>
          <p:nvPr/>
        </p:nvSpPr>
        <p:spPr>
          <a:xfrm>
            <a:off x="571500" y="1028700"/>
            <a:ext cx="11049000" cy="1920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31"/>
          <p:cNvSpPr txBox="1"/>
          <p:nvPr/>
        </p:nvSpPr>
        <p:spPr>
          <a:xfrm>
            <a:off x="933450" y="1285875"/>
            <a:ext cx="11221500" cy="300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Mô tả các biến số</a:t>
            </a:r>
            <a:endParaRPr/>
          </a:p>
        </p:txBody>
      </p:sp>
      <p:pic>
        <p:nvPicPr>
          <p:cNvPr descr="image.png" id="253" name="Google Shape;253;p31"/>
          <p:cNvPicPr preferRelativeResize="0"/>
          <p:nvPr/>
        </p:nvPicPr>
        <p:blipFill rotWithShape="1">
          <a:blip r:embed="rId3">
            <a:alphaModFix/>
          </a:blip>
          <a:srcRect b="0" l="0" r="0" t="0"/>
          <a:stretch/>
        </p:blipFill>
        <p:spPr>
          <a:xfrm>
            <a:off x="571500" y="1328737"/>
            <a:ext cx="247650" cy="247650"/>
          </a:xfrm>
          <a:prstGeom prst="rect">
            <a:avLst/>
          </a:prstGeom>
          <a:noFill/>
          <a:ln>
            <a:noFill/>
          </a:ln>
        </p:spPr>
      </p:pic>
      <p:pic>
        <p:nvPicPr>
          <p:cNvPr descr="image.png" id="254" name="Google Shape;254;p31"/>
          <p:cNvPicPr preferRelativeResize="0"/>
          <p:nvPr/>
        </p:nvPicPr>
        <p:blipFill rotWithShape="1">
          <a:blip r:embed="rId4">
            <a:alphaModFix/>
          </a:blip>
          <a:srcRect b="0" l="0" r="0" t="0"/>
          <a:stretch/>
        </p:blipFill>
        <p:spPr>
          <a:xfrm>
            <a:off x="809625" y="2085975"/>
            <a:ext cx="428625" cy="247650"/>
          </a:xfrm>
          <a:prstGeom prst="rect">
            <a:avLst/>
          </a:prstGeom>
          <a:noFill/>
          <a:ln>
            <a:noFill/>
          </a:ln>
        </p:spPr>
      </p:pic>
      <p:sp>
        <p:nvSpPr>
          <p:cNvPr id="255" name="Google Shape;255;p31"/>
          <p:cNvSpPr txBox="1"/>
          <p:nvPr/>
        </p:nvSpPr>
        <p:spPr>
          <a:xfrm>
            <a:off x="1238250" y="2057400"/>
            <a:ext cx="2619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E3A8A"/>
                </a:solidFill>
                <a:latin typeface="Nunito"/>
                <a:ea typeface="Nunito"/>
                <a:cs typeface="Nunito"/>
                <a:sym typeface="Nunito"/>
              </a:rPr>
              <a:t>Pregnancies:</a:t>
            </a:r>
            <a:r>
              <a:rPr b="0" i="0" lang="en-US" sz="1500" u="none" cap="none" strike="noStrike">
                <a:solidFill>
                  <a:srgbClr val="334155"/>
                </a:solidFill>
                <a:latin typeface="Nunito"/>
                <a:ea typeface="Nunito"/>
                <a:cs typeface="Nunito"/>
                <a:sym typeface="Nunito"/>
              </a:rPr>
              <a:t> Số lần mang thai</a:t>
            </a:r>
            <a:endParaRPr/>
          </a:p>
        </p:txBody>
      </p:sp>
      <p:pic>
        <p:nvPicPr>
          <p:cNvPr descr="image.png" id="256" name="Google Shape;256;p31"/>
          <p:cNvPicPr preferRelativeResize="0"/>
          <p:nvPr/>
        </p:nvPicPr>
        <p:blipFill rotWithShape="1">
          <a:blip r:embed="rId5">
            <a:alphaModFix/>
          </a:blip>
          <a:srcRect b="0" l="0" r="0" t="0"/>
          <a:stretch/>
        </p:blipFill>
        <p:spPr>
          <a:xfrm>
            <a:off x="6572250" y="2085975"/>
            <a:ext cx="428625" cy="247650"/>
          </a:xfrm>
          <a:prstGeom prst="rect">
            <a:avLst/>
          </a:prstGeom>
          <a:noFill/>
          <a:ln>
            <a:noFill/>
          </a:ln>
        </p:spPr>
      </p:pic>
      <p:sp>
        <p:nvSpPr>
          <p:cNvPr id="257" name="Google Shape;257;p31"/>
          <p:cNvSpPr txBox="1"/>
          <p:nvPr/>
        </p:nvSpPr>
        <p:spPr>
          <a:xfrm>
            <a:off x="7000875" y="2057400"/>
            <a:ext cx="33624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E3A8A"/>
                </a:solidFill>
                <a:latin typeface="Nunito"/>
                <a:ea typeface="Nunito"/>
                <a:cs typeface="Nunito"/>
                <a:sym typeface="Nunito"/>
              </a:rPr>
              <a:t>Glucose:</a:t>
            </a:r>
            <a:r>
              <a:rPr b="0" i="0" lang="en-US" sz="1500" u="none" cap="none" strike="noStrike">
                <a:solidFill>
                  <a:srgbClr val="334155"/>
                </a:solidFill>
                <a:latin typeface="Nunito"/>
                <a:ea typeface="Nunito"/>
                <a:cs typeface="Nunito"/>
                <a:sym typeface="Nunito"/>
              </a:rPr>
              <a:t> Nồng độ đường huyết (mg/dL)</a:t>
            </a:r>
            <a:endParaRPr/>
          </a:p>
        </p:txBody>
      </p:sp>
      <p:pic>
        <p:nvPicPr>
          <p:cNvPr descr="image.png" id="258" name="Google Shape;258;p31"/>
          <p:cNvPicPr preferRelativeResize="0"/>
          <p:nvPr/>
        </p:nvPicPr>
        <p:blipFill rotWithShape="1">
          <a:blip r:embed="rId6">
            <a:alphaModFix/>
          </a:blip>
          <a:srcRect b="0" l="0" r="0" t="0"/>
          <a:stretch/>
        </p:blipFill>
        <p:spPr>
          <a:xfrm>
            <a:off x="809625" y="2933700"/>
            <a:ext cx="428625" cy="247650"/>
          </a:xfrm>
          <a:prstGeom prst="rect">
            <a:avLst/>
          </a:prstGeom>
          <a:noFill/>
          <a:ln>
            <a:noFill/>
          </a:ln>
        </p:spPr>
      </p:pic>
      <p:sp>
        <p:nvSpPr>
          <p:cNvPr id="259" name="Google Shape;259;p31"/>
          <p:cNvSpPr txBox="1"/>
          <p:nvPr/>
        </p:nvSpPr>
        <p:spPr>
          <a:xfrm>
            <a:off x="1238250" y="2905125"/>
            <a:ext cx="39339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E3A8A"/>
                </a:solidFill>
                <a:latin typeface="Nunito"/>
                <a:ea typeface="Nunito"/>
                <a:cs typeface="Nunito"/>
                <a:sym typeface="Nunito"/>
              </a:rPr>
              <a:t>BloodPressure:</a:t>
            </a:r>
            <a:r>
              <a:rPr b="0" i="0" lang="en-US" sz="1500" u="none" cap="none" strike="noStrike">
                <a:solidFill>
                  <a:srgbClr val="334155"/>
                </a:solidFill>
                <a:latin typeface="Nunito"/>
                <a:ea typeface="Nunito"/>
                <a:cs typeface="Nunito"/>
                <a:sym typeface="Nunito"/>
              </a:rPr>
              <a:t> Huyết áp tâm trương (mmHg)</a:t>
            </a:r>
            <a:endParaRPr/>
          </a:p>
        </p:txBody>
      </p:sp>
      <p:pic>
        <p:nvPicPr>
          <p:cNvPr descr="image.png" id="260" name="Google Shape;260;p31"/>
          <p:cNvPicPr preferRelativeResize="0"/>
          <p:nvPr/>
        </p:nvPicPr>
        <p:blipFill rotWithShape="1">
          <a:blip r:embed="rId7">
            <a:alphaModFix/>
          </a:blip>
          <a:srcRect b="0" l="0" r="0" t="0"/>
          <a:stretch/>
        </p:blipFill>
        <p:spPr>
          <a:xfrm>
            <a:off x="6572250" y="2933700"/>
            <a:ext cx="428625" cy="247650"/>
          </a:xfrm>
          <a:prstGeom prst="rect">
            <a:avLst/>
          </a:prstGeom>
          <a:noFill/>
          <a:ln>
            <a:noFill/>
          </a:ln>
        </p:spPr>
      </p:pic>
      <p:sp>
        <p:nvSpPr>
          <p:cNvPr id="261" name="Google Shape;261;p31"/>
          <p:cNvSpPr txBox="1"/>
          <p:nvPr/>
        </p:nvSpPr>
        <p:spPr>
          <a:xfrm>
            <a:off x="7000875" y="2905125"/>
            <a:ext cx="30576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E3A8A"/>
                </a:solidFill>
                <a:latin typeface="Nunito"/>
                <a:ea typeface="Nunito"/>
                <a:cs typeface="Nunito"/>
                <a:sym typeface="Nunito"/>
              </a:rPr>
              <a:t>SkinThickness:</a:t>
            </a:r>
            <a:r>
              <a:rPr b="0" i="0" lang="en-US" sz="1500" u="none" cap="none" strike="noStrike">
                <a:solidFill>
                  <a:srgbClr val="334155"/>
                </a:solidFill>
                <a:latin typeface="Nunito"/>
                <a:ea typeface="Nunito"/>
                <a:cs typeface="Nunito"/>
                <a:sym typeface="Nunito"/>
              </a:rPr>
              <a:t> Độ dày lớp da (mm)</a:t>
            </a:r>
            <a:endParaRPr/>
          </a:p>
        </p:txBody>
      </p:sp>
      <p:pic>
        <p:nvPicPr>
          <p:cNvPr descr="image.png" id="262" name="Google Shape;262;p31"/>
          <p:cNvPicPr preferRelativeResize="0"/>
          <p:nvPr/>
        </p:nvPicPr>
        <p:blipFill rotWithShape="1">
          <a:blip r:embed="rId8">
            <a:alphaModFix/>
          </a:blip>
          <a:srcRect b="0" l="0" r="0" t="0"/>
          <a:stretch/>
        </p:blipFill>
        <p:spPr>
          <a:xfrm>
            <a:off x="809625" y="3798837"/>
            <a:ext cx="428625" cy="247650"/>
          </a:xfrm>
          <a:prstGeom prst="rect">
            <a:avLst/>
          </a:prstGeom>
          <a:noFill/>
          <a:ln>
            <a:noFill/>
          </a:ln>
        </p:spPr>
      </p:pic>
      <p:sp>
        <p:nvSpPr>
          <p:cNvPr id="263" name="Google Shape;263;p31"/>
          <p:cNvSpPr txBox="1"/>
          <p:nvPr/>
        </p:nvSpPr>
        <p:spPr>
          <a:xfrm>
            <a:off x="1238250" y="3770262"/>
            <a:ext cx="27291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E3A8A"/>
                </a:solidFill>
                <a:latin typeface="Nunito"/>
                <a:ea typeface="Nunito"/>
                <a:cs typeface="Nunito"/>
                <a:sym typeface="Nunito"/>
              </a:rPr>
              <a:t>Insulin:</a:t>
            </a:r>
            <a:r>
              <a:rPr b="0" i="0" lang="en-US" sz="1500" u="none" cap="none" strike="noStrike">
                <a:solidFill>
                  <a:srgbClr val="334155"/>
                </a:solidFill>
                <a:latin typeface="Nunito"/>
                <a:ea typeface="Nunito"/>
                <a:cs typeface="Nunito"/>
                <a:sym typeface="Nunito"/>
              </a:rPr>
              <a:t> Nồng độ insulin (μU/ml)</a:t>
            </a:r>
            <a:endParaRPr/>
          </a:p>
        </p:txBody>
      </p:sp>
      <p:pic>
        <p:nvPicPr>
          <p:cNvPr descr="image.png" id="264" name="Google Shape;264;p31"/>
          <p:cNvPicPr preferRelativeResize="0"/>
          <p:nvPr/>
        </p:nvPicPr>
        <p:blipFill rotWithShape="1">
          <a:blip r:embed="rId9">
            <a:alphaModFix/>
          </a:blip>
          <a:srcRect b="0" l="0" r="0" t="0"/>
          <a:stretch/>
        </p:blipFill>
        <p:spPr>
          <a:xfrm>
            <a:off x="6572250" y="3798837"/>
            <a:ext cx="428625" cy="247650"/>
          </a:xfrm>
          <a:prstGeom prst="rect">
            <a:avLst/>
          </a:prstGeom>
          <a:noFill/>
          <a:ln>
            <a:noFill/>
          </a:ln>
        </p:spPr>
      </p:pic>
      <p:sp>
        <p:nvSpPr>
          <p:cNvPr id="265" name="Google Shape;265;p31"/>
          <p:cNvSpPr txBox="1"/>
          <p:nvPr/>
        </p:nvSpPr>
        <p:spPr>
          <a:xfrm>
            <a:off x="7000875" y="3752850"/>
            <a:ext cx="26100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E3A8A"/>
                </a:solidFill>
                <a:latin typeface="Nunito"/>
                <a:ea typeface="Nunito"/>
                <a:cs typeface="Nunito"/>
                <a:sym typeface="Nunito"/>
              </a:rPr>
              <a:t>BMI:</a:t>
            </a:r>
            <a:r>
              <a:rPr b="0" i="0" lang="en-US" sz="1500" u="none" cap="none" strike="noStrike">
                <a:solidFill>
                  <a:srgbClr val="334155"/>
                </a:solidFill>
                <a:latin typeface="Nunito"/>
                <a:ea typeface="Nunito"/>
                <a:cs typeface="Nunito"/>
                <a:sym typeface="Nunito"/>
              </a:rPr>
              <a:t> Chỉ số khối cơ thể (kg/m2)</a:t>
            </a:r>
            <a:endParaRPr/>
          </a:p>
        </p:txBody>
      </p:sp>
      <p:pic>
        <p:nvPicPr>
          <p:cNvPr descr="image.png" id="266" name="Google Shape;266;p31"/>
          <p:cNvPicPr preferRelativeResize="0"/>
          <p:nvPr/>
        </p:nvPicPr>
        <p:blipFill rotWithShape="1">
          <a:blip r:embed="rId10">
            <a:alphaModFix/>
          </a:blip>
          <a:srcRect b="0" l="0" r="0" t="0"/>
          <a:stretch/>
        </p:blipFill>
        <p:spPr>
          <a:xfrm>
            <a:off x="809625" y="4663975"/>
            <a:ext cx="428625" cy="247650"/>
          </a:xfrm>
          <a:prstGeom prst="rect">
            <a:avLst/>
          </a:prstGeom>
          <a:noFill/>
          <a:ln>
            <a:noFill/>
          </a:ln>
        </p:spPr>
      </p:pic>
      <p:sp>
        <p:nvSpPr>
          <p:cNvPr id="267" name="Google Shape;267;p31"/>
          <p:cNvSpPr txBox="1"/>
          <p:nvPr/>
        </p:nvSpPr>
        <p:spPr>
          <a:xfrm>
            <a:off x="1238250" y="4635400"/>
            <a:ext cx="3886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E3A8A"/>
                </a:solidFill>
                <a:latin typeface="Nunito"/>
                <a:ea typeface="Nunito"/>
                <a:cs typeface="Nunito"/>
                <a:sym typeface="Nunito"/>
              </a:rPr>
              <a:t>Diabetes Pedigree Function:</a:t>
            </a:r>
            <a:r>
              <a:rPr b="0" i="0" lang="en-US" sz="1500" u="none" cap="none" strike="noStrike">
                <a:solidFill>
                  <a:srgbClr val="334155"/>
                </a:solidFill>
                <a:latin typeface="Nunito"/>
                <a:ea typeface="Nunito"/>
                <a:cs typeface="Nunito"/>
                <a:sym typeface="Nunito"/>
              </a:rPr>
              <a:t> Yếu tố di truyền</a:t>
            </a:r>
            <a:endParaRPr/>
          </a:p>
        </p:txBody>
      </p:sp>
      <p:pic>
        <p:nvPicPr>
          <p:cNvPr descr="image.png" id="268" name="Google Shape;268;p31"/>
          <p:cNvPicPr preferRelativeResize="0"/>
          <p:nvPr/>
        </p:nvPicPr>
        <p:blipFill rotWithShape="1">
          <a:blip r:embed="rId11">
            <a:alphaModFix/>
          </a:blip>
          <a:srcRect b="0" l="0" r="0" t="0"/>
          <a:stretch/>
        </p:blipFill>
        <p:spPr>
          <a:xfrm>
            <a:off x="6572250" y="4663975"/>
            <a:ext cx="428625" cy="247650"/>
          </a:xfrm>
          <a:prstGeom prst="rect">
            <a:avLst/>
          </a:prstGeom>
          <a:noFill/>
          <a:ln>
            <a:noFill/>
          </a:ln>
        </p:spPr>
      </p:pic>
      <p:sp>
        <p:nvSpPr>
          <p:cNvPr id="269" name="Google Shape;269;p31"/>
          <p:cNvSpPr txBox="1"/>
          <p:nvPr/>
        </p:nvSpPr>
        <p:spPr>
          <a:xfrm>
            <a:off x="7000875" y="4635400"/>
            <a:ext cx="13527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E3A8A"/>
                </a:solidFill>
                <a:latin typeface="Nunito"/>
                <a:ea typeface="Nunito"/>
                <a:cs typeface="Nunito"/>
                <a:sym typeface="Nunito"/>
              </a:rPr>
              <a:t>Age:</a:t>
            </a:r>
            <a:r>
              <a:rPr b="0" i="0" lang="en-US" sz="1500" u="none" cap="none" strike="noStrike">
                <a:solidFill>
                  <a:srgbClr val="334155"/>
                </a:solidFill>
                <a:latin typeface="Nunito"/>
                <a:ea typeface="Nunito"/>
                <a:cs typeface="Nunito"/>
                <a:sym typeface="Nunito"/>
              </a:rPr>
              <a:t> Tuổi (năm)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6FF"/>
        </a:solidFill>
      </p:bgPr>
    </p:bg>
    <p:spTree>
      <p:nvGrpSpPr>
        <p:cNvPr id="273" name="Shape 273"/>
        <p:cNvGrpSpPr/>
        <p:nvPr/>
      </p:nvGrpSpPr>
      <p:grpSpPr>
        <a:xfrm>
          <a:off x="0" y="0"/>
          <a:ext cx="0" cy="0"/>
          <a:chOff x="0" y="0"/>
          <a:chExt cx="0" cy="0"/>
        </a:xfrm>
      </p:grpSpPr>
      <p:sp>
        <p:nvSpPr>
          <p:cNvPr id="274" name="Google Shape;274;p32"/>
          <p:cNvSpPr txBox="1"/>
          <p:nvPr/>
        </p:nvSpPr>
        <p:spPr>
          <a:xfrm>
            <a:off x="571500" y="476250"/>
            <a:ext cx="1160145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Tiền xử lý Dữ liệu (Dọn dẹp Missing ảo)</a:t>
            </a:r>
            <a:endParaRPr/>
          </a:p>
        </p:txBody>
      </p:sp>
      <p:sp>
        <p:nvSpPr>
          <p:cNvPr id="275" name="Google Shape;275;p32"/>
          <p:cNvSpPr txBox="1"/>
          <p:nvPr/>
        </p:nvSpPr>
        <p:spPr>
          <a:xfrm>
            <a:off x="571500" y="2458491"/>
            <a:ext cx="5600700" cy="333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Tính toàn vẹn của dữ liệu y sinh</a:t>
            </a:r>
            <a:endParaRPr/>
          </a:p>
        </p:txBody>
      </p:sp>
      <p:sp>
        <p:nvSpPr>
          <p:cNvPr id="276" name="Google Shape;276;p32"/>
          <p:cNvSpPr txBox="1"/>
          <p:nvPr/>
        </p:nvSpPr>
        <p:spPr>
          <a:xfrm>
            <a:off x="857250" y="2934741"/>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Trong bộ dữ liệu thô, nhiều chỉ số sinh tồn (Glucose, BloodPressure, SkinThickness, Insulin, BMI) bị ghi nhận bằng 0.</a:t>
            </a:r>
            <a:endParaRPr/>
          </a:p>
        </p:txBody>
      </p:sp>
      <p:sp>
        <p:nvSpPr>
          <p:cNvPr id="277" name="Google Shape;277;p32"/>
          <p:cNvSpPr txBox="1"/>
          <p:nvPr/>
        </p:nvSpPr>
        <p:spPr>
          <a:xfrm>
            <a:off x="857250" y="3654772"/>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Đây là lỗi phi vật lý trong y khoa. Cần xử lý để không làm sai lệch kết quả mô hình.</a:t>
            </a:r>
            <a:endParaRPr/>
          </a:p>
        </p:txBody>
      </p:sp>
      <p:sp>
        <p:nvSpPr>
          <p:cNvPr id="278" name="Google Shape;278;p32"/>
          <p:cNvSpPr txBox="1"/>
          <p:nvPr/>
        </p:nvSpPr>
        <p:spPr>
          <a:xfrm>
            <a:off x="857250" y="4374802"/>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E40AF"/>
                </a:solidFill>
                <a:latin typeface="Nunito"/>
                <a:ea typeface="Nunito"/>
                <a:cs typeface="Nunito"/>
                <a:sym typeface="Nunito"/>
              </a:rPr>
              <a:t>Giải pháp:</a:t>
            </a:r>
            <a:r>
              <a:rPr b="0" i="0" lang="en-US" sz="1350" u="none" cap="none" strike="noStrike">
                <a:solidFill>
                  <a:srgbClr val="334155"/>
                </a:solidFill>
                <a:latin typeface="Nunito"/>
                <a:ea typeface="Nunito"/>
                <a:cs typeface="Nunito"/>
                <a:sym typeface="Nunito"/>
              </a:rPr>
              <a:t> Gán số 0 thành NaN và sử dụng SimpleImputer (chiến lược Median) để lấp đầy dữ liệu, bảo vệ tính toàn vẹn sinh lý học.</a:t>
            </a:r>
            <a:endParaRPr/>
          </a:p>
        </p:txBody>
      </p:sp>
      <p:pic>
        <p:nvPicPr>
          <p:cNvPr descr="image.png" id="279" name="Google Shape;279;p32"/>
          <p:cNvPicPr preferRelativeResize="0"/>
          <p:nvPr/>
        </p:nvPicPr>
        <p:blipFill rotWithShape="1">
          <a:blip r:embed="rId3">
            <a:alphaModFix/>
          </a:blip>
          <a:srcRect b="0" l="0" r="0" t="0"/>
          <a:stretch/>
        </p:blipFill>
        <p:spPr>
          <a:xfrm>
            <a:off x="571500" y="2953791"/>
            <a:ext cx="104775" cy="180975"/>
          </a:xfrm>
          <a:prstGeom prst="rect">
            <a:avLst/>
          </a:prstGeom>
          <a:noFill/>
          <a:ln>
            <a:noFill/>
          </a:ln>
        </p:spPr>
      </p:pic>
      <p:pic>
        <p:nvPicPr>
          <p:cNvPr descr="image.png" id="280" name="Google Shape;280;p32"/>
          <p:cNvPicPr preferRelativeResize="0"/>
          <p:nvPr/>
        </p:nvPicPr>
        <p:blipFill rotWithShape="1">
          <a:blip r:embed="rId3">
            <a:alphaModFix/>
          </a:blip>
          <a:srcRect b="0" l="0" r="0" t="0"/>
          <a:stretch/>
        </p:blipFill>
        <p:spPr>
          <a:xfrm>
            <a:off x="571500" y="3673822"/>
            <a:ext cx="104775" cy="180975"/>
          </a:xfrm>
          <a:prstGeom prst="rect">
            <a:avLst/>
          </a:prstGeom>
          <a:noFill/>
          <a:ln>
            <a:noFill/>
          </a:ln>
        </p:spPr>
      </p:pic>
      <p:pic>
        <p:nvPicPr>
          <p:cNvPr descr="image.png" id="281" name="Google Shape;281;p32"/>
          <p:cNvPicPr preferRelativeResize="0"/>
          <p:nvPr/>
        </p:nvPicPr>
        <p:blipFill rotWithShape="1">
          <a:blip r:embed="rId3">
            <a:alphaModFix/>
          </a:blip>
          <a:srcRect b="0" l="0" r="0" t="0"/>
          <a:stretch/>
        </p:blipFill>
        <p:spPr>
          <a:xfrm>
            <a:off x="571500" y="4393852"/>
            <a:ext cx="104775" cy="180975"/>
          </a:xfrm>
          <a:prstGeom prst="rect">
            <a:avLst/>
          </a:prstGeom>
          <a:noFill/>
          <a:ln>
            <a:noFill/>
          </a:ln>
        </p:spPr>
      </p:pic>
      <p:pic>
        <p:nvPicPr>
          <p:cNvPr id="282" name="Google Shape;282;p32"/>
          <p:cNvPicPr preferRelativeResize="0"/>
          <p:nvPr/>
        </p:nvPicPr>
        <p:blipFill>
          <a:blip r:embed="rId4">
            <a:alphaModFix/>
          </a:blip>
          <a:stretch>
            <a:fillRect/>
          </a:stretch>
        </p:blipFill>
        <p:spPr>
          <a:xfrm>
            <a:off x="5990975" y="1445513"/>
            <a:ext cx="5989776" cy="396697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33"/>
          <p:cNvSpPr txBox="1"/>
          <p:nvPr/>
        </p:nvSpPr>
        <p:spPr>
          <a:xfrm>
            <a:off x="571500" y="47625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Phân </a:t>
            </a:r>
            <a:r>
              <a:rPr b="1" lang="en-US" sz="2700">
                <a:solidFill>
                  <a:srgbClr val="1E3A8A"/>
                </a:solidFill>
                <a:latin typeface="Playfair Display"/>
                <a:ea typeface="Playfair Display"/>
                <a:cs typeface="Playfair Display"/>
                <a:sym typeface="Playfair Display"/>
              </a:rPr>
              <a:t>tích</a:t>
            </a:r>
            <a:r>
              <a:rPr b="1" i="0" lang="en-US" sz="2700" u="none" cap="none" strike="noStrike">
                <a:solidFill>
                  <a:srgbClr val="1E3A8A"/>
                </a:solidFill>
                <a:latin typeface="Playfair Display"/>
                <a:ea typeface="Playfair Display"/>
                <a:cs typeface="Playfair Display"/>
                <a:sym typeface="Playfair Display"/>
              </a:rPr>
              <a:t> Biến mục tiêu (Outcome)</a:t>
            </a:r>
            <a:endParaRPr/>
          </a:p>
        </p:txBody>
      </p:sp>
      <p:sp>
        <p:nvSpPr>
          <p:cNvPr id="288" name="Google Shape;288;p33"/>
          <p:cNvSpPr txBox="1"/>
          <p:nvPr/>
        </p:nvSpPr>
        <p:spPr>
          <a:xfrm>
            <a:off x="571500" y="1171575"/>
            <a:ext cx="11601450"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Tỷ lệ mắc bệnh trong dataset</a:t>
            </a:r>
            <a:endParaRPr/>
          </a:p>
        </p:txBody>
      </p:sp>
      <p:sp>
        <p:nvSpPr>
          <p:cNvPr id="289" name="Google Shape;289;p33"/>
          <p:cNvSpPr txBox="1"/>
          <p:nvPr/>
        </p:nvSpPr>
        <p:spPr>
          <a:xfrm>
            <a:off x="857250" y="1647825"/>
            <a:ext cx="2769393"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Không mắc bệnh: </a:t>
            </a:r>
            <a:r>
              <a:rPr b="1" i="0" lang="en-US" sz="1350" u="none" cap="none" strike="noStrike">
                <a:solidFill>
                  <a:srgbClr val="1E40AF"/>
                </a:solidFill>
                <a:latin typeface="Nunito"/>
                <a:ea typeface="Nunito"/>
                <a:cs typeface="Nunito"/>
                <a:sym typeface="Nunito"/>
              </a:rPr>
              <a:t>~65%</a:t>
            </a:r>
            <a:r>
              <a:rPr b="0" i="0" lang="en-US" sz="1350" u="none" cap="none" strike="noStrike">
                <a:solidFill>
                  <a:srgbClr val="334155"/>
                </a:solidFill>
                <a:latin typeface="Nunito"/>
                <a:ea typeface="Nunito"/>
                <a:cs typeface="Nunito"/>
                <a:sym typeface="Nunito"/>
              </a:rPr>
              <a:t> (Nhóm khỏe mạnh).</a:t>
            </a:r>
            <a:endParaRPr/>
          </a:p>
        </p:txBody>
      </p:sp>
      <p:sp>
        <p:nvSpPr>
          <p:cNvPr id="290" name="Google Shape;290;p33"/>
          <p:cNvSpPr txBox="1"/>
          <p:nvPr/>
        </p:nvSpPr>
        <p:spPr>
          <a:xfrm>
            <a:off x="4293393" y="1647825"/>
            <a:ext cx="2312937"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Mắc bệnh: </a:t>
            </a:r>
            <a:r>
              <a:rPr b="1" i="0" lang="en-US" sz="1350" u="none" cap="none" strike="noStrike">
                <a:solidFill>
                  <a:srgbClr val="E11D48"/>
                </a:solidFill>
                <a:latin typeface="Nunito"/>
                <a:ea typeface="Nunito"/>
                <a:cs typeface="Nunito"/>
                <a:sym typeface="Nunito"/>
              </a:rPr>
              <a:t>~35%</a:t>
            </a:r>
            <a:r>
              <a:rPr b="0" i="0" lang="en-US" sz="1350" u="none" cap="none" strike="noStrike">
                <a:solidFill>
                  <a:srgbClr val="334155"/>
                </a:solidFill>
                <a:latin typeface="Nunito"/>
                <a:ea typeface="Nunito"/>
                <a:cs typeface="Nunito"/>
                <a:sym typeface="Nunito"/>
              </a:rPr>
              <a:t> (Nhóm dương tính).</a:t>
            </a:r>
            <a:endParaRPr/>
          </a:p>
        </p:txBody>
      </p:sp>
      <p:sp>
        <p:nvSpPr>
          <p:cNvPr id="291" name="Google Shape;291;p33"/>
          <p:cNvSpPr txBox="1"/>
          <p:nvPr/>
        </p:nvSpPr>
        <p:spPr>
          <a:xfrm>
            <a:off x="7273081" y="1647825"/>
            <a:ext cx="4347418"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Tỷ lệ 34.4% là cực kỳ cao, phản ánh tính chất đặc thù của người Pima.</a:t>
            </a:r>
            <a:endParaRPr/>
          </a:p>
        </p:txBody>
      </p:sp>
      <p:pic>
        <p:nvPicPr>
          <p:cNvPr descr="image.png" id="292" name="Google Shape;292;p33"/>
          <p:cNvPicPr preferRelativeResize="0"/>
          <p:nvPr/>
        </p:nvPicPr>
        <p:blipFill rotWithShape="1">
          <a:blip r:embed="rId3">
            <a:alphaModFix/>
          </a:blip>
          <a:srcRect b="0" l="0" r="0" t="0"/>
          <a:stretch/>
        </p:blipFill>
        <p:spPr>
          <a:xfrm>
            <a:off x="571500" y="1666875"/>
            <a:ext cx="104775" cy="180975"/>
          </a:xfrm>
          <a:prstGeom prst="rect">
            <a:avLst/>
          </a:prstGeom>
          <a:noFill/>
          <a:ln>
            <a:noFill/>
          </a:ln>
        </p:spPr>
      </p:pic>
      <p:pic>
        <p:nvPicPr>
          <p:cNvPr descr="image.png" id="293" name="Google Shape;293;p33"/>
          <p:cNvPicPr preferRelativeResize="0"/>
          <p:nvPr/>
        </p:nvPicPr>
        <p:blipFill rotWithShape="1">
          <a:blip r:embed="rId3">
            <a:alphaModFix/>
          </a:blip>
          <a:srcRect b="0" l="0" r="0" t="0"/>
          <a:stretch/>
        </p:blipFill>
        <p:spPr>
          <a:xfrm>
            <a:off x="4007643" y="1666875"/>
            <a:ext cx="104775" cy="180975"/>
          </a:xfrm>
          <a:prstGeom prst="rect">
            <a:avLst/>
          </a:prstGeom>
          <a:noFill/>
          <a:ln>
            <a:noFill/>
          </a:ln>
        </p:spPr>
      </p:pic>
      <p:pic>
        <p:nvPicPr>
          <p:cNvPr descr="image.png" id="294" name="Google Shape;294;p33"/>
          <p:cNvPicPr preferRelativeResize="0"/>
          <p:nvPr/>
        </p:nvPicPr>
        <p:blipFill rotWithShape="1">
          <a:blip r:embed="rId3">
            <a:alphaModFix/>
          </a:blip>
          <a:srcRect b="0" l="0" r="0" t="0"/>
          <a:stretch/>
        </p:blipFill>
        <p:spPr>
          <a:xfrm>
            <a:off x="6987331" y="1666875"/>
            <a:ext cx="104775" cy="180975"/>
          </a:xfrm>
          <a:prstGeom prst="rect">
            <a:avLst/>
          </a:prstGeom>
          <a:noFill/>
          <a:ln>
            <a:noFill/>
          </a:ln>
        </p:spPr>
      </p:pic>
      <p:pic>
        <p:nvPicPr>
          <p:cNvPr id="295" name="Google Shape;295;p33" title="01_Case1_Outcome_PieChart.png"/>
          <p:cNvPicPr preferRelativeResize="0"/>
          <p:nvPr/>
        </p:nvPicPr>
        <p:blipFill>
          <a:blip r:embed="rId4">
            <a:alphaModFix/>
          </a:blip>
          <a:stretch>
            <a:fillRect/>
          </a:stretch>
        </p:blipFill>
        <p:spPr>
          <a:xfrm>
            <a:off x="1066274" y="2705525"/>
            <a:ext cx="4138951" cy="3571475"/>
          </a:xfrm>
          <a:prstGeom prst="rect">
            <a:avLst/>
          </a:prstGeom>
          <a:noFill/>
          <a:ln cap="flat" cmpd="sng" w="9525">
            <a:solidFill>
              <a:srgbClr val="1E3A8A"/>
            </a:solidFill>
            <a:prstDash val="solid"/>
            <a:round/>
            <a:headEnd len="sm" w="sm" type="none"/>
            <a:tailEnd len="sm" w="sm" type="none"/>
          </a:ln>
        </p:spPr>
      </p:pic>
      <p:pic>
        <p:nvPicPr>
          <p:cNvPr id="296" name="Google Shape;296;p33" title="02_Case1_Outcome_CountPlot.png"/>
          <p:cNvPicPr preferRelativeResize="0"/>
          <p:nvPr/>
        </p:nvPicPr>
        <p:blipFill>
          <a:blip r:embed="rId5">
            <a:alphaModFix/>
          </a:blip>
          <a:stretch>
            <a:fillRect/>
          </a:stretch>
        </p:blipFill>
        <p:spPr>
          <a:xfrm>
            <a:off x="6425850" y="2705525"/>
            <a:ext cx="4730324" cy="3571475"/>
          </a:xfrm>
          <a:prstGeom prst="rect">
            <a:avLst/>
          </a:prstGeom>
          <a:noFill/>
          <a:ln cap="flat" cmpd="sng" w="9525">
            <a:solidFill>
              <a:srgbClr val="1E40AF"/>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CF4"/>
        </a:solidFill>
      </p:bgPr>
    </p:bg>
    <p:spTree>
      <p:nvGrpSpPr>
        <p:cNvPr id="300" name="Shape 300"/>
        <p:cNvGrpSpPr/>
        <p:nvPr/>
      </p:nvGrpSpPr>
      <p:grpSpPr>
        <a:xfrm>
          <a:off x="0" y="0"/>
          <a:ext cx="0" cy="0"/>
          <a:chOff x="0" y="0"/>
          <a:chExt cx="0" cy="0"/>
        </a:xfrm>
      </p:grpSpPr>
      <p:pic>
        <p:nvPicPr>
          <p:cNvPr descr="image.png" id="301" name="Google Shape;301;p34"/>
          <p:cNvPicPr preferRelativeResize="0"/>
          <p:nvPr/>
        </p:nvPicPr>
        <p:blipFill rotWithShape="1">
          <a:blip r:embed="rId3">
            <a:alphaModFix/>
          </a:blip>
          <a:srcRect b="0" l="0" r="0" t="0"/>
          <a:stretch/>
        </p:blipFill>
        <p:spPr>
          <a:xfrm>
            <a:off x="571500" y="1981200"/>
            <a:ext cx="11049000" cy="4714279"/>
          </a:xfrm>
          <a:prstGeom prst="rect">
            <a:avLst/>
          </a:prstGeom>
          <a:noFill/>
          <a:ln>
            <a:noFill/>
          </a:ln>
        </p:spPr>
      </p:pic>
      <p:sp>
        <p:nvSpPr>
          <p:cNvPr id="302" name="Google Shape;302;p34"/>
          <p:cNvSpPr txBox="1"/>
          <p:nvPr/>
        </p:nvSpPr>
        <p:spPr>
          <a:xfrm>
            <a:off x="571500" y="408950"/>
            <a:ext cx="68094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chemeClr val="dk2"/>
                </a:solidFill>
                <a:latin typeface="Playfair Display"/>
                <a:ea typeface="Playfair Display"/>
                <a:cs typeface="Playfair Display"/>
                <a:sym typeface="Playfair Display"/>
              </a:rPr>
              <a:t>PHÂN TÍCH BIẾN MỤC TIÊU</a:t>
            </a:r>
            <a:endParaRPr sz="2800">
              <a:solidFill>
                <a:schemeClr val="dk2"/>
              </a:solidFill>
              <a:latin typeface="Playfair Display"/>
              <a:ea typeface="Playfair Display"/>
              <a:cs typeface="Playfair Display"/>
              <a:sym typeface="Playfair Display"/>
            </a:endParaRPr>
          </a:p>
        </p:txBody>
      </p:sp>
      <p:sp>
        <p:nvSpPr>
          <p:cNvPr id="303" name="Google Shape;303;p34"/>
          <p:cNvSpPr txBox="1"/>
          <p:nvPr/>
        </p:nvSpPr>
        <p:spPr>
          <a:xfrm>
            <a:off x="571500" y="1554175"/>
            <a:ext cx="11601600" cy="338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00" u="none" cap="none" strike="noStrike">
                <a:solidFill>
                  <a:srgbClr val="2D3748"/>
                </a:solidFill>
                <a:latin typeface="Playfair Display"/>
                <a:ea typeface="Playfair Display"/>
                <a:cs typeface="Playfair Display"/>
                <a:sym typeface="Playfair Display"/>
              </a:rPr>
              <a:t>Đặc điểm nhóm bệnh nhân và nhóm khỏe mạnh</a:t>
            </a:r>
            <a:endParaRPr sz="900">
              <a:latin typeface="Playfair Display"/>
              <a:ea typeface="Playfair Display"/>
              <a:cs typeface="Playfair Display"/>
              <a:sym typeface="Playfair Display"/>
            </a:endParaRPr>
          </a:p>
        </p:txBody>
      </p:sp>
      <p:sp>
        <p:nvSpPr>
          <p:cNvPr id="304" name="Google Shape;304;p34"/>
          <p:cNvSpPr txBox="1"/>
          <p:nvPr/>
        </p:nvSpPr>
        <p:spPr>
          <a:xfrm>
            <a:off x="1047750" y="2362200"/>
            <a:ext cx="106014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E53E3E"/>
                </a:solidFill>
                <a:latin typeface="Nunito"/>
                <a:ea typeface="Nunito"/>
                <a:cs typeface="Nunito"/>
                <a:sym typeface="Nunito"/>
              </a:rPr>
              <a:t>Đặc điểm &amp; Khác biệt chính</a:t>
            </a:r>
            <a:endParaRPr>
              <a:latin typeface="Nunito"/>
              <a:ea typeface="Nunito"/>
              <a:cs typeface="Nunito"/>
              <a:sym typeface="Nunito"/>
            </a:endParaRPr>
          </a:p>
        </p:txBody>
      </p:sp>
      <p:sp>
        <p:nvSpPr>
          <p:cNvPr id="305" name="Google Shape;305;p34"/>
          <p:cNvSpPr txBox="1"/>
          <p:nvPr/>
        </p:nvSpPr>
        <p:spPr>
          <a:xfrm>
            <a:off x="753300" y="5653304"/>
            <a:ext cx="10096500" cy="277200"/>
          </a:xfrm>
          <a:prstGeom prst="rect">
            <a:avLst/>
          </a:prstGeom>
          <a:noFill/>
          <a:ln>
            <a:noFill/>
          </a:ln>
        </p:spPr>
        <p:txBody>
          <a:bodyPr anchorCtr="0" anchor="t" bIns="0" lIns="2124075" spcFirstLastPara="1" rIns="0" wrap="square" tIns="0">
            <a:spAutoFit/>
          </a:bodyPr>
          <a:lstStyle/>
          <a:p>
            <a:pPr indent="0" lvl="0" marL="0" marR="0" rtl="0" algn="ctr">
              <a:spcBef>
                <a:spcPts val="0"/>
              </a:spcBef>
              <a:spcAft>
                <a:spcPts val="0"/>
              </a:spcAft>
              <a:buNone/>
            </a:pPr>
            <a:r>
              <a:rPr b="1" i="0" lang="en-US" sz="1800" u="none" cap="none" strike="noStrike">
                <a:solidFill>
                  <a:srgbClr val="1A202C"/>
                </a:solidFill>
                <a:latin typeface="Nunito"/>
                <a:ea typeface="Nunito"/>
                <a:cs typeface="Nunito"/>
                <a:sym typeface="Nunito"/>
              </a:rPr>
              <a:t> Khác biệt rõ rệt:</a:t>
            </a:r>
            <a:r>
              <a:rPr i="0" lang="en-US" sz="1800" u="none" cap="none" strike="noStrike">
                <a:solidFill>
                  <a:srgbClr val="1A202C"/>
                </a:solidFill>
                <a:latin typeface="Nunito"/>
                <a:ea typeface="Nunito"/>
                <a:cs typeface="Nunito"/>
                <a:sym typeface="Nunito"/>
              </a:rPr>
              <a:t> Glucose (+30.7), Tuổi (+6.1), BMI (+4.2)</a:t>
            </a:r>
            <a:endParaRPr>
              <a:latin typeface="Nunito"/>
              <a:ea typeface="Nunito"/>
              <a:cs typeface="Nunito"/>
              <a:sym typeface="Nunito"/>
            </a:endParaRPr>
          </a:p>
        </p:txBody>
      </p:sp>
      <p:sp>
        <p:nvSpPr>
          <p:cNvPr id="306" name="Google Shape;306;p34"/>
          <p:cNvSpPr txBox="1"/>
          <p:nvPr/>
        </p:nvSpPr>
        <p:spPr>
          <a:xfrm>
            <a:off x="1047750" y="2990850"/>
            <a:ext cx="50007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A202C"/>
                </a:solidFill>
                <a:latin typeface="Nunito"/>
                <a:ea typeface="Nunito"/>
                <a:cs typeface="Nunito"/>
                <a:sym typeface="Nunito"/>
              </a:rPr>
              <a:t>Mắc bệnh (n=248):</a:t>
            </a:r>
            <a:endParaRPr>
              <a:latin typeface="Nunito"/>
              <a:ea typeface="Nunito"/>
              <a:cs typeface="Nunito"/>
              <a:sym typeface="Nunito"/>
            </a:endParaRPr>
          </a:p>
        </p:txBody>
      </p:sp>
      <p:sp>
        <p:nvSpPr>
          <p:cNvPr id="307" name="Google Shape;307;p34"/>
          <p:cNvSpPr txBox="1"/>
          <p:nvPr/>
        </p:nvSpPr>
        <p:spPr>
          <a:xfrm>
            <a:off x="6381750" y="2990850"/>
            <a:ext cx="50007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A202C"/>
                </a:solidFill>
                <a:latin typeface="Nunito"/>
                <a:ea typeface="Nunito"/>
                <a:cs typeface="Nunito"/>
                <a:sym typeface="Nunito"/>
              </a:rPr>
              <a:t>Khỏe mạnh (n=472):</a:t>
            </a:r>
            <a:endParaRPr>
              <a:latin typeface="Nunito"/>
              <a:ea typeface="Nunito"/>
              <a:cs typeface="Nunito"/>
              <a:sym typeface="Nunito"/>
            </a:endParaRPr>
          </a:p>
        </p:txBody>
      </p:sp>
      <p:sp>
        <p:nvSpPr>
          <p:cNvPr id="308" name="Google Shape;308;p34"/>
          <p:cNvSpPr txBox="1"/>
          <p:nvPr/>
        </p:nvSpPr>
        <p:spPr>
          <a:xfrm>
            <a:off x="1047750" y="3505200"/>
            <a:ext cx="4762500" cy="254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US" sz="1650" u="none" cap="none" strike="noStrike">
                <a:solidFill>
                  <a:srgbClr val="2D3748"/>
                </a:solidFill>
                <a:latin typeface="Nunito"/>
                <a:ea typeface="Nunito"/>
                <a:cs typeface="Nunito"/>
                <a:sym typeface="Nunito"/>
              </a:rPr>
              <a:t>Glucose: 142.8 mg/dL (↑, vượt ngưỡng chẩn đoán)</a:t>
            </a:r>
            <a:endParaRPr>
              <a:latin typeface="Nunito"/>
              <a:ea typeface="Nunito"/>
              <a:cs typeface="Nunito"/>
              <a:sym typeface="Nunito"/>
            </a:endParaRPr>
          </a:p>
        </p:txBody>
      </p:sp>
      <p:sp>
        <p:nvSpPr>
          <p:cNvPr id="309" name="Google Shape;309;p34"/>
          <p:cNvSpPr txBox="1"/>
          <p:nvPr/>
        </p:nvSpPr>
        <p:spPr>
          <a:xfrm>
            <a:off x="1047750" y="4030846"/>
            <a:ext cx="4762500" cy="254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US" sz="1650" u="none" cap="none" strike="noStrike">
                <a:solidFill>
                  <a:srgbClr val="2D3748"/>
                </a:solidFill>
                <a:latin typeface="Nunito"/>
                <a:ea typeface="Nunito"/>
                <a:cs typeface="Nunito"/>
                <a:sym typeface="Nunito"/>
              </a:rPr>
              <a:t>BMI: 35.2 (béo phì II), Tuổi: 37.4 (cao hơn 6.1 năm)</a:t>
            </a:r>
            <a:endParaRPr>
              <a:latin typeface="Nunito"/>
              <a:ea typeface="Nunito"/>
              <a:cs typeface="Nunito"/>
              <a:sym typeface="Nunito"/>
            </a:endParaRPr>
          </a:p>
        </p:txBody>
      </p:sp>
      <p:sp>
        <p:nvSpPr>
          <p:cNvPr id="310" name="Google Shape;310;p34"/>
          <p:cNvSpPr txBox="1"/>
          <p:nvPr/>
        </p:nvSpPr>
        <p:spPr>
          <a:xfrm>
            <a:off x="1047750" y="4556493"/>
            <a:ext cx="4762500" cy="254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US" sz="1650" u="none" cap="none" strike="noStrike">
                <a:solidFill>
                  <a:srgbClr val="2D3748"/>
                </a:solidFill>
                <a:latin typeface="Nunito"/>
                <a:ea typeface="Nunito"/>
                <a:cs typeface="Nunito"/>
                <a:sym typeface="Nunito"/>
              </a:rPr>
              <a:t>Mang thai: 4.9 lần, Di truyền: 0.6 (↑ nguy cơ)</a:t>
            </a:r>
            <a:endParaRPr>
              <a:latin typeface="Nunito"/>
              <a:ea typeface="Nunito"/>
              <a:cs typeface="Nunito"/>
              <a:sym typeface="Nunito"/>
            </a:endParaRPr>
          </a:p>
        </p:txBody>
      </p:sp>
      <p:sp>
        <p:nvSpPr>
          <p:cNvPr id="311" name="Google Shape;311;p34"/>
          <p:cNvSpPr txBox="1"/>
          <p:nvPr/>
        </p:nvSpPr>
        <p:spPr>
          <a:xfrm>
            <a:off x="6381750" y="3505200"/>
            <a:ext cx="4762500" cy="254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US" sz="1650" u="none" cap="none" strike="noStrike">
                <a:solidFill>
                  <a:srgbClr val="2D3748"/>
                </a:solidFill>
                <a:latin typeface="Nunito"/>
                <a:ea typeface="Nunito"/>
                <a:cs typeface="Nunito"/>
                <a:sym typeface="Nunito"/>
              </a:rPr>
              <a:t>Glucose: 111.1 mg/dL (bình thường)</a:t>
            </a:r>
            <a:endParaRPr>
              <a:latin typeface="Nunito"/>
              <a:ea typeface="Nunito"/>
              <a:cs typeface="Nunito"/>
              <a:sym typeface="Nunito"/>
            </a:endParaRPr>
          </a:p>
        </p:txBody>
      </p:sp>
      <p:sp>
        <p:nvSpPr>
          <p:cNvPr id="312" name="Google Shape;312;p34"/>
          <p:cNvSpPr txBox="1"/>
          <p:nvPr/>
        </p:nvSpPr>
        <p:spPr>
          <a:xfrm>
            <a:off x="6381750" y="4030860"/>
            <a:ext cx="4762500" cy="254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US" sz="1650" u="none" cap="none" strike="noStrike">
                <a:solidFill>
                  <a:srgbClr val="2D3748"/>
                </a:solidFill>
                <a:latin typeface="Nunito"/>
                <a:ea typeface="Nunito"/>
                <a:cs typeface="Nunito"/>
                <a:sym typeface="Nunito"/>
              </a:rPr>
              <a:t>BMI: 31.0 (béo phì I), Tuổi: 31.3</a:t>
            </a:r>
            <a:endParaRPr>
              <a:latin typeface="Nunito"/>
              <a:ea typeface="Nunito"/>
              <a:cs typeface="Nunito"/>
              <a:sym typeface="Nunito"/>
            </a:endParaRPr>
          </a:p>
        </p:txBody>
      </p:sp>
      <p:sp>
        <p:nvSpPr>
          <p:cNvPr id="313" name="Google Shape;313;p34"/>
          <p:cNvSpPr txBox="1"/>
          <p:nvPr/>
        </p:nvSpPr>
        <p:spPr>
          <a:xfrm>
            <a:off x="6381750" y="4556521"/>
            <a:ext cx="4762500" cy="254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US" sz="1650" u="none" cap="none" strike="noStrike">
                <a:solidFill>
                  <a:srgbClr val="2D3748"/>
                </a:solidFill>
                <a:latin typeface="Nunito"/>
                <a:ea typeface="Nunito"/>
                <a:cs typeface="Nunito"/>
                <a:sym typeface="Nunito"/>
              </a:rPr>
              <a:t>Mang thai: 3.3 lần, Di truyền: 0.4</a:t>
            </a:r>
            <a:endParaRPr>
              <a:latin typeface="Nunito"/>
              <a:ea typeface="Nunito"/>
              <a:cs typeface="Nunito"/>
              <a:sym typeface="Nunito"/>
            </a:endParaRPr>
          </a:p>
        </p:txBody>
      </p:sp>
      <p:pic>
        <p:nvPicPr>
          <p:cNvPr descr="image.png" id="314" name="Google Shape;314;p34"/>
          <p:cNvPicPr preferRelativeResize="0"/>
          <p:nvPr/>
        </p:nvPicPr>
        <p:blipFill rotWithShape="1">
          <a:blip r:embed="rId4">
            <a:alphaModFix/>
          </a:blip>
          <a:srcRect b="0" l="0" r="0" t="0"/>
          <a:stretch/>
        </p:blipFill>
        <p:spPr>
          <a:xfrm>
            <a:off x="3664850" y="5653304"/>
            <a:ext cx="200025" cy="228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318" name="Shape 318"/>
        <p:cNvGrpSpPr/>
        <p:nvPr/>
      </p:nvGrpSpPr>
      <p:grpSpPr>
        <a:xfrm>
          <a:off x="0" y="0"/>
          <a:ext cx="0" cy="0"/>
          <a:chOff x="0" y="0"/>
          <a:chExt cx="0" cy="0"/>
        </a:xfrm>
      </p:grpSpPr>
      <p:sp>
        <p:nvSpPr>
          <p:cNvPr id="319" name="Google Shape;319;p35"/>
          <p:cNvSpPr txBox="1"/>
          <p:nvPr/>
        </p:nvSpPr>
        <p:spPr>
          <a:xfrm>
            <a:off x="154850" y="718000"/>
            <a:ext cx="5400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FFFFFF"/>
                </a:solidFill>
                <a:latin typeface="Playfair Display"/>
                <a:ea typeface="Playfair Display"/>
                <a:cs typeface="Playfair Display"/>
                <a:sym typeface="Playfair Display"/>
              </a:rPr>
              <a:t>Hồ sơ Lâm sàng Trung bình</a:t>
            </a:r>
            <a:endParaRPr/>
          </a:p>
        </p:txBody>
      </p:sp>
      <p:sp>
        <p:nvSpPr>
          <p:cNvPr id="320" name="Google Shape;320;p35"/>
          <p:cNvSpPr txBox="1"/>
          <p:nvPr/>
        </p:nvSpPr>
        <p:spPr>
          <a:xfrm>
            <a:off x="99688" y="1912866"/>
            <a:ext cx="540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FFFFF"/>
                </a:solidFill>
                <a:latin typeface="Playfair Display"/>
                <a:ea typeface="Playfair Display"/>
                <a:cs typeface="Playfair Display"/>
                <a:sym typeface="Playfair Display"/>
              </a:rPr>
              <a:t>So sánh tổng quan 8 biến số (Z-Score)</a:t>
            </a:r>
            <a:endParaRPr/>
          </a:p>
        </p:txBody>
      </p:sp>
      <p:sp>
        <p:nvSpPr>
          <p:cNvPr id="321" name="Google Shape;321;p35"/>
          <p:cNvSpPr txBox="1"/>
          <p:nvPr/>
        </p:nvSpPr>
        <p:spPr>
          <a:xfrm>
            <a:off x="371050" y="2355041"/>
            <a:ext cx="48579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E2E8F0"/>
                </a:solidFill>
                <a:latin typeface="Nunito"/>
                <a:ea typeface="Nunito"/>
                <a:cs typeface="Nunito"/>
                <a:sym typeface="Nunito"/>
              </a:rPr>
              <a:t>Để so sánh các biến khác đơn vị đo, dữ liệu đã được chuẩn hóa StandardScaler (Z-Score).</a:t>
            </a:r>
            <a:endParaRPr/>
          </a:p>
        </p:txBody>
      </p:sp>
      <p:sp>
        <p:nvSpPr>
          <p:cNvPr id="322" name="Google Shape;322;p35"/>
          <p:cNvSpPr txBox="1"/>
          <p:nvPr/>
        </p:nvSpPr>
        <p:spPr>
          <a:xfrm>
            <a:off x="371050" y="3338500"/>
            <a:ext cx="48579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E2E8F0"/>
                </a:solidFill>
                <a:latin typeface="Nunito"/>
                <a:ea typeface="Nunito"/>
                <a:cs typeface="Nunito"/>
                <a:sym typeface="Nunito"/>
              </a:rPr>
              <a:t>Nhóm mắc bệnh có giá trị trung bình chuẩn hóa vượt trội ở hầu hết các chỉ số.</a:t>
            </a:r>
            <a:endParaRPr/>
          </a:p>
        </p:txBody>
      </p:sp>
      <p:sp>
        <p:nvSpPr>
          <p:cNvPr id="323" name="Google Shape;323;p35"/>
          <p:cNvSpPr txBox="1"/>
          <p:nvPr/>
        </p:nvSpPr>
        <p:spPr>
          <a:xfrm>
            <a:off x="371050" y="4321952"/>
            <a:ext cx="48579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E2E8F0"/>
                </a:solidFill>
                <a:latin typeface="Nunito"/>
                <a:ea typeface="Nunito"/>
                <a:cs typeface="Nunito"/>
                <a:sym typeface="Nunito"/>
              </a:rPr>
              <a:t>Đặc biệt mức chênh lệch thể hiện rõ nét nhất ở hai chỉ số </a:t>
            </a:r>
            <a:r>
              <a:rPr b="1" i="0" lang="en-US" sz="1350" u="none" cap="none" strike="noStrike">
                <a:solidFill>
                  <a:srgbClr val="BFDBFE"/>
                </a:solidFill>
                <a:latin typeface="Nunito"/>
                <a:ea typeface="Nunito"/>
                <a:cs typeface="Nunito"/>
                <a:sym typeface="Nunito"/>
              </a:rPr>
              <a:t>Glucose</a:t>
            </a:r>
            <a:r>
              <a:rPr b="0" i="0" lang="en-US" sz="1350" u="none" cap="none" strike="noStrike">
                <a:solidFill>
                  <a:srgbClr val="E2E8F0"/>
                </a:solidFill>
                <a:latin typeface="Nunito"/>
                <a:ea typeface="Nunito"/>
                <a:cs typeface="Nunito"/>
                <a:sym typeface="Nunito"/>
              </a:rPr>
              <a:t> và </a:t>
            </a:r>
            <a:r>
              <a:rPr b="1" i="0" lang="en-US" sz="1350" u="none" cap="none" strike="noStrike">
                <a:solidFill>
                  <a:srgbClr val="BFDBFE"/>
                </a:solidFill>
                <a:latin typeface="Nunito"/>
                <a:ea typeface="Nunito"/>
                <a:cs typeface="Nunito"/>
                <a:sym typeface="Nunito"/>
              </a:rPr>
              <a:t>BMI</a:t>
            </a:r>
            <a:r>
              <a:rPr b="0" i="0" lang="en-US" sz="1350" u="none" cap="none" strike="noStrike">
                <a:solidFill>
                  <a:srgbClr val="E2E8F0"/>
                </a:solidFill>
                <a:latin typeface="Nunito"/>
                <a:ea typeface="Nunito"/>
                <a:cs typeface="Nunito"/>
                <a:sym typeface="Nunito"/>
              </a:rPr>
              <a:t>.</a:t>
            </a:r>
            <a:endParaRPr/>
          </a:p>
        </p:txBody>
      </p:sp>
      <p:pic>
        <p:nvPicPr>
          <p:cNvPr descr="image.png" id="324" name="Google Shape;324;p35"/>
          <p:cNvPicPr preferRelativeResize="0"/>
          <p:nvPr/>
        </p:nvPicPr>
        <p:blipFill rotWithShape="1">
          <a:blip r:embed="rId3">
            <a:alphaModFix/>
          </a:blip>
          <a:srcRect b="0" l="0" r="0" t="0"/>
          <a:stretch/>
        </p:blipFill>
        <p:spPr>
          <a:xfrm>
            <a:off x="195275" y="2364541"/>
            <a:ext cx="104775" cy="180975"/>
          </a:xfrm>
          <a:prstGeom prst="rect">
            <a:avLst/>
          </a:prstGeom>
          <a:noFill/>
          <a:ln>
            <a:noFill/>
          </a:ln>
        </p:spPr>
      </p:pic>
      <p:pic>
        <p:nvPicPr>
          <p:cNvPr descr="image.png" id="325" name="Google Shape;325;p35"/>
          <p:cNvPicPr preferRelativeResize="0"/>
          <p:nvPr/>
        </p:nvPicPr>
        <p:blipFill rotWithShape="1">
          <a:blip r:embed="rId3">
            <a:alphaModFix/>
          </a:blip>
          <a:srcRect b="0" l="0" r="0" t="0"/>
          <a:stretch/>
        </p:blipFill>
        <p:spPr>
          <a:xfrm>
            <a:off x="154850" y="3338503"/>
            <a:ext cx="104775" cy="180975"/>
          </a:xfrm>
          <a:prstGeom prst="rect">
            <a:avLst/>
          </a:prstGeom>
          <a:noFill/>
          <a:ln>
            <a:noFill/>
          </a:ln>
        </p:spPr>
      </p:pic>
      <p:pic>
        <p:nvPicPr>
          <p:cNvPr descr="image.png" id="326" name="Google Shape;326;p35"/>
          <p:cNvPicPr preferRelativeResize="0"/>
          <p:nvPr/>
        </p:nvPicPr>
        <p:blipFill rotWithShape="1">
          <a:blip r:embed="rId3">
            <a:alphaModFix/>
          </a:blip>
          <a:srcRect b="0" l="0" r="0" t="0"/>
          <a:stretch/>
        </p:blipFill>
        <p:spPr>
          <a:xfrm>
            <a:off x="195275" y="4312452"/>
            <a:ext cx="104775" cy="180975"/>
          </a:xfrm>
          <a:prstGeom prst="rect">
            <a:avLst/>
          </a:prstGeom>
          <a:noFill/>
          <a:ln>
            <a:noFill/>
          </a:ln>
        </p:spPr>
      </p:pic>
      <p:sp>
        <p:nvSpPr>
          <p:cNvPr id="327" name="Google Shape;327;p35"/>
          <p:cNvSpPr/>
          <p:nvPr/>
        </p:nvSpPr>
        <p:spPr>
          <a:xfrm>
            <a:off x="9334500" y="-17240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328" name="Google Shape;328;p35"/>
          <p:cNvSpPr/>
          <p:nvPr/>
        </p:nvSpPr>
        <p:spPr>
          <a:xfrm>
            <a:off x="-826600" y="500412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329" name="Google Shape;329;p35"/>
          <p:cNvSpPr/>
          <p:nvPr/>
        </p:nvSpPr>
        <p:spPr>
          <a:xfrm>
            <a:off x="1180900" y="601957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330" name="Google Shape;330;p35"/>
          <p:cNvSpPr/>
          <p:nvPr/>
        </p:nvSpPr>
        <p:spPr>
          <a:xfrm>
            <a:off x="7393725" y="-24545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pic>
        <p:nvPicPr>
          <p:cNvPr id="331" name="Google Shape;331;p35" title="03_Case1_Barplot_Means_ZScore.png"/>
          <p:cNvPicPr preferRelativeResize="0"/>
          <p:nvPr/>
        </p:nvPicPr>
        <p:blipFill>
          <a:blip r:embed="rId4">
            <a:alphaModFix/>
          </a:blip>
          <a:stretch>
            <a:fillRect/>
          </a:stretch>
        </p:blipFill>
        <p:spPr>
          <a:xfrm>
            <a:off x="5228950" y="1016350"/>
            <a:ext cx="6963052" cy="518457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6FF"/>
        </a:solidFill>
      </p:bgPr>
    </p:bg>
    <p:spTree>
      <p:nvGrpSpPr>
        <p:cNvPr id="335" name="Shape 335"/>
        <p:cNvGrpSpPr/>
        <p:nvPr/>
      </p:nvGrpSpPr>
      <p:grpSpPr>
        <a:xfrm>
          <a:off x="0" y="0"/>
          <a:ext cx="0" cy="0"/>
          <a:chOff x="0" y="0"/>
          <a:chExt cx="0" cy="0"/>
        </a:xfrm>
      </p:grpSpPr>
      <p:pic>
        <p:nvPicPr>
          <p:cNvPr descr="image.png" id="336" name="Google Shape;336;p36"/>
          <p:cNvPicPr preferRelativeResize="0"/>
          <p:nvPr/>
        </p:nvPicPr>
        <p:blipFill rotWithShape="1">
          <a:blip r:embed="rId3">
            <a:alphaModFix/>
          </a:blip>
          <a:srcRect b="0" l="0" r="0" t="0"/>
          <a:stretch/>
        </p:blipFill>
        <p:spPr>
          <a:xfrm>
            <a:off x="6286500" y="1171575"/>
            <a:ext cx="5334000" cy="5210175"/>
          </a:xfrm>
          <a:prstGeom prst="rect">
            <a:avLst/>
          </a:prstGeom>
          <a:noFill/>
          <a:ln>
            <a:noFill/>
          </a:ln>
        </p:spPr>
      </p:pic>
      <p:sp>
        <p:nvSpPr>
          <p:cNvPr id="337" name="Google Shape;337;p36"/>
          <p:cNvSpPr txBox="1"/>
          <p:nvPr/>
        </p:nvSpPr>
        <p:spPr>
          <a:xfrm>
            <a:off x="571500" y="476250"/>
            <a:ext cx="1160145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Phân tích nhóm Tuổi (Age)</a:t>
            </a:r>
            <a:endParaRPr/>
          </a:p>
        </p:txBody>
      </p:sp>
      <p:sp>
        <p:nvSpPr>
          <p:cNvPr id="338" name="Google Shape;338;p36"/>
          <p:cNvSpPr txBox="1"/>
          <p:nvPr/>
        </p:nvSpPr>
        <p:spPr>
          <a:xfrm>
            <a:off x="571500" y="2732782"/>
            <a:ext cx="5600700"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Độ tuổi và tỷ lệ mắc bệnh</a:t>
            </a:r>
            <a:endParaRPr/>
          </a:p>
        </p:txBody>
      </p:sp>
      <p:sp>
        <p:nvSpPr>
          <p:cNvPr id="339" name="Google Shape;339;p36"/>
          <p:cNvSpPr txBox="1"/>
          <p:nvPr/>
        </p:nvSpPr>
        <p:spPr>
          <a:xfrm>
            <a:off x="857250" y="3209032"/>
            <a:ext cx="5048400" cy="274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Dữ liệu lệch nhiều về nhóm người trẻ (&lt;30 tuổi).</a:t>
            </a:r>
            <a:endParaRPr/>
          </a:p>
        </p:txBody>
      </p:sp>
      <p:sp>
        <p:nvSpPr>
          <p:cNvPr id="340" name="Google Shape;340;p36"/>
          <p:cNvSpPr txBox="1"/>
          <p:nvPr/>
        </p:nvSpPr>
        <p:spPr>
          <a:xfrm>
            <a:off x="857250" y="3654772"/>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Tuy nhiên, tỷ lệ mắc bệnh tăng tuyến tính theo nhóm tuổi.</a:t>
            </a:r>
            <a:endParaRPr/>
          </a:p>
        </p:txBody>
      </p:sp>
      <p:sp>
        <p:nvSpPr>
          <p:cNvPr id="341" name="Google Shape;341;p36"/>
          <p:cNvSpPr txBox="1"/>
          <p:nvPr/>
        </p:nvSpPr>
        <p:spPr>
          <a:xfrm>
            <a:off x="857250" y="4100512"/>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Sự bùng nổ diễn ra đặc biệt sau </a:t>
            </a:r>
            <a:r>
              <a:rPr b="1" i="0" lang="en-US" sz="1350" u="none" cap="none" strike="noStrike">
                <a:solidFill>
                  <a:srgbClr val="E11D48"/>
                </a:solidFill>
                <a:latin typeface="Nunito"/>
                <a:ea typeface="Nunito"/>
                <a:cs typeface="Nunito"/>
                <a:sym typeface="Nunito"/>
              </a:rPr>
              <a:t>ngưỡng 40 tuổi</a:t>
            </a:r>
            <a:r>
              <a:rPr b="0" i="0" lang="en-US" sz="1350" u="none" cap="none" strike="noStrike">
                <a:solidFill>
                  <a:srgbClr val="334155"/>
                </a:solidFill>
                <a:latin typeface="Nunito"/>
                <a:ea typeface="Nunito"/>
                <a:cs typeface="Nunito"/>
                <a:sym typeface="Nunito"/>
              </a:rPr>
              <a:t> do sự suy giảm chức năng nội tiết tự nhiên.</a:t>
            </a:r>
            <a:endParaRPr/>
          </a:p>
        </p:txBody>
      </p:sp>
      <p:pic>
        <p:nvPicPr>
          <p:cNvPr descr="image.png" id="342" name="Google Shape;342;p36"/>
          <p:cNvPicPr preferRelativeResize="0"/>
          <p:nvPr/>
        </p:nvPicPr>
        <p:blipFill rotWithShape="1">
          <a:blip r:embed="rId4">
            <a:alphaModFix/>
          </a:blip>
          <a:srcRect b="0" l="0" r="0" t="0"/>
          <a:stretch/>
        </p:blipFill>
        <p:spPr>
          <a:xfrm>
            <a:off x="571500" y="3228082"/>
            <a:ext cx="104775" cy="180975"/>
          </a:xfrm>
          <a:prstGeom prst="rect">
            <a:avLst/>
          </a:prstGeom>
          <a:noFill/>
          <a:ln>
            <a:noFill/>
          </a:ln>
        </p:spPr>
      </p:pic>
      <p:pic>
        <p:nvPicPr>
          <p:cNvPr descr="image.png" id="343" name="Google Shape;343;p36"/>
          <p:cNvPicPr preferRelativeResize="0"/>
          <p:nvPr/>
        </p:nvPicPr>
        <p:blipFill rotWithShape="1">
          <a:blip r:embed="rId4">
            <a:alphaModFix/>
          </a:blip>
          <a:srcRect b="0" l="0" r="0" t="0"/>
          <a:stretch/>
        </p:blipFill>
        <p:spPr>
          <a:xfrm>
            <a:off x="571500" y="3673822"/>
            <a:ext cx="104775" cy="180975"/>
          </a:xfrm>
          <a:prstGeom prst="rect">
            <a:avLst/>
          </a:prstGeom>
          <a:noFill/>
          <a:ln>
            <a:noFill/>
          </a:ln>
        </p:spPr>
      </p:pic>
      <p:pic>
        <p:nvPicPr>
          <p:cNvPr descr="image.png" id="344" name="Google Shape;344;p36"/>
          <p:cNvPicPr preferRelativeResize="0"/>
          <p:nvPr/>
        </p:nvPicPr>
        <p:blipFill rotWithShape="1">
          <a:blip r:embed="rId4">
            <a:alphaModFix/>
          </a:blip>
          <a:srcRect b="0" l="0" r="0" t="0"/>
          <a:stretch/>
        </p:blipFill>
        <p:spPr>
          <a:xfrm>
            <a:off x="571500" y="4119562"/>
            <a:ext cx="104775" cy="180975"/>
          </a:xfrm>
          <a:prstGeom prst="rect">
            <a:avLst/>
          </a:prstGeom>
          <a:noFill/>
          <a:ln>
            <a:noFill/>
          </a:ln>
        </p:spPr>
      </p:pic>
      <p:pic>
        <p:nvPicPr>
          <p:cNvPr id="345" name="Google Shape;345;p36" title="04_Case2_Age_DiseaseRate_Barplot.png"/>
          <p:cNvPicPr preferRelativeResize="0"/>
          <p:nvPr/>
        </p:nvPicPr>
        <p:blipFill>
          <a:blip r:embed="rId5">
            <a:alphaModFix/>
          </a:blip>
          <a:stretch>
            <a:fillRect/>
          </a:stretch>
        </p:blipFill>
        <p:spPr>
          <a:xfrm>
            <a:off x="5810250" y="1186826"/>
            <a:ext cx="6286500" cy="5210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pic>
        <p:nvPicPr>
          <p:cNvPr id="350" name="Google Shape;350;p37" title="38_Bonus_Combo_Scatter_SkinThickness_vs_Age.png"/>
          <p:cNvPicPr preferRelativeResize="0"/>
          <p:nvPr/>
        </p:nvPicPr>
        <p:blipFill>
          <a:blip r:embed="rId3">
            <a:alphaModFix/>
          </a:blip>
          <a:stretch>
            <a:fillRect/>
          </a:stretch>
        </p:blipFill>
        <p:spPr>
          <a:xfrm>
            <a:off x="618850" y="1498651"/>
            <a:ext cx="5333999" cy="4792674"/>
          </a:xfrm>
          <a:prstGeom prst="rect">
            <a:avLst/>
          </a:prstGeom>
          <a:noFill/>
          <a:ln cap="flat" cmpd="sng" w="19050">
            <a:solidFill>
              <a:schemeClr val="dk2"/>
            </a:solidFill>
            <a:prstDash val="solid"/>
            <a:round/>
            <a:headEnd len="sm" w="sm" type="none"/>
            <a:tailEnd len="sm" w="sm" type="none"/>
          </a:ln>
        </p:spPr>
      </p:pic>
      <p:pic>
        <p:nvPicPr>
          <p:cNvPr descr="image.png" id="351" name="Google Shape;351;p37"/>
          <p:cNvPicPr preferRelativeResize="0"/>
          <p:nvPr/>
        </p:nvPicPr>
        <p:blipFill rotWithShape="1">
          <a:blip r:embed="rId4">
            <a:alphaModFix/>
          </a:blip>
          <a:srcRect b="0" l="0" r="0" t="0"/>
          <a:stretch/>
        </p:blipFill>
        <p:spPr>
          <a:xfrm>
            <a:off x="6286500" y="1171575"/>
            <a:ext cx="5334000" cy="5210175"/>
          </a:xfrm>
          <a:prstGeom prst="rect">
            <a:avLst/>
          </a:prstGeom>
          <a:noFill/>
          <a:ln>
            <a:noFill/>
          </a:ln>
        </p:spPr>
      </p:pic>
      <p:sp>
        <p:nvSpPr>
          <p:cNvPr id="352" name="Google Shape;352;p37"/>
          <p:cNvSpPr txBox="1"/>
          <p:nvPr/>
        </p:nvSpPr>
        <p:spPr>
          <a:xfrm>
            <a:off x="571500" y="476250"/>
            <a:ext cx="1160145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Hiệu suất Mô hình Cơ sở (Baseline Models)</a:t>
            </a:r>
            <a:endParaRPr/>
          </a:p>
        </p:txBody>
      </p:sp>
      <p:sp>
        <p:nvSpPr>
          <p:cNvPr id="353" name="Google Shape;353;p37"/>
          <p:cNvSpPr txBox="1"/>
          <p:nvPr/>
        </p:nvSpPr>
        <p:spPr>
          <a:xfrm>
            <a:off x="6377750" y="1856266"/>
            <a:ext cx="560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2563EB"/>
                </a:solidFill>
                <a:latin typeface="Playfair Display"/>
                <a:ea typeface="Playfair Display"/>
                <a:cs typeface="Playfair Display"/>
                <a:sym typeface="Playfair Display"/>
              </a:rPr>
              <a:t>Phân tích Phân bố: SkinThickness và Age</a:t>
            </a:r>
            <a:endParaRPr/>
          </a:p>
        </p:txBody>
      </p:sp>
      <p:sp>
        <p:nvSpPr>
          <p:cNvPr id="354" name="Google Shape;354;p37"/>
          <p:cNvSpPr txBox="1"/>
          <p:nvPr/>
        </p:nvSpPr>
        <p:spPr>
          <a:xfrm>
            <a:off x="6663500" y="2332516"/>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Dữ liệu đã được chuẩn hóa (Standardized):</a:t>
            </a:r>
            <a:r>
              <a:rPr lang="en-US" sz="1100">
                <a:solidFill>
                  <a:schemeClr val="dk1"/>
                </a:solidFill>
                <a:latin typeface="Nunito"/>
                <a:ea typeface="Nunito"/>
                <a:cs typeface="Nunito"/>
                <a:sym typeface="Nunito"/>
              </a:rPr>
              <a:t> Các giá trị trên trục SkinThickness và Age phần lớn tập trung quanh mức 0, cho thấy dữ liệu đã được scale để loại bỏ sự chênh lệch về đơn vị đo lường.</a:t>
            </a:r>
            <a:endParaRPr>
              <a:solidFill>
                <a:schemeClr val="dk1"/>
              </a:solidFill>
              <a:latin typeface="Nunito"/>
              <a:ea typeface="Nunito"/>
              <a:cs typeface="Nunito"/>
              <a:sym typeface="Nunito"/>
            </a:endParaRPr>
          </a:p>
        </p:txBody>
      </p:sp>
      <p:sp>
        <p:nvSpPr>
          <p:cNvPr id="355" name="Google Shape;355;p37"/>
          <p:cNvSpPr txBox="1"/>
          <p:nvPr/>
        </p:nvSpPr>
        <p:spPr>
          <a:xfrm>
            <a:off x="6663500" y="3323922"/>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Sự chồng chéo dữ liệu lớn:</a:t>
            </a:r>
            <a:r>
              <a:rPr lang="en-US" sz="1100">
                <a:solidFill>
                  <a:schemeClr val="dk1"/>
                </a:solidFill>
                <a:latin typeface="Nunito"/>
                <a:ea typeface="Nunito"/>
                <a:cs typeface="Nunito"/>
                <a:sym typeface="Nunito"/>
              </a:rPr>
              <a:t> Có thể thấy sự pha trộn rất dày đặc giữa hai nhóm Outcome (0 - màu xanh và 1 - màu cam) ở khu vực trung tâm. Điều này cho thấy nếu chỉ dùng 2 đặc trưng này, các mô hình tuyến tính sẽ rất khó phân tách rạch ròi 2 lớp.</a:t>
            </a:r>
            <a:endParaRPr>
              <a:solidFill>
                <a:schemeClr val="dk1"/>
              </a:solidFill>
              <a:latin typeface="Nunito"/>
              <a:ea typeface="Nunito"/>
              <a:cs typeface="Nunito"/>
              <a:sym typeface="Nunito"/>
            </a:endParaRPr>
          </a:p>
        </p:txBody>
      </p:sp>
      <p:sp>
        <p:nvSpPr>
          <p:cNvPr id="356" name="Google Shape;356;p37"/>
          <p:cNvSpPr txBox="1"/>
          <p:nvPr/>
        </p:nvSpPr>
        <p:spPr>
          <a:xfrm>
            <a:off x="6653900" y="4463302"/>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Xu hướng phân tán:</a:t>
            </a:r>
            <a:r>
              <a:rPr lang="en-US" sz="1100">
                <a:solidFill>
                  <a:schemeClr val="dk1"/>
                </a:solidFill>
                <a:latin typeface="Nunito"/>
                <a:ea typeface="Nunito"/>
                <a:cs typeface="Nunito"/>
                <a:sym typeface="Nunito"/>
              </a:rPr>
              <a:t> Mặc dù chồng chéo, nhóm Outcome = 1 (mang nhãn dương tính/có bệnh) có xu hướng rải rác và xuất hiện nhiều hơn ở các vùng có giá trị Age và SkinThickness cao (góc trên bên phải) so với nhóm Outcome = 0.</a:t>
            </a:r>
            <a:endParaRPr>
              <a:solidFill>
                <a:schemeClr val="dk1"/>
              </a:solidFill>
              <a:latin typeface="Nunito"/>
              <a:ea typeface="Nunito"/>
              <a:cs typeface="Nunito"/>
              <a:sym typeface="Nunito"/>
            </a:endParaRPr>
          </a:p>
        </p:txBody>
      </p:sp>
      <p:pic>
        <p:nvPicPr>
          <p:cNvPr descr="image.png" id="357" name="Google Shape;357;p37"/>
          <p:cNvPicPr preferRelativeResize="0"/>
          <p:nvPr/>
        </p:nvPicPr>
        <p:blipFill rotWithShape="1">
          <a:blip r:embed="rId5">
            <a:alphaModFix/>
          </a:blip>
          <a:srcRect b="0" l="0" r="0" t="0"/>
          <a:stretch/>
        </p:blipFill>
        <p:spPr>
          <a:xfrm>
            <a:off x="6377750" y="2351566"/>
            <a:ext cx="104775" cy="180975"/>
          </a:xfrm>
          <a:prstGeom prst="rect">
            <a:avLst/>
          </a:prstGeom>
          <a:noFill/>
          <a:ln>
            <a:noFill/>
          </a:ln>
        </p:spPr>
      </p:pic>
      <p:pic>
        <p:nvPicPr>
          <p:cNvPr descr="image.png" id="358" name="Google Shape;358;p37"/>
          <p:cNvPicPr preferRelativeResize="0"/>
          <p:nvPr/>
        </p:nvPicPr>
        <p:blipFill rotWithShape="1">
          <a:blip r:embed="rId5">
            <a:alphaModFix/>
          </a:blip>
          <a:srcRect b="0" l="0" r="0" t="0"/>
          <a:stretch/>
        </p:blipFill>
        <p:spPr>
          <a:xfrm>
            <a:off x="6377750" y="3323922"/>
            <a:ext cx="104775" cy="180975"/>
          </a:xfrm>
          <a:prstGeom prst="rect">
            <a:avLst/>
          </a:prstGeom>
          <a:noFill/>
          <a:ln>
            <a:noFill/>
          </a:ln>
        </p:spPr>
      </p:pic>
      <p:pic>
        <p:nvPicPr>
          <p:cNvPr descr="image.png" id="359" name="Google Shape;359;p37"/>
          <p:cNvPicPr preferRelativeResize="0"/>
          <p:nvPr/>
        </p:nvPicPr>
        <p:blipFill rotWithShape="1">
          <a:blip r:embed="rId5">
            <a:alphaModFix/>
          </a:blip>
          <a:srcRect b="0" l="0" r="0" t="0"/>
          <a:stretch/>
        </p:blipFill>
        <p:spPr>
          <a:xfrm>
            <a:off x="6377750" y="4463302"/>
            <a:ext cx="104775" cy="180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3" name="Shape 363"/>
        <p:cNvGrpSpPr/>
        <p:nvPr/>
      </p:nvGrpSpPr>
      <p:grpSpPr>
        <a:xfrm>
          <a:off x="0" y="0"/>
          <a:ext cx="0" cy="0"/>
          <a:chOff x="0" y="0"/>
          <a:chExt cx="0" cy="0"/>
        </a:xfrm>
      </p:grpSpPr>
      <p:sp>
        <p:nvSpPr>
          <p:cNvPr id="364" name="Google Shape;364;p38"/>
          <p:cNvSpPr txBox="1"/>
          <p:nvPr/>
        </p:nvSpPr>
        <p:spPr>
          <a:xfrm>
            <a:off x="571500" y="476250"/>
            <a:ext cx="540067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Glucose: Chỉ báo rủi ro theo Tuổi</a:t>
            </a:r>
            <a:endParaRPr/>
          </a:p>
        </p:txBody>
      </p:sp>
      <p:sp>
        <p:nvSpPr>
          <p:cNvPr id="365" name="Google Shape;365;p38"/>
          <p:cNvSpPr txBox="1"/>
          <p:nvPr/>
        </p:nvSpPr>
        <p:spPr>
          <a:xfrm>
            <a:off x="571500" y="3047107"/>
            <a:ext cx="5400675"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Mức đường huyết tăng theo tuổi</a:t>
            </a:r>
            <a:endParaRPr/>
          </a:p>
        </p:txBody>
      </p:sp>
      <p:sp>
        <p:nvSpPr>
          <p:cNvPr id="366" name="Google Shape;366;p38"/>
          <p:cNvSpPr txBox="1"/>
          <p:nvPr/>
        </p:nvSpPr>
        <p:spPr>
          <a:xfrm>
            <a:off x="857250" y="3523357"/>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Glucose có xu hướng tăng rõ rệt và phân tán mạnh sau độ tuổi 40.</a:t>
            </a:r>
            <a:endParaRPr/>
          </a:p>
        </p:txBody>
      </p:sp>
      <p:sp>
        <p:nvSpPr>
          <p:cNvPr id="367" name="Google Shape;367;p38"/>
          <p:cNvSpPr txBox="1"/>
          <p:nvPr/>
        </p:nvSpPr>
        <p:spPr>
          <a:xfrm>
            <a:off x="857250" y="4243387"/>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Đây là ngưỡng cần tầm soát tích cực do hiện tượng kháng insulin gia tăng thuận chiều với tuổi tác.</a:t>
            </a:r>
            <a:endParaRPr/>
          </a:p>
        </p:txBody>
      </p:sp>
      <p:pic>
        <p:nvPicPr>
          <p:cNvPr descr="image.png" id="368" name="Google Shape;368;p38"/>
          <p:cNvPicPr preferRelativeResize="0"/>
          <p:nvPr/>
        </p:nvPicPr>
        <p:blipFill rotWithShape="1">
          <a:blip r:embed="rId3">
            <a:alphaModFix/>
          </a:blip>
          <a:srcRect b="0" l="0" r="0" t="0"/>
          <a:stretch/>
        </p:blipFill>
        <p:spPr>
          <a:xfrm>
            <a:off x="571500" y="3542407"/>
            <a:ext cx="104775" cy="180975"/>
          </a:xfrm>
          <a:prstGeom prst="rect">
            <a:avLst/>
          </a:prstGeom>
          <a:noFill/>
          <a:ln>
            <a:noFill/>
          </a:ln>
        </p:spPr>
      </p:pic>
      <p:pic>
        <p:nvPicPr>
          <p:cNvPr descr="image.png" id="369" name="Google Shape;369;p38"/>
          <p:cNvPicPr preferRelativeResize="0"/>
          <p:nvPr/>
        </p:nvPicPr>
        <p:blipFill rotWithShape="1">
          <a:blip r:embed="rId3">
            <a:alphaModFix/>
          </a:blip>
          <a:srcRect b="0" l="0" r="0" t="0"/>
          <a:stretch/>
        </p:blipFill>
        <p:spPr>
          <a:xfrm>
            <a:off x="571500" y="4262437"/>
            <a:ext cx="104775" cy="180975"/>
          </a:xfrm>
          <a:prstGeom prst="rect">
            <a:avLst/>
          </a:prstGeom>
          <a:noFill/>
          <a:ln>
            <a:noFill/>
          </a:ln>
        </p:spPr>
      </p:pic>
      <p:sp>
        <p:nvSpPr>
          <p:cNvPr id="370" name="Google Shape;370;p38"/>
          <p:cNvSpPr/>
          <p:nvPr/>
        </p:nvSpPr>
        <p:spPr>
          <a:xfrm rot="-2700000">
            <a:off x="11242005" y="267888"/>
            <a:ext cx="2879904" cy="1484500"/>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1" name="Google Shape;371;p38"/>
          <p:cNvSpPr/>
          <p:nvPr/>
        </p:nvSpPr>
        <p:spPr>
          <a:xfrm rot="-3967268">
            <a:off x="9621193" y="-842887"/>
            <a:ext cx="2879911" cy="1484549"/>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2" name="Google Shape;372;p38"/>
          <p:cNvSpPr/>
          <p:nvPr/>
        </p:nvSpPr>
        <p:spPr>
          <a:xfrm rot="-4213375">
            <a:off x="8210126" y="-1412897"/>
            <a:ext cx="2879759" cy="1484619"/>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3" name="Google Shape;373;p38"/>
          <p:cNvSpPr/>
          <p:nvPr/>
        </p:nvSpPr>
        <p:spPr>
          <a:xfrm rot="-4480515">
            <a:off x="6690060" y="-1893856"/>
            <a:ext cx="2879796" cy="1484694"/>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4" name="Google Shape;374;p38"/>
          <p:cNvSpPr/>
          <p:nvPr/>
        </p:nvSpPr>
        <p:spPr>
          <a:xfrm rot="522701">
            <a:off x="8475332" y="-953747"/>
            <a:ext cx="2879926" cy="1484747"/>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5" name="Google Shape;375;p38"/>
          <p:cNvSpPr/>
          <p:nvPr/>
        </p:nvSpPr>
        <p:spPr>
          <a:xfrm rot="-2979342">
            <a:off x="10549271" y="-520802"/>
            <a:ext cx="2880074" cy="1484730"/>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6" name="Google Shape;376;p38"/>
          <p:cNvSpPr/>
          <p:nvPr/>
        </p:nvSpPr>
        <p:spPr>
          <a:xfrm rot="-4480515">
            <a:off x="5259085" y="-2285731"/>
            <a:ext cx="2879796" cy="1484694"/>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7" name="Google Shape;377;p38"/>
          <p:cNvSpPr/>
          <p:nvPr/>
        </p:nvSpPr>
        <p:spPr>
          <a:xfrm rot="-2558920">
            <a:off x="11522946" y="588490"/>
            <a:ext cx="2879996" cy="1484485"/>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8" name="Google Shape;378;p38"/>
          <p:cNvSpPr/>
          <p:nvPr/>
        </p:nvSpPr>
        <p:spPr>
          <a:xfrm rot="-4213375">
            <a:off x="8412026" y="-1319872"/>
            <a:ext cx="2879759" cy="1484619"/>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9" name="Google Shape;379;p38"/>
          <p:cNvSpPr/>
          <p:nvPr/>
        </p:nvSpPr>
        <p:spPr>
          <a:xfrm rot="-4480515">
            <a:off x="6931535" y="-1790931"/>
            <a:ext cx="2879796" cy="1484694"/>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0" name="Google Shape;380;p38"/>
          <p:cNvSpPr/>
          <p:nvPr/>
        </p:nvSpPr>
        <p:spPr>
          <a:xfrm rot="-3570179">
            <a:off x="10549284" y="-331171"/>
            <a:ext cx="2880037" cy="1485088"/>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1" name="Google Shape;381;p38"/>
          <p:cNvSpPr/>
          <p:nvPr/>
        </p:nvSpPr>
        <p:spPr>
          <a:xfrm rot="-4480515">
            <a:off x="5552585" y="-2163031"/>
            <a:ext cx="2879796" cy="1484694"/>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2" name="Google Shape;382;p38"/>
          <p:cNvSpPr/>
          <p:nvPr/>
        </p:nvSpPr>
        <p:spPr>
          <a:xfrm rot="6832732">
            <a:off x="-2596689" y="6048192"/>
            <a:ext cx="2879911" cy="1484549"/>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3" name="Google Shape;383;p38"/>
          <p:cNvSpPr/>
          <p:nvPr/>
        </p:nvSpPr>
        <p:spPr>
          <a:xfrm rot="6586625">
            <a:off x="-1185470" y="6618133"/>
            <a:ext cx="2879759" cy="1484619"/>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4" name="Google Shape;384;p38"/>
          <p:cNvSpPr/>
          <p:nvPr/>
        </p:nvSpPr>
        <p:spPr>
          <a:xfrm rot="6319485">
            <a:off x="334560" y="7099016"/>
            <a:ext cx="2879796" cy="1484694"/>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5" name="Google Shape;385;p38"/>
          <p:cNvSpPr/>
          <p:nvPr/>
        </p:nvSpPr>
        <p:spPr>
          <a:xfrm rot="-10277299">
            <a:off x="-1450842" y="6158854"/>
            <a:ext cx="2879926" cy="1484747"/>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6" name="Google Shape;386;p38"/>
          <p:cNvSpPr/>
          <p:nvPr/>
        </p:nvSpPr>
        <p:spPr>
          <a:xfrm rot="7978432">
            <a:off x="-3524855" y="5725864"/>
            <a:ext cx="2880008" cy="1484788"/>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7" name="Google Shape;387;p38"/>
          <p:cNvSpPr/>
          <p:nvPr/>
        </p:nvSpPr>
        <p:spPr>
          <a:xfrm rot="6319485">
            <a:off x="1765535" y="7490891"/>
            <a:ext cx="2879796" cy="1484694"/>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8" name="Google Shape;388;p38"/>
          <p:cNvSpPr/>
          <p:nvPr/>
        </p:nvSpPr>
        <p:spPr>
          <a:xfrm rot="8100000">
            <a:off x="-4369894" y="4785066"/>
            <a:ext cx="2879904" cy="1484500"/>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9" name="Google Shape;389;p38"/>
          <p:cNvSpPr/>
          <p:nvPr/>
        </p:nvSpPr>
        <p:spPr>
          <a:xfrm rot="6586625">
            <a:off x="-1337870" y="6465733"/>
            <a:ext cx="2879759" cy="1484619"/>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0" name="Google Shape;390;p38"/>
          <p:cNvSpPr/>
          <p:nvPr/>
        </p:nvSpPr>
        <p:spPr>
          <a:xfrm rot="6319485">
            <a:off x="182160" y="6946616"/>
            <a:ext cx="2879796" cy="1484694"/>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1" name="Google Shape;391;p38"/>
          <p:cNvSpPr/>
          <p:nvPr/>
        </p:nvSpPr>
        <p:spPr>
          <a:xfrm rot="7978432">
            <a:off x="-3677255" y="5573464"/>
            <a:ext cx="2880008" cy="1484788"/>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2" name="Google Shape;392;p38"/>
          <p:cNvSpPr/>
          <p:nvPr/>
        </p:nvSpPr>
        <p:spPr>
          <a:xfrm rot="6319485">
            <a:off x="1613135" y="7338491"/>
            <a:ext cx="2879796" cy="1484694"/>
          </a:xfrm>
          <a:prstGeom prst="rect">
            <a:avLst/>
          </a:prstGeom>
          <a:solidFill>
            <a:srgbClr val="1E3A8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93" name="Google Shape;393;p38" title="06_Case2_Age_Glucose_Lineplot.png"/>
          <p:cNvPicPr preferRelativeResize="0"/>
          <p:nvPr/>
        </p:nvPicPr>
        <p:blipFill>
          <a:blip r:embed="rId4">
            <a:alphaModFix/>
          </a:blip>
          <a:stretch>
            <a:fillRect/>
          </a:stretch>
        </p:blipFill>
        <p:spPr>
          <a:xfrm>
            <a:off x="5895975" y="1622950"/>
            <a:ext cx="6096000" cy="41761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p39"/>
          <p:cNvSpPr txBox="1"/>
          <p:nvPr/>
        </p:nvSpPr>
        <p:spPr>
          <a:xfrm>
            <a:off x="571500" y="47625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Hiệu suất Mô hình Cơ sở (Baseline Models)</a:t>
            </a:r>
            <a:endParaRPr/>
          </a:p>
        </p:txBody>
      </p:sp>
      <p:sp>
        <p:nvSpPr>
          <p:cNvPr id="399" name="Google Shape;399;p39"/>
          <p:cNvSpPr txBox="1"/>
          <p:nvPr/>
        </p:nvSpPr>
        <p:spPr>
          <a:xfrm>
            <a:off x="571500" y="2458491"/>
            <a:ext cx="560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2563EB"/>
                </a:solidFill>
                <a:latin typeface="Playfair Display"/>
                <a:ea typeface="Playfair Display"/>
                <a:cs typeface="Playfair Display"/>
                <a:sym typeface="Playfair Display"/>
              </a:rPr>
              <a:t>Phân tích Phân bố: Insulin và Age</a:t>
            </a:r>
            <a:endParaRPr/>
          </a:p>
        </p:txBody>
      </p:sp>
      <p:sp>
        <p:nvSpPr>
          <p:cNvPr id="400" name="Google Shape;400;p39"/>
          <p:cNvSpPr txBox="1"/>
          <p:nvPr/>
        </p:nvSpPr>
        <p:spPr>
          <a:xfrm>
            <a:off x="857250" y="2934741"/>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Mức độ chồng chéo cao:</a:t>
            </a:r>
            <a:r>
              <a:rPr lang="en-US" sz="1100">
                <a:solidFill>
                  <a:schemeClr val="dk1"/>
                </a:solidFill>
              </a:rPr>
              <a:t> Tương tự như SkinThickness, sự pha trộn giữa hai lớp </a:t>
            </a:r>
            <a:r>
              <a:rPr lang="en-US" sz="1100">
                <a:solidFill>
                  <a:schemeClr val="dk1"/>
                </a:solidFill>
                <a:latin typeface="Roboto Mono"/>
                <a:ea typeface="Roboto Mono"/>
                <a:cs typeface="Roboto Mono"/>
                <a:sym typeface="Roboto Mono"/>
              </a:rPr>
              <a:t>Outcome 0</a:t>
            </a:r>
            <a:r>
              <a:rPr lang="en-US" sz="1100">
                <a:solidFill>
                  <a:schemeClr val="dk1"/>
                </a:solidFill>
              </a:rPr>
              <a:t> (xanh) và </a:t>
            </a:r>
            <a:r>
              <a:rPr lang="en-US" sz="1100">
                <a:solidFill>
                  <a:schemeClr val="dk1"/>
                </a:solidFill>
                <a:latin typeface="Roboto Mono"/>
                <a:ea typeface="Roboto Mono"/>
                <a:cs typeface="Roboto Mono"/>
                <a:sym typeface="Roboto Mono"/>
              </a:rPr>
              <a:t>Outcome 1</a:t>
            </a:r>
            <a:r>
              <a:rPr lang="en-US" sz="1100">
                <a:solidFill>
                  <a:schemeClr val="dk1"/>
                </a:solidFill>
              </a:rPr>
              <a:t> (cam) ở cụm trung tâm là rất lớn, cho thấy ranh giới quyết định (decision boundary) phi tuyến tính sẽ cần thiết nếu chỉ dùng 2 features này.</a:t>
            </a:r>
            <a:endParaRPr>
              <a:solidFill>
                <a:schemeClr val="dk1"/>
              </a:solidFill>
            </a:endParaRPr>
          </a:p>
        </p:txBody>
      </p:sp>
      <p:sp>
        <p:nvSpPr>
          <p:cNvPr id="401" name="Google Shape;401;p39"/>
          <p:cNvSpPr txBox="1"/>
          <p:nvPr/>
        </p:nvSpPr>
        <p:spPr>
          <a:xfrm>
            <a:off x="857250" y="4374802"/>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Xu hướng của nhóm Positive (Outcome = 1):</a:t>
            </a:r>
            <a:r>
              <a:rPr lang="en-US" sz="1100">
                <a:solidFill>
                  <a:schemeClr val="dk1"/>
                </a:solidFill>
              </a:rPr>
              <a:t> Các điểm dữ liệu mang nhãn 1 (có bệnh) có xu hướng phân tán rộng hơn và chiếm ưu thế khi giá trị </a:t>
            </a:r>
            <a:r>
              <a:rPr lang="en-US" sz="1100">
                <a:solidFill>
                  <a:schemeClr val="dk1"/>
                </a:solidFill>
                <a:latin typeface="Roboto Mono"/>
                <a:ea typeface="Roboto Mono"/>
                <a:cs typeface="Roboto Mono"/>
                <a:sym typeface="Roboto Mono"/>
              </a:rPr>
              <a:t>Insulin</a:t>
            </a:r>
            <a:r>
              <a:rPr lang="en-US" sz="1100">
                <a:solidFill>
                  <a:schemeClr val="dk1"/>
                </a:solidFill>
              </a:rPr>
              <a:t> tăng đột biến (những điểm outliers nằm xa về phía bên phải của trục hoành).</a:t>
            </a:r>
            <a:endParaRPr>
              <a:solidFill>
                <a:schemeClr val="dk1"/>
              </a:solidFill>
            </a:endParaRPr>
          </a:p>
        </p:txBody>
      </p:sp>
      <p:pic>
        <p:nvPicPr>
          <p:cNvPr descr="image.png" id="402" name="Google Shape;402;p39"/>
          <p:cNvPicPr preferRelativeResize="0"/>
          <p:nvPr/>
        </p:nvPicPr>
        <p:blipFill rotWithShape="1">
          <a:blip r:embed="rId3">
            <a:alphaModFix/>
          </a:blip>
          <a:srcRect b="0" l="0" r="0" t="0"/>
          <a:stretch/>
        </p:blipFill>
        <p:spPr>
          <a:xfrm>
            <a:off x="571500" y="2953791"/>
            <a:ext cx="104775" cy="180975"/>
          </a:xfrm>
          <a:prstGeom prst="rect">
            <a:avLst/>
          </a:prstGeom>
          <a:noFill/>
          <a:ln>
            <a:noFill/>
          </a:ln>
        </p:spPr>
      </p:pic>
      <p:pic>
        <p:nvPicPr>
          <p:cNvPr descr="image.png" id="403" name="Google Shape;403;p39"/>
          <p:cNvPicPr preferRelativeResize="0"/>
          <p:nvPr/>
        </p:nvPicPr>
        <p:blipFill rotWithShape="1">
          <a:blip r:embed="rId3">
            <a:alphaModFix/>
          </a:blip>
          <a:srcRect b="0" l="0" r="0" t="0"/>
          <a:stretch/>
        </p:blipFill>
        <p:spPr>
          <a:xfrm>
            <a:off x="571500" y="4393852"/>
            <a:ext cx="104775" cy="180975"/>
          </a:xfrm>
          <a:prstGeom prst="rect">
            <a:avLst/>
          </a:prstGeom>
          <a:noFill/>
          <a:ln>
            <a:noFill/>
          </a:ln>
        </p:spPr>
      </p:pic>
      <p:pic>
        <p:nvPicPr>
          <p:cNvPr id="404" name="Google Shape;404;p39" title="41_Bonus_Combo_Scatter_Insulin_vs_Age.png"/>
          <p:cNvPicPr preferRelativeResize="0"/>
          <p:nvPr/>
        </p:nvPicPr>
        <p:blipFill>
          <a:blip r:embed="rId4">
            <a:alphaModFix/>
          </a:blip>
          <a:stretch>
            <a:fillRect/>
          </a:stretch>
        </p:blipFill>
        <p:spPr>
          <a:xfrm>
            <a:off x="6547000" y="1659109"/>
            <a:ext cx="5098023" cy="4210398"/>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408" name="Shape 408"/>
        <p:cNvGrpSpPr/>
        <p:nvPr/>
      </p:nvGrpSpPr>
      <p:grpSpPr>
        <a:xfrm>
          <a:off x="0" y="0"/>
          <a:ext cx="0" cy="0"/>
          <a:chOff x="0" y="0"/>
          <a:chExt cx="0" cy="0"/>
        </a:xfrm>
      </p:grpSpPr>
      <p:sp>
        <p:nvSpPr>
          <p:cNvPr id="409" name="Google Shape;409;p40"/>
          <p:cNvSpPr txBox="1"/>
          <p:nvPr/>
        </p:nvSpPr>
        <p:spPr>
          <a:xfrm>
            <a:off x="521950" y="456475"/>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chemeClr val="lt1"/>
                </a:solidFill>
                <a:latin typeface="Playfair Display"/>
                <a:ea typeface="Playfair Display"/>
                <a:cs typeface="Playfair Display"/>
                <a:sym typeface="Playfair Display"/>
              </a:rPr>
              <a:t>Sự biến thiên sinh lý theo Tuổi thọ</a:t>
            </a:r>
            <a:endParaRPr>
              <a:solidFill>
                <a:schemeClr val="lt1"/>
              </a:solidFill>
            </a:endParaRPr>
          </a:p>
        </p:txBody>
      </p:sp>
      <p:sp>
        <p:nvSpPr>
          <p:cNvPr id="410" name="Google Shape;410;p40"/>
          <p:cNvSpPr txBox="1"/>
          <p:nvPr/>
        </p:nvSpPr>
        <p:spPr>
          <a:xfrm>
            <a:off x="571500" y="1171575"/>
            <a:ext cx="11601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chemeClr val="lt1"/>
                </a:solidFill>
                <a:latin typeface="Playfair Display"/>
                <a:ea typeface="Playfair Display"/>
                <a:cs typeface="Playfair Display"/>
                <a:sym typeface="Playfair Display"/>
              </a:rPr>
              <a:t>Tác động của tuổi lên BMI và Huyết áp</a:t>
            </a:r>
            <a:endParaRPr>
              <a:solidFill>
                <a:schemeClr val="lt1"/>
              </a:solidFill>
            </a:endParaRPr>
          </a:p>
        </p:txBody>
      </p:sp>
      <p:sp>
        <p:nvSpPr>
          <p:cNvPr id="411" name="Google Shape;411;p40"/>
          <p:cNvSpPr txBox="1"/>
          <p:nvPr/>
        </p:nvSpPr>
        <p:spPr>
          <a:xfrm>
            <a:off x="857250" y="1647825"/>
            <a:ext cx="48960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chemeClr val="lt1"/>
                </a:solidFill>
                <a:latin typeface="Nunito"/>
                <a:ea typeface="Nunito"/>
                <a:cs typeface="Nunito"/>
                <a:sym typeface="Nunito"/>
              </a:rPr>
              <a:t>BMI biến thiên mạnh:</a:t>
            </a:r>
            <a:r>
              <a:rPr b="0" i="0" lang="en-US" sz="1350" u="none" cap="none" strike="noStrike">
                <a:solidFill>
                  <a:schemeClr val="lt1"/>
                </a:solidFill>
                <a:latin typeface="Nunito"/>
                <a:ea typeface="Nunito"/>
                <a:cs typeface="Nunito"/>
                <a:sym typeface="Nunito"/>
              </a:rPr>
              <a:t> Phản ánh xu hướng tăng cân khi lớn tuổi.</a:t>
            </a:r>
            <a:endParaRPr>
              <a:solidFill>
                <a:schemeClr val="lt1"/>
              </a:solidFill>
            </a:endParaRPr>
          </a:p>
        </p:txBody>
      </p:sp>
      <p:sp>
        <p:nvSpPr>
          <p:cNvPr id="412" name="Google Shape;412;p40"/>
          <p:cNvSpPr txBox="1"/>
          <p:nvPr/>
        </p:nvSpPr>
        <p:spPr>
          <a:xfrm>
            <a:off x="857250" y="2280128"/>
            <a:ext cx="57150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chemeClr val="lt1"/>
                </a:solidFill>
                <a:latin typeface="Nunito"/>
                <a:ea typeface="Nunito"/>
                <a:cs typeface="Nunito"/>
                <a:sym typeface="Nunito"/>
              </a:rPr>
              <a:t>Huyết áp tăng tuyến tính:</a:t>
            </a:r>
            <a:r>
              <a:rPr b="0" i="0" lang="en-US" sz="1350" u="none" cap="none" strike="noStrike">
                <a:solidFill>
                  <a:schemeClr val="lt1"/>
                </a:solidFill>
                <a:latin typeface="Nunito"/>
                <a:ea typeface="Nunito"/>
                <a:cs typeface="Nunito"/>
                <a:sym typeface="Nunito"/>
              </a:rPr>
              <a:t> Phản ánh sự thay đổi tự nhiên của hệ tim mạch.</a:t>
            </a:r>
            <a:endParaRPr>
              <a:solidFill>
                <a:schemeClr val="lt1"/>
              </a:solidFill>
            </a:endParaRPr>
          </a:p>
        </p:txBody>
      </p:sp>
      <p:pic>
        <p:nvPicPr>
          <p:cNvPr id="413" name="Google Shape;413;p40" title="05_Case2_Age_BMI_Lineplot.png"/>
          <p:cNvPicPr preferRelativeResize="0"/>
          <p:nvPr/>
        </p:nvPicPr>
        <p:blipFill rotWithShape="1">
          <a:blip r:embed="rId3">
            <a:alphaModFix/>
          </a:blip>
          <a:srcRect b="0" l="0" r="0" t="0"/>
          <a:stretch/>
        </p:blipFill>
        <p:spPr>
          <a:xfrm>
            <a:off x="614450" y="3086200"/>
            <a:ext cx="5381627" cy="3422924"/>
          </a:xfrm>
          <a:prstGeom prst="rect">
            <a:avLst/>
          </a:prstGeom>
          <a:noFill/>
          <a:ln cap="flat" cmpd="sng" w="9525">
            <a:solidFill>
              <a:schemeClr val="dk2"/>
            </a:solidFill>
            <a:prstDash val="solid"/>
            <a:round/>
            <a:headEnd len="sm" w="sm" type="none"/>
            <a:tailEnd len="sm" w="sm" type="none"/>
          </a:ln>
        </p:spPr>
      </p:pic>
      <p:pic>
        <p:nvPicPr>
          <p:cNvPr id="414" name="Google Shape;414;p40" title="07_Case2_Age_BloodPressure_Lineplot.png"/>
          <p:cNvPicPr preferRelativeResize="0"/>
          <p:nvPr/>
        </p:nvPicPr>
        <p:blipFill>
          <a:blip r:embed="rId4">
            <a:alphaModFix/>
          </a:blip>
          <a:stretch>
            <a:fillRect/>
          </a:stretch>
        </p:blipFill>
        <p:spPr>
          <a:xfrm>
            <a:off x="6290425" y="3086210"/>
            <a:ext cx="5576873" cy="3422915"/>
          </a:xfrm>
          <a:prstGeom prst="rect">
            <a:avLst/>
          </a:prstGeom>
          <a:noFill/>
          <a:ln cap="flat" cmpd="sng" w="9525">
            <a:solidFill>
              <a:schemeClr val="dk2"/>
            </a:solidFill>
            <a:prstDash val="solid"/>
            <a:round/>
            <a:headEnd len="sm" w="sm" type="none"/>
            <a:tailEnd len="sm" w="sm" type="none"/>
          </a:ln>
        </p:spPr>
      </p:pic>
      <p:pic>
        <p:nvPicPr>
          <p:cNvPr descr="image.png" id="415" name="Google Shape;415;p40"/>
          <p:cNvPicPr preferRelativeResize="0"/>
          <p:nvPr/>
        </p:nvPicPr>
        <p:blipFill rotWithShape="1">
          <a:blip r:embed="rId5">
            <a:alphaModFix/>
          </a:blip>
          <a:srcRect b="0" l="0" r="0" t="0"/>
          <a:stretch/>
        </p:blipFill>
        <p:spPr>
          <a:xfrm>
            <a:off x="614450" y="1679925"/>
            <a:ext cx="160875" cy="143700"/>
          </a:xfrm>
          <a:prstGeom prst="rect">
            <a:avLst/>
          </a:prstGeom>
          <a:noFill/>
          <a:ln>
            <a:noFill/>
          </a:ln>
        </p:spPr>
      </p:pic>
      <p:pic>
        <p:nvPicPr>
          <p:cNvPr descr="image.png" id="416" name="Google Shape;416;p40"/>
          <p:cNvPicPr preferRelativeResize="0"/>
          <p:nvPr/>
        </p:nvPicPr>
        <p:blipFill rotWithShape="1">
          <a:blip r:embed="rId5">
            <a:alphaModFix/>
          </a:blip>
          <a:srcRect b="0" l="0" r="0" t="0"/>
          <a:stretch/>
        </p:blipFill>
        <p:spPr>
          <a:xfrm>
            <a:off x="614450" y="2312225"/>
            <a:ext cx="160875" cy="143700"/>
          </a:xfrm>
          <a:prstGeom prst="rect">
            <a:avLst/>
          </a:prstGeom>
          <a:noFill/>
          <a:ln>
            <a:noFill/>
          </a:ln>
        </p:spPr>
      </p:pic>
      <p:sp>
        <p:nvSpPr>
          <p:cNvPr id="417" name="Google Shape;417;p40"/>
          <p:cNvSpPr/>
          <p:nvPr/>
        </p:nvSpPr>
        <p:spPr>
          <a:xfrm>
            <a:off x="9789125" y="-72492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418" name="Google Shape;418;p40"/>
          <p:cNvSpPr/>
          <p:nvPr/>
        </p:nvSpPr>
        <p:spPr>
          <a:xfrm>
            <a:off x="7584750" y="-207187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 name="Shape 422"/>
        <p:cNvGrpSpPr/>
        <p:nvPr/>
      </p:nvGrpSpPr>
      <p:grpSpPr>
        <a:xfrm>
          <a:off x="0" y="0"/>
          <a:ext cx="0" cy="0"/>
          <a:chOff x="0" y="0"/>
          <a:chExt cx="0" cy="0"/>
        </a:xfrm>
      </p:grpSpPr>
      <p:sp>
        <p:nvSpPr>
          <p:cNvPr id="423" name="Google Shape;423;p41"/>
          <p:cNvSpPr txBox="1"/>
          <p:nvPr/>
        </p:nvSpPr>
        <p:spPr>
          <a:xfrm>
            <a:off x="571500" y="47625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1E3A8A"/>
                </a:solidFill>
                <a:latin typeface="Playfair Display"/>
                <a:ea typeface="Playfair Display"/>
                <a:cs typeface="Playfair Display"/>
                <a:sym typeface="Playfair Display"/>
              </a:rPr>
              <a:t>Phân tích Khám phá (EDA): Mối quan hệ BMI và Độ tuổi</a:t>
            </a:r>
            <a:endParaRPr/>
          </a:p>
        </p:txBody>
      </p:sp>
      <p:sp>
        <p:nvSpPr>
          <p:cNvPr id="424" name="Google Shape;424;p41"/>
          <p:cNvSpPr txBox="1"/>
          <p:nvPr/>
        </p:nvSpPr>
        <p:spPr>
          <a:xfrm>
            <a:off x="571500" y="2458491"/>
            <a:ext cx="560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2563EB"/>
                </a:solidFill>
                <a:latin typeface="Playfair Display"/>
                <a:ea typeface="Playfair Display"/>
                <a:cs typeface="Playfair Display"/>
                <a:sym typeface="Playfair Display"/>
              </a:rPr>
              <a:t>Tương tác giữa Thể trạng và Quá trình Lão hóa</a:t>
            </a:r>
            <a:endParaRPr/>
          </a:p>
        </p:txBody>
      </p:sp>
      <p:sp>
        <p:nvSpPr>
          <p:cNvPr id="425" name="Google Shape;425;p41"/>
          <p:cNvSpPr txBox="1"/>
          <p:nvPr/>
        </p:nvSpPr>
        <p:spPr>
          <a:xfrm>
            <a:off x="857250" y="2934741"/>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Vùng hội tụ an toàn:</a:t>
            </a:r>
            <a:r>
              <a:rPr lang="en-US" sz="1100">
                <a:solidFill>
                  <a:schemeClr val="dk1"/>
                </a:solidFill>
              </a:rPr>
              <a:t> Nhóm không mắc bệnh (</a:t>
            </a:r>
            <a:r>
              <a:rPr lang="en-US" sz="1100">
                <a:solidFill>
                  <a:srgbClr val="188038"/>
                </a:solidFill>
                <a:latin typeface="Roboto Mono"/>
                <a:ea typeface="Roboto Mono"/>
                <a:cs typeface="Roboto Mono"/>
                <a:sym typeface="Roboto Mono"/>
              </a:rPr>
              <a:t>Outcome = 0</a:t>
            </a:r>
            <a:r>
              <a:rPr lang="en-US" sz="1100">
                <a:solidFill>
                  <a:schemeClr val="dk1"/>
                </a:solidFill>
              </a:rPr>
              <a:t> - màu xanh) tập trung cực kỳ đặc ở khu vực có BMI trung bình/thấp và Độ tuổi trẻ (góc dưới bên trái). Khi còn trẻ và thể trạng bình thường, rủi ro mắc bệnh là rất thấp</a:t>
            </a:r>
            <a:endParaRPr>
              <a:solidFill>
                <a:schemeClr val="dk1"/>
              </a:solidFill>
            </a:endParaRPr>
          </a:p>
        </p:txBody>
      </p:sp>
      <p:sp>
        <p:nvSpPr>
          <p:cNvPr id="426" name="Google Shape;426;p41"/>
          <p:cNvSpPr txBox="1"/>
          <p:nvPr/>
        </p:nvSpPr>
        <p:spPr>
          <a:xfrm>
            <a:off x="857250" y="4374802"/>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Sự dịch chuyển của rủi ro:</a:t>
            </a:r>
            <a:r>
              <a:rPr lang="en-US" sz="1100">
                <a:solidFill>
                  <a:schemeClr val="dk1"/>
                </a:solidFill>
              </a:rPr>
              <a:t> Nhóm mắc bệnh (</a:t>
            </a:r>
            <a:r>
              <a:rPr lang="en-US" sz="1100">
                <a:solidFill>
                  <a:srgbClr val="188038"/>
                </a:solidFill>
                <a:latin typeface="Roboto Mono"/>
                <a:ea typeface="Roboto Mono"/>
                <a:cs typeface="Roboto Mono"/>
                <a:sym typeface="Roboto Mono"/>
              </a:rPr>
              <a:t>Outcome = 1</a:t>
            </a:r>
            <a:r>
              <a:rPr lang="en-US" sz="1100">
                <a:solidFill>
                  <a:schemeClr val="dk1"/>
                </a:solidFill>
              </a:rPr>
              <a:t> - màu cam) phân tán rộng hơn và dịch chuyển mạnh về phía bên phải (BMI cao). Sự kết hợp giữa béo phì (BMI &gt; 1) và quá trình lão hóa (tuổi tăng lên) làm gia tăng đáng kể tỷ lệ dương tính.</a:t>
            </a:r>
            <a:endParaRPr>
              <a:solidFill>
                <a:schemeClr val="dk1"/>
              </a:solidFill>
            </a:endParaRPr>
          </a:p>
        </p:txBody>
      </p:sp>
      <p:pic>
        <p:nvPicPr>
          <p:cNvPr descr="image.png" id="427" name="Google Shape;427;p41"/>
          <p:cNvPicPr preferRelativeResize="0"/>
          <p:nvPr/>
        </p:nvPicPr>
        <p:blipFill rotWithShape="1">
          <a:blip r:embed="rId3">
            <a:alphaModFix/>
          </a:blip>
          <a:srcRect b="0" l="0" r="0" t="0"/>
          <a:stretch/>
        </p:blipFill>
        <p:spPr>
          <a:xfrm>
            <a:off x="571500" y="2953791"/>
            <a:ext cx="104775" cy="180975"/>
          </a:xfrm>
          <a:prstGeom prst="rect">
            <a:avLst/>
          </a:prstGeom>
          <a:noFill/>
          <a:ln>
            <a:noFill/>
          </a:ln>
        </p:spPr>
      </p:pic>
      <p:pic>
        <p:nvPicPr>
          <p:cNvPr descr="image.png" id="428" name="Google Shape;428;p41"/>
          <p:cNvPicPr preferRelativeResize="0"/>
          <p:nvPr/>
        </p:nvPicPr>
        <p:blipFill rotWithShape="1">
          <a:blip r:embed="rId3">
            <a:alphaModFix/>
          </a:blip>
          <a:srcRect b="0" l="0" r="0" t="0"/>
          <a:stretch/>
        </p:blipFill>
        <p:spPr>
          <a:xfrm>
            <a:off x="571500" y="4393852"/>
            <a:ext cx="104775" cy="180975"/>
          </a:xfrm>
          <a:prstGeom prst="rect">
            <a:avLst/>
          </a:prstGeom>
          <a:noFill/>
          <a:ln>
            <a:noFill/>
          </a:ln>
        </p:spPr>
      </p:pic>
      <p:pic>
        <p:nvPicPr>
          <p:cNvPr id="429" name="Google Shape;429;p41" title="43_Bonus_Combo_Scatter_BMI_vs_Age.png"/>
          <p:cNvPicPr preferRelativeResize="0"/>
          <p:nvPr/>
        </p:nvPicPr>
        <p:blipFill>
          <a:blip r:embed="rId4">
            <a:alphaModFix/>
          </a:blip>
          <a:stretch>
            <a:fillRect/>
          </a:stretch>
        </p:blipFill>
        <p:spPr>
          <a:xfrm>
            <a:off x="6172200" y="1494900"/>
            <a:ext cx="5714998" cy="4719947"/>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433" name="Shape 433"/>
        <p:cNvGrpSpPr/>
        <p:nvPr/>
      </p:nvGrpSpPr>
      <p:grpSpPr>
        <a:xfrm>
          <a:off x="0" y="0"/>
          <a:ext cx="0" cy="0"/>
          <a:chOff x="0" y="0"/>
          <a:chExt cx="0" cy="0"/>
        </a:xfrm>
      </p:grpSpPr>
      <p:sp>
        <p:nvSpPr>
          <p:cNvPr id="434" name="Google Shape;434;p42"/>
          <p:cNvSpPr/>
          <p:nvPr/>
        </p:nvSpPr>
        <p:spPr>
          <a:xfrm>
            <a:off x="-1266412" y="5063550"/>
            <a:ext cx="3780600" cy="250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35" name="Google Shape;435;p42"/>
          <p:cNvSpPr txBox="1"/>
          <p:nvPr/>
        </p:nvSpPr>
        <p:spPr>
          <a:xfrm>
            <a:off x="571500" y="476250"/>
            <a:ext cx="63411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Playfair Display"/>
                <a:ea typeface="Playfair Display"/>
                <a:cs typeface="Playfair Display"/>
                <a:sym typeface="Playfair Display"/>
              </a:rPr>
              <a:t>Phân tích Khám phá (EDA): Mối quan hệ Huyết áp và Độ tuổi</a:t>
            </a:r>
            <a:endParaRPr/>
          </a:p>
        </p:txBody>
      </p:sp>
      <p:pic>
        <p:nvPicPr>
          <p:cNvPr descr="image.png" id="436" name="Google Shape;436;p42"/>
          <p:cNvPicPr preferRelativeResize="0"/>
          <p:nvPr/>
        </p:nvPicPr>
        <p:blipFill rotWithShape="1">
          <a:blip r:embed="rId3">
            <a:alphaModFix/>
          </a:blip>
          <a:srcRect b="0" l="0" r="0" t="0"/>
          <a:stretch/>
        </p:blipFill>
        <p:spPr>
          <a:xfrm>
            <a:off x="571500" y="2805687"/>
            <a:ext cx="104775" cy="180975"/>
          </a:xfrm>
          <a:prstGeom prst="rect">
            <a:avLst/>
          </a:prstGeom>
          <a:noFill/>
          <a:ln>
            <a:noFill/>
          </a:ln>
        </p:spPr>
      </p:pic>
      <p:pic>
        <p:nvPicPr>
          <p:cNvPr descr="image.png" id="437" name="Google Shape;437;p42"/>
          <p:cNvPicPr preferRelativeResize="0"/>
          <p:nvPr/>
        </p:nvPicPr>
        <p:blipFill rotWithShape="1">
          <a:blip r:embed="rId3">
            <a:alphaModFix/>
          </a:blip>
          <a:srcRect b="0" l="0" r="0" t="0"/>
          <a:stretch/>
        </p:blipFill>
        <p:spPr>
          <a:xfrm>
            <a:off x="571500" y="3810892"/>
            <a:ext cx="104775" cy="180975"/>
          </a:xfrm>
          <a:prstGeom prst="rect">
            <a:avLst/>
          </a:prstGeom>
          <a:noFill/>
          <a:ln>
            <a:noFill/>
          </a:ln>
        </p:spPr>
      </p:pic>
      <p:pic>
        <p:nvPicPr>
          <p:cNvPr descr="image.png" id="438" name="Google Shape;438;p42"/>
          <p:cNvPicPr preferRelativeResize="0"/>
          <p:nvPr/>
        </p:nvPicPr>
        <p:blipFill rotWithShape="1">
          <a:blip r:embed="rId3">
            <a:alphaModFix/>
          </a:blip>
          <a:srcRect b="0" l="0" r="0" t="0"/>
          <a:stretch/>
        </p:blipFill>
        <p:spPr>
          <a:xfrm>
            <a:off x="571500" y="4256633"/>
            <a:ext cx="104775" cy="180975"/>
          </a:xfrm>
          <a:prstGeom prst="rect">
            <a:avLst/>
          </a:prstGeom>
          <a:noFill/>
          <a:ln>
            <a:noFill/>
          </a:ln>
        </p:spPr>
      </p:pic>
      <p:sp>
        <p:nvSpPr>
          <p:cNvPr id="439" name="Google Shape;439;p42"/>
          <p:cNvSpPr/>
          <p:nvPr/>
        </p:nvSpPr>
        <p:spPr>
          <a:xfrm>
            <a:off x="9954600" y="-949825"/>
            <a:ext cx="3780600" cy="250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0" name="Google Shape;440;p42"/>
          <p:cNvSpPr/>
          <p:nvPr/>
        </p:nvSpPr>
        <p:spPr>
          <a:xfrm>
            <a:off x="8468400" y="-84000"/>
            <a:ext cx="3780600" cy="3704400"/>
          </a:xfrm>
          <a:prstGeom prst="roundRect">
            <a:avLst>
              <a:gd fmla="val 50000" name="adj"/>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441" name="Google Shape;441;p42"/>
          <p:cNvSpPr/>
          <p:nvPr/>
        </p:nvSpPr>
        <p:spPr>
          <a:xfrm>
            <a:off x="0" y="3271825"/>
            <a:ext cx="3780600" cy="3704400"/>
          </a:xfrm>
          <a:prstGeom prst="roundRect">
            <a:avLst>
              <a:gd fmla="val 50000" name="adj"/>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442" name="Google Shape;442;p42"/>
          <p:cNvSpPr txBox="1"/>
          <p:nvPr/>
        </p:nvSpPr>
        <p:spPr>
          <a:xfrm>
            <a:off x="571500" y="1861975"/>
            <a:ext cx="4945200" cy="6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FFFFFF"/>
                </a:solidFill>
                <a:latin typeface="Playfair Display"/>
                <a:ea typeface="Playfair Display"/>
                <a:cs typeface="Playfair Display"/>
                <a:sym typeface="Playfair Display"/>
              </a:rPr>
              <a:t>Đánh giá rủi ro theo Huyết áp và Quá trình Lão hóa</a:t>
            </a:r>
            <a:endParaRPr/>
          </a:p>
        </p:txBody>
      </p:sp>
      <p:sp>
        <p:nvSpPr>
          <p:cNvPr id="443" name="Google Shape;443;p42"/>
          <p:cNvSpPr txBox="1"/>
          <p:nvPr/>
        </p:nvSpPr>
        <p:spPr>
          <a:xfrm>
            <a:off x="857175" y="2731537"/>
            <a:ext cx="48579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latin typeface="Nunito"/>
                <a:ea typeface="Nunito"/>
                <a:cs typeface="Nunito"/>
                <a:sym typeface="Nunito"/>
              </a:rPr>
              <a:t>Vùng an toàn lõi:</a:t>
            </a:r>
            <a:r>
              <a:rPr lang="en-US" sz="1100">
                <a:solidFill>
                  <a:schemeClr val="lt1"/>
                </a:solidFill>
                <a:latin typeface="Nunito"/>
                <a:ea typeface="Nunito"/>
                <a:cs typeface="Nunito"/>
                <a:sym typeface="Nunito"/>
              </a:rPr>
              <a:t> Đa số dữ liệu hội tụ cực kỳ đặc ở mức huyết áp trung bình/thấp và độ tuổi trẻ (góc dưới cùng bên trái). Tại vùng này, nhóm người không mắc bệnh (Outcome = 0 - màu xanh) chiếm tỷ lệ áp đảo.</a:t>
            </a:r>
            <a:endParaRPr>
              <a:solidFill>
                <a:schemeClr val="lt1"/>
              </a:solidFill>
              <a:latin typeface="Nunito"/>
              <a:ea typeface="Nunito"/>
              <a:cs typeface="Nunito"/>
              <a:sym typeface="Nunito"/>
            </a:endParaRPr>
          </a:p>
        </p:txBody>
      </p:sp>
      <p:sp>
        <p:nvSpPr>
          <p:cNvPr id="444" name="Google Shape;444;p42"/>
          <p:cNvSpPr txBox="1"/>
          <p:nvPr/>
        </p:nvSpPr>
        <p:spPr>
          <a:xfrm>
            <a:off x="857250" y="3734842"/>
            <a:ext cx="48579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latin typeface="Nunito"/>
                <a:ea typeface="Nunito"/>
                <a:cs typeface="Nunito"/>
                <a:sym typeface="Nunito"/>
              </a:rPr>
              <a:t>Xu hướng gia tăng rủi ro:</a:t>
            </a:r>
            <a:r>
              <a:rPr lang="en-US" sz="1100">
                <a:solidFill>
                  <a:schemeClr val="lt1"/>
                </a:solidFill>
                <a:latin typeface="Nunito"/>
                <a:ea typeface="Nunito"/>
                <a:cs typeface="Nunito"/>
                <a:sym typeface="Nunito"/>
              </a:rPr>
              <a:t> Khi tịnh tiến lên các mốc tuổi cao hơn (trục tung &gt; 1) và huyết áp tăng (trục hoành &gt; 1), các điểm mang nhãn dương tính (Outcome = 1 - màu cam) bắt đầu xuất hiện với mật độ dày đặc hơn hẳn.</a:t>
            </a:r>
            <a:endParaRPr>
              <a:solidFill>
                <a:schemeClr val="lt1"/>
              </a:solidFill>
              <a:latin typeface="Nunito"/>
              <a:ea typeface="Nunito"/>
              <a:cs typeface="Nunito"/>
              <a:sym typeface="Nunito"/>
            </a:endParaRPr>
          </a:p>
        </p:txBody>
      </p:sp>
      <p:sp>
        <p:nvSpPr>
          <p:cNvPr id="445" name="Google Shape;445;p42"/>
          <p:cNvSpPr txBox="1"/>
          <p:nvPr/>
        </p:nvSpPr>
        <p:spPr>
          <a:xfrm>
            <a:off x="857250" y="4738183"/>
            <a:ext cx="48579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latin typeface="Nunito"/>
                <a:ea typeface="Nunito"/>
                <a:cs typeface="Nunito"/>
                <a:sym typeface="Nunito"/>
              </a:rPr>
              <a:t>Mức độ chồng chéo:</a:t>
            </a:r>
            <a:r>
              <a:rPr lang="en-US" sz="1100">
                <a:solidFill>
                  <a:schemeClr val="lt1"/>
                </a:solidFill>
                <a:latin typeface="Nunito"/>
                <a:ea typeface="Nunito"/>
                <a:cs typeface="Nunito"/>
                <a:sym typeface="Nunito"/>
              </a:rPr>
              <a:t> Dù có xu hướng rủi ro ở người lớn tuổi huyết áp cao, sự đan xen giữa hai nhóm ở khu vực trung tâm vẫn rất lớn. Hai đặc trưng này độc lập không thể tạo ra ranh giới phân tách (decision boundary) rõ ràng cho mô hình.</a:t>
            </a:r>
            <a:endParaRPr>
              <a:solidFill>
                <a:schemeClr val="lt1"/>
              </a:solidFill>
              <a:latin typeface="Nunito"/>
              <a:ea typeface="Nunito"/>
              <a:cs typeface="Nunito"/>
              <a:sym typeface="Nunito"/>
            </a:endParaRPr>
          </a:p>
        </p:txBody>
      </p:sp>
      <p:pic>
        <p:nvPicPr>
          <p:cNvPr descr="image.png" id="446" name="Google Shape;446;p42"/>
          <p:cNvPicPr preferRelativeResize="0"/>
          <p:nvPr/>
        </p:nvPicPr>
        <p:blipFill rotWithShape="1">
          <a:blip r:embed="rId3">
            <a:alphaModFix/>
          </a:blip>
          <a:srcRect b="0" l="0" r="0" t="0"/>
          <a:stretch/>
        </p:blipFill>
        <p:spPr>
          <a:xfrm>
            <a:off x="571650" y="3748325"/>
            <a:ext cx="104775" cy="180975"/>
          </a:xfrm>
          <a:prstGeom prst="rect">
            <a:avLst/>
          </a:prstGeom>
          <a:noFill/>
          <a:ln>
            <a:noFill/>
          </a:ln>
        </p:spPr>
      </p:pic>
      <p:pic>
        <p:nvPicPr>
          <p:cNvPr descr="image.png" id="447" name="Google Shape;447;p42"/>
          <p:cNvPicPr preferRelativeResize="0"/>
          <p:nvPr/>
        </p:nvPicPr>
        <p:blipFill rotWithShape="1">
          <a:blip r:embed="rId3">
            <a:alphaModFix/>
          </a:blip>
          <a:srcRect b="0" l="0" r="0" t="0"/>
          <a:stretch/>
        </p:blipFill>
        <p:spPr>
          <a:xfrm>
            <a:off x="571650" y="4738175"/>
            <a:ext cx="104775" cy="180975"/>
          </a:xfrm>
          <a:prstGeom prst="rect">
            <a:avLst/>
          </a:prstGeom>
          <a:noFill/>
          <a:ln>
            <a:noFill/>
          </a:ln>
        </p:spPr>
      </p:pic>
      <p:pic>
        <p:nvPicPr>
          <p:cNvPr id="448" name="Google Shape;448;p42" title="34_Bonus_Combo_Scatter_BloodPressure_vs_Age.png"/>
          <p:cNvPicPr preferRelativeResize="0"/>
          <p:nvPr/>
        </p:nvPicPr>
        <p:blipFill>
          <a:blip r:embed="rId4">
            <a:alphaModFix/>
          </a:blip>
          <a:stretch>
            <a:fillRect/>
          </a:stretch>
        </p:blipFill>
        <p:spPr>
          <a:xfrm>
            <a:off x="5895975" y="1295158"/>
            <a:ext cx="5880100" cy="48562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sp>
        <p:nvSpPr>
          <p:cNvPr id="453" name="Google Shape;453;p43"/>
          <p:cNvSpPr txBox="1"/>
          <p:nvPr/>
        </p:nvSpPr>
        <p:spPr>
          <a:xfrm>
            <a:off x="571500" y="476250"/>
            <a:ext cx="1160145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Phân bố Tuổi và Số lần mang thai</a:t>
            </a:r>
            <a:endParaRPr/>
          </a:p>
        </p:txBody>
      </p:sp>
      <p:sp>
        <p:nvSpPr>
          <p:cNvPr id="454" name="Google Shape;454;p43"/>
          <p:cNvSpPr txBox="1"/>
          <p:nvPr/>
        </p:nvSpPr>
        <p:spPr>
          <a:xfrm>
            <a:off x="571500" y="1171575"/>
            <a:ext cx="11601450"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Yếu tố tích lũy sinh lý</a:t>
            </a:r>
            <a:endParaRPr/>
          </a:p>
        </p:txBody>
      </p:sp>
      <p:sp>
        <p:nvSpPr>
          <p:cNvPr id="455" name="Google Shape;455;p43"/>
          <p:cNvSpPr txBox="1"/>
          <p:nvPr/>
        </p:nvSpPr>
        <p:spPr>
          <a:xfrm>
            <a:off x="857250" y="1647825"/>
            <a:ext cx="54483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Người mắc bệnh có độ tuổi trung bình cao hơn rõ rệt (37.4 so với 31.3).</a:t>
            </a:r>
            <a:endParaRPr/>
          </a:p>
        </p:txBody>
      </p:sp>
      <p:sp>
        <p:nvSpPr>
          <p:cNvPr id="456" name="Google Shape;456;p43"/>
          <p:cNvSpPr txBox="1"/>
          <p:nvPr/>
        </p:nvSpPr>
        <p:spPr>
          <a:xfrm>
            <a:off x="857250" y="2474565"/>
            <a:ext cx="1056322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Số lần mang thai ở nhóm mắc bệnh cũng </a:t>
            </a:r>
            <a:r>
              <a:rPr b="1" i="0" lang="en-US" sz="1350" u="none" cap="none" strike="noStrike">
                <a:solidFill>
                  <a:srgbClr val="1E40AF"/>
                </a:solidFill>
                <a:latin typeface="Nunito"/>
                <a:ea typeface="Nunito"/>
                <a:cs typeface="Nunito"/>
                <a:sym typeface="Nunito"/>
              </a:rPr>
              <a:t>cao hơn đáng kể</a:t>
            </a:r>
            <a:r>
              <a:rPr b="0" i="0" lang="en-US" sz="1350" u="none" cap="none" strike="noStrike">
                <a:solidFill>
                  <a:srgbClr val="334155"/>
                </a:solidFill>
                <a:latin typeface="Nunito"/>
                <a:ea typeface="Nunito"/>
                <a:cs typeface="Nunito"/>
                <a:sym typeface="Nunito"/>
              </a:rPr>
              <a:t> (Trung bình 4.9 lần so với 3.3 lần), liên quan đến rủi ro đái tháo đường thai kỳ.</a:t>
            </a:r>
            <a:endParaRPr/>
          </a:p>
        </p:txBody>
      </p:sp>
      <p:pic>
        <p:nvPicPr>
          <p:cNvPr descr="image.png" id="457" name="Google Shape;457;p43"/>
          <p:cNvPicPr preferRelativeResize="0"/>
          <p:nvPr/>
        </p:nvPicPr>
        <p:blipFill rotWithShape="1">
          <a:blip r:embed="rId3">
            <a:alphaModFix/>
          </a:blip>
          <a:srcRect b="0" l="0" r="0" t="0"/>
          <a:stretch/>
        </p:blipFill>
        <p:spPr>
          <a:xfrm>
            <a:off x="571500" y="1666875"/>
            <a:ext cx="104775" cy="180975"/>
          </a:xfrm>
          <a:prstGeom prst="rect">
            <a:avLst/>
          </a:prstGeom>
          <a:noFill/>
          <a:ln>
            <a:noFill/>
          </a:ln>
        </p:spPr>
      </p:pic>
      <p:pic>
        <p:nvPicPr>
          <p:cNvPr descr="image.png" id="458" name="Google Shape;458;p43"/>
          <p:cNvPicPr preferRelativeResize="0"/>
          <p:nvPr/>
        </p:nvPicPr>
        <p:blipFill rotWithShape="1">
          <a:blip r:embed="rId3">
            <a:alphaModFix/>
          </a:blip>
          <a:srcRect b="0" l="0" r="0" t="0"/>
          <a:stretch/>
        </p:blipFill>
        <p:spPr>
          <a:xfrm>
            <a:off x="571500" y="2493615"/>
            <a:ext cx="104775" cy="180975"/>
          </a:xfrm>
          <a:prstGeom prst="rect">
            <a:avLst/>
          </a:prstGeom>
          <a:noFill/>
          <a:ln>
            <a:noFill/>
          </a:ln>
        </p:spPr>
      </p:pic>
      <p:pic>
        <p:nvPicPr>
          <p:cNvPr id="459" name="Google Shape;459;p43" title="34_TargetCheck_KDEOverlap_Age_vs_Outcome.png"/>
          <p:cNvPicPr preferRelativeResize="0"/>
          <p:nvPr/>
        </p:nvPicPr>
        <p:blipFill>
          <a:blip r:embed="rId4">
            <a:alphaModFix/>
          </a:blip>
          <a:stretch>
            <a:fillRect/>
          </a:stretch>
        </p:blipFill>
        <p:spPr>
          <a:xfrm>
            <a:off x="676275" y="3034225"/>
            <a:ext cx="5621601" cy="3647949"/>
          </a:xfrm>
          <a:prstGeom prst="rect">
            <a:avLst/>
          </a:prstGeom>
          <a:noFill/>
          <a:ln cap="flat" cmpd="sng" w="19050">
            <a:solidFill>
              <a:schemeClr val="dk2"/>
            </a:solidFill>
            <a:prstDash val="solid"/>
            <a:round/>
            <a:headEnd len="sm" w="sm" type="none"/>
            <a:tailEnd len="sm" w="sm" type="none"/>
          </a:ln>
        </p:spPr>
      </p:pic>
      <p:pic>
        <p:nvPicPr>
          <p:cNvPr id="460" name="Google Shape;460;p43" title="20_TargetCheck_KDEOverlap_Pregnancies_vs_Outcome.png"/>
          <p:cNvPicPr preferRelativeResize="0"/>
          <p:nvPr/>
        </p:nvPicPr>
        <p:blipFill>
          <a:blip r:embed="rId5">
            <a:alphaModFix/>
          </a:blip>
          <a:stretch>
            <a:fillRect/>
          </a:stretch>
        </p:blipFill>
        <p:spPr>
          <a:xfrm>
            <a:off x="6638975" y="3034224"/>
            <a:ext cx="5381627" cy="3647949"/>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44"/>
          <p:cNvSpPr/>
          <p:nvPr/>
        </p:nvSpPr>
        <p:spPr>
          <a:xfrm rot="10800000">
            <a:off x="-268675" y="5381200"/>
            <a:ext cx="2852100" cy="1863600"/>
          </a:xfrm>
          <a:prstGeom prst="rect">
            <a:avLst/>
          </a:prstGeom>
          <a:solidFill>
            <a:srgbClr val="1E3A8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sp>
        <p:nvSpPr>
          <p:cNvPr id="466" name="Google Shape;466;p44"/>
          <p:cNvSpPr/>
          <p:nvPr/>
        </p:nvSpPr>
        <p:spPr>
          <a:xfrm rot="10800000">
            <a:off x="-32025" y="3082150"/>
            <a:ext cx="4056600" cy="39534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467" name="Google Shape;467;p44"/>
          <p:cNvSpPr txBox="1"/>
          <p:nvPr/>
        </p:nvSpPr>
        <p:spPr>
          <a:xfrm>
            <a:off x="571500" y="476250"/>
            <a:ext cx="11601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chemeClr val="dk2"/>
                </a:solidFill>
                <a:latin typeface="Playfair Display"/>
                <a:ea typeface="Playfair Display"/>
                <a:cs typeface="Playfair Display"/>
                <a:sym typeface="Playfair Display"/>
              </a:rPr>
              <a:t>Phân tích Khám phá (EDA): Mối quan hệ giữa Pregnancies và Age</a:t>
            </a:r>
            <a:endParaRPr sz="2500">
              <a:solidFill>
                <a:schemeClr val="dk2"/>
              </a:solidFill>
              <a:latin typeface="Playfair Display"/>
              <a:ea typeface="Playfair Display"/>
              <a:cs typeface="Playfair Display"/>
              <a:sym typeface="Playfair Display"/>
            </a:endParaRPr>
          </a:p>
        </p:txBody>
      </p:sp>
      <p:sp>
        <p:nvSpPr>
          <p:cNvPr id="468" name="Google Shape;468;p44"/>
          <p:cNvSpPr txBox="1"/>
          <p:nvPr/>
        </p:nvSpPr>
        <p:spPr>
          <a:xfrm>
            <a:off x="581100" y="2105791"/>
            <a:ext cx="56007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chemeClr val="dk2"/>
                </a:solidFill>
                <a:latin typeface="Playfair Display"/>
                <a:ea typeface="Playfair Display"/>
                <a:cs typeface="Playfair Display"/>
                <a:sym typeface="Playfair Display"/>
              </a:rPr>
              <a:t>Đặc điểm Dữ liệu Rời rạc (Discrete Data)</a:t>
            </a:r>
            <a:endParaRPr b="1" sz="2000">
              <a:solidFill>
                <a:schemeClr val="dk2"/>
              </a:solidFill>
              <a:latin typeface="Playfair Display"/>
              <a:ea typeface="Playfair Display"/>
              <a:cs typeface="Playfair Display"/>
              <a:sym typeface="Playfair Display"/>
            </a:endParaRPr>
          </a:p>
        </p:txBody>
      </p:sp>
      <p:sp>
        <p:nvSpPr>
          <p:cNvPr id="469" name="Google Shape;469;p44"/>
          <p:cNvSpPr txBox="1"/>
          <p:nvPr/>
        </p:nvSpPr>
        <p:spPr>
          <a:xfrm>
            <a:off x="857250" y="2553328"/>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Bản chất dữ liệu đếm (Count data):</a:t>
            </a:r>
            <a:r>
              <a:rPr lang="en-US" sz="1100">
                <a:solidFill>
                  <a:schemeClr val="dk1"/>
                </a:solidFill>
              </a:rPr>
              <a:t> Các điểm dữ liệu xếp thành từng cột dọc rõ rệt. Dù đã qua bước chuẩn hóa (StandardScaler), đặc tính rời rạc của biến </a:t>
            </a:r>
            <a:r>
              <a:rPr lang="en-US" sz="1100">
                <a:solidFill>
                  <a:schemeClr val="dk1"/>
                </a:solidFill>
                <a:latin typeface="Roboto Mono"/>
                <a:ea typeface="Roboto Mono"/>
                <a:cs typeface="Roboto Mono"/>
                <a:sym typeface="Roboto Mono"/>
              </a:rPr>
              <a:t>Pregnancies</a:t>
            </a:r>
            <a:r>
              <a:rPr lang="en-US" sz="1100">
                <a:solidFill>
                  <a:schemeClr val="dk1"/>
                </a:solidFill>
              </a:rPr>
              <a:t> (số lần mang thai - là số nguyên) vẫn được thể hiện rất rõ ràng trên đồ thị.</a:t>
            </a:r>
            <a:endParaRPr>
              <a:solidFill>
                <a:schemeClr val="dk1"/>
              </a:solidFill>
            </a:endParaRPr>
          </a:p>
        </p:txBody>
      </p:sp>
      <p:sp>
        <p:nvSpPr>
          <p:cNvPr id="470" name="Google Shape;470;p44"/>
          <p:cNvSpPr txBox="1"/>
          <p:nvPr/>
        </p:nvSpPr>
        <p:spPr>
          <a:xfrm>
            <a:off x="857250" y="3654772"/>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Tương quan thuận (Positive Correlation):</a:t>
            </a:r>
            <a:r>
              <a:rPr lang="en-US" sz="1100">
                <a:solidFill>
                  <a:schemeClr val="dk1"/>
                </a:solidFill>
              </a:rPr>
              <a:t> Đồ thị cho thấy xu hướng tăng dần chung: Tuổi (</a:t>
            </a:r>
            <a:r>
              <a:rPr lang="en-US" sz="1100">
                <a:solidFill>
                  <a:schemeClr val="dk1"/>
                </a:solidFill>
                <a:latin typeface="Roboto Mono"/>
                <a:ea typeface="Roboto Mono"/>
                <a:cs typeface="Roboto Mono"/>
                <a:sym typeface="Roboto Mono"/>
              </a:rPr>
              <a:t>Age</a:t>
            </a:r>
            <a:r>
              <a:rPr lang="en-US" sz="1100">
                <a:solidFill>
                  <a:schemeClr val="dk1"/>
                </a:solidFill>
              </a:rPr>
              <a:t>) càng cao thì số lần mang thai (</a:t>
            </a:r>
            <a:r>
              <a:rPr lang="en-US" sz="1100">
                <a:solidFill>
                  <a:schemeClr val="dk1"/>
                </a:solidFill>
                <a:latin typeface="Roboto Mono"/>
                <a:ea typeface="Roboto Mono"/>
                <a:cs typeface="Roboto Mono"/>
                <a:sym typeface="Roboto Mono"/>
              </a:rPr>
              <a:t>Pregnancies</a:t>
            </a:r>
            <a:r>
              <a:rPr lang="en-US" sz="1100">
                <a:solidFill>
                  <a:schemeClr val="dk1"/>
                </a:solidFill>
              </a:rPr>
              <a:t>) thường có xu hướng lớn hơn, đây là một quy luật hợp lý về mặt sinh học.</a:t>
            </a:r>
            <a:endParaRPr>
              <a:solidFill>
                <a:schemeClr val="dk1"/>
              </a:solidFill>
            </a:endParaRPr>
          </a:p>
        </p:txBody>
      </p:sp>
      <p:sp>
        <p:nvSpPr>
          <p:cNvPr id="471" name="Google Shape;471;p44"/>
          <p:cNvSpPr txBox="1"/>
          <p:nvPr/>
        </p:nvSpPr>
        <p:spPr>
          <a:xfrm>
            <a:off x="795575" y="4574827"/>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Phân bố nhãn dự đoán:</a:t>
            </a:r>
            <a:r>
              <a:rPr lang="en-US" sz="1100">
                <a:solidFill>
                  <a:schemeClr val="dk1"/>
                </a:solidFill>
              </a:rPr>
              <a:t> Nhóm </a:t>
            </a:r>
            <a:r>
              <a:rPr lang="en-US" sz="1100">
                <a:solidFill>
                  <a:schemeClr val="dk1"/>
                </a:solidFill>
                <a:latin typeface="Roboto Mono"/>
                <a:ea typeface="Roboto Mono"/>
                <a:cs typeface="Roboto Mono"/>
                <a:sym typeface="Roboto Mono"/>
              </a:rPr>
              <a:t>Outcome = 0</a:t>
            </a:r>
            <a:r>
              <a:rPr lang="en-US" sz="1100">
                <a:solidFill>
                  <a:schemeClr val="dk1"/>
                </a:solidFill>
              </a:rPr>
              <a:t> (không bệnh) tập trung cực kỳ dày đặc ở góc dưới bên trái (tuổi thấp, ít thai kỳ). Ngược lại, nhóm </a:t>
            </a:r>
            <a:r>
              <a:rPr lang="en-US" sz="1100">
                <a:solidFill>
                  <a:schemeClr val="dk1"/>
                </a:solidFill>
                <a:latin typeface="Roboto Mono"/>
                <a:ea typeface="Roboto Mono"/>
                <a:cs typeface="Roboto Mono"/>
                <a:sym typeface="Roboto Mono"/>
              </a:rPr>
              <a:t>Outcome = 1</a:t>
            </a:r>
            <a:r>
              <a:rPr lang="en-US" sz="1100">
                <a:solidFill>
                  <a:schemeClr val="dk1"/>
                </a:solidFill>
              </a:rPr>
              <a:t> phân tán rộng hơn và xuất hiện dày hơn ở các mức tuổi và số lần mang thai cao.</a:t>
            </a:r>
            <a:endParaRPr>
              <a:solidFill>
                <a:schemeClr val="dk1"/>
              </a:solidFill>
            </a:endParaRPr>
          </a:p>
        </p:txBody>
      </p:sp>
      <p:pic>
        <p:nvPicPr>
          <p:cNvPr descr="image.png" id="472" name="Google Shape;472;p44"/>
          <p:cNvPicPr preferRelativeResize="0"/>
          <p:nvPr/>
        </p:nvPicPr>
        <p:blipFill rotWithShape="1">
          <a:blip r:embed="rId3">
            <a:alphaModFix/>
          </a:blip>
          <a:srcRect b="0" l="0" r="0" t="0"/>
          <a:stretch/>
        </p:blipFill>
        <p:spPr>
          <a:xfrm>
            <a:off x="571500" y="2553316"/>
            <a:ext cx="104775" cy="180975"/>
          </a:xfrm>
          <a:prstGeom prst="rect">
            <a:avLst/>
          </a:prstGeom>
          <a:noFill/>
          <a:ln>
            <a:noFill/>
          </a:ln>
        </p:spPr>
      </p:pic>
      <p:pic>
        <p:nvPicPr>
          <p:cNvPr descr="image.png" id="473" name="Google Shape;473;p44"/>
          <p:cNvPicPr preferRelativeResize="0"/>
          <p:nvPr/>
        </p:nvPicPr>
        <p:blipFill rotWithShape="1">
          <a:blip r:embed="rId3">
            <a:alphaModFix/>
          </a:blip>
          <a:srcRect b="0" l="0" r="0" t="0"/>
          <a:stretch/>
        </p:blipFill>
        <p:spPr>
          <a:xfrm>
            <a:off x="571500" y="3673822"/>
            <a:ext cx="104775" cy="180975"/>
          </a:xfrm>
          <a:prstGeom prst="rect">
            <a:avLst/>
          </a:prstGeom>
          <a:noFill/>
          <a:ln>
            <a:noFill/>
          </a:ln>
        </p:spPr>
      </p:pic>
      <p:pic>
        <p:nvPicPr>
          <p:cNvPr descr="image.png" id="474" name="Google Shape;474;p44"/>
          <p:cNvPicPr preferRelativeResize="0"/>
          <p:nvPr/>
        </p:nvPicPr>
        <p:blipFill rotWithShape="1">
          <a:blip r:embed="rId3">
            <a:alphaModFix/>
          </a:blip>
          <a:srcRect b="0" l="0" r="0" t="0"/>
          <a:stretch/>
        </p:blipFill>
        <p:spPr>
          <a:xfrm>
            <a:off x="571500" y="4574827"/>
            <a:ext cx="104775" cy="180975"/>
          </a:xfrm>
          <a:prstGeom prst="rect">
            <a:avLst/>
          </a:prstGeom>
          <a:noFill/>
          <a:ln>
            <a:noFill/>
          </a:ln>
        </p:spPr>
      </p:pic>
      <p:sp>
        <p:nvSpPr>
          <p:cNvPr id="475" name="Google Shape;475;p44"/>
          <p:cNvSpPr/>
          <p:nvPr/>
        </p:nvSpPr>
        <p:spPr>
          <a:xfrm>
            <a:off x="9651525" y="-307725"/>
            <a:ext cx="2852100" cy="1863600"/>
          </a:xfrm>
          <a:prstGeom prst="rect">
            <a:avLst/>
          </a:prstGeom>
          <a:solidFill>
            <a:srgbClr val="1E3A8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sp>
        <p:nvSpPr>
          <p:cNvPr id="476" name="Google Shape;476;p44"/>
          <p:cNvSpPr/>
          <p:nvPr/>
        </p:nvSpPr>
        <p:spPr>
          <a:xfrm>
            <a:off x="8210375" y="-98475"/>
            <a:ext cx="4056600" cy="39534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pic>
        <p:nvPicPr>
          <p:cNvPr id="477" name="Google Shape;477;p44" title="23_Bonus_Combo_Scatter_Pregnancies_vs_Age.png"/>
          <p:cNvPicPr preferRelativeResize="0"/>
          <p:nvPr/>
        </p:nvPicPr>
        <p:blipFill>
          <a:blip r:embed="rId4">
            <a:alphaModFix/>
          </a:blip>
          <a:stretch>
            <a:fillRect/>
          </a:stretch>
        </p:blipFill>
        <p:spPr>
          <a:xfrm>
            <a:off x="6517025" y="1644813"/>
            <a:ext cx="5132677" cy="423900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6FF"/>
        </a:solidFill>
      </p:bgPr>
    </p:bg>
    <p:spTree>
      <p:nvGrpSpPr>
        <p:cNvPr id="481" name="Shape 481"/>
        <p:cNvGrpSpPr/>
        <p:nvPr/>
      </p:nvGrpSpPr>
      <p:grpSpPr>
        <a:xfrm>
          <a:off x="0" y="0"/>
          <a:ext cx="0" cy="0"/>
          <a:chOff x="0" y="0"/>
          <a:chExt cx="0" cy="0"/>
        </a:xfrm>
      </p:grpSpPr>
      <p:sp>
        <p:nvSpPr>
          <p:cNvPr id="482" name="Google Shape;482;p45"/>
          <p:cNvSpPr/>
          <p:nvPr/>
        </p:nvSpPr>
        <p:spPr>
          <a:xfrm>
            <a:off x="-2864225" y="-1194925"/>
            <a:ext cx="5600700" cy="2402925"/>
          </a:xfrm>
          <a:prstGeom prst="flowChartSor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3" name="Google Shape;483;p45"/>
          <p:cNvSpPr txBox="1"/>
          <p:nvPr/>
        </p:nvSpPr>
        <p:spPr>
          <a:xfrm>
            <a:off x="3486550" y="87140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Phân tích BMI (Chuẩn WHO)</a:t>
            </a:r>
            <a:endParaRPr/>
          </a:p>
        </p:txBody>
      </p:sp>
      <p:sp>
        <p:nvSpPr>
          <p:cNvPr id="484" name="Google Shape;484;p45"/>
          <p:cNvSpPr txBox="1"/>
          <p:nvPr/>
        </p:nvSpPr>
        <p:spPr>
          <a:xfrm>
            <a:off x="571500" y="2595562"/>
            <a:ext cx="5600700"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Tỷ lệ bệnh theo phân loại cân nặng</a:t>
            </a:r>
            <a:endParaRPr/>
          </a:p>
        </p:txBody>
      </p:sp>
      <p:sp>
        <p:nvSpPr>
          <p:cNvPr id="485" name="Google Shape;485;p45"/>
          <p:cNvSpPr txBox="1"/>
          <p:nvPr/>
        </p:nvSpPr>
        <p:spPr>
          <a:xfrm>
            <a:off x="857250" y="3071812"/>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E40AF"/>
                </a:solidFill>
                <a:latin typeface="Nunito"/>
                <a:ea typeface="Nunito"/>
                <a:cs typeface="Nunito"/>
                <a:sym typeface="Nunito"/>
              </a:rPr>
              <a:t>Chuẩn WHO:</a:t>
            </a:r>
            <a:r>
              <a:rPr b="0" i="0" lang="en-US" sz="1350" u="none" cap="none" strike="noStrike">
                <a:solidFill>
                  <a:srgbClr val="334155"/>
                </a:solidFill>
                <a:latin typeface="Nunito"/>
                <a:ea typeface="Nunito"/>
                <a:cs typeface="Nunito"/>
                <a:sym typeface="Nunito"/>
              </a:rPr>
              <a:t> Bình thường (18.5-24.9), Thừa cân (25-29.9), Béo phì (≥ 30).</a:t>
            </a:r>
            <a:endParaRPr/>
          </a:p>
        </p:txBody>
      </p:sp>
      <p:sp>
        <p:nvSpPr>
          <p:cNvPr id="486" name="Google Shape;486;p45"/>
          <p:cNvSpPr txBox="1"/>
          <p:nvPr/>
        </p:nvSpPr>
        <p:spPr>
          <a:xfrm>
            <a:off x="857250" y="3791842"/>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Người béo phì có tỷ lệ mắc đái tháo đường lên tới </a:t>
            </a:r>
            <a:r>
              <a:rPr b="1" i="0" lang="en-US" sz="1350" u="none" cap="none" strike="noStrike">
                <a:solidFill>
                  <a:srgbClr val="E11D48"/>
                </a:solidFill>
                <a:latin typeface="Nunito"/>
                <a:ea typeface="Nunito"/>
                <a:cs typeface="Nunito"/>
                <a:sym typeface="Nunito"/>
              </a:rPr>
              <a:t>45%</a:t>
            </a:r>
            <a:r>
              <a:rPr b="0" i="0" lang="en-US" sz="1350" u="none" cap="none" strike="noStrike">
                <a:solidFill>
                  <a:srgbClr val="334155"/>
                </a:solidFill>
                <a:latin typeface="Nunito"/>
                <a:ea typeface="Nunito"/>
                <a:cs typeface="Nunito"/>
                <a:sym typeface="Nunito"/>
              </a:rPr>
              <a:t>.</a:t>
            </a:r>
            <a:endParaRPr/>
          </a:p>
        </p:txBody>
      </p:sp>
      <p:sp>
        <p:nvSpPr>
          <p:cNvPr id="487" name="Google Shape;487;p45"/>
          <p:cNvSpPr txBox="1"/>
          <p:nvPr/>
        </p:nvSpPr>
        <p:spPr>
          <a:xfrm>
            <a:off x="857250" y="4237583"/>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Mức rủi ro này cao gấp 4 lần so với nhóm người gầy hoặc có thể trạng bình thường.</a:t>
            </a:r>
            <a:endParaRPr/>
          </a:p>
        </p:txBody>
      </p:sp>
      <p:pic>
        <p:nvPicPr>
          <p:cNvPr descr="image.png" id="488" name="Google Shape;488;p45"/>
          <p:cNvPicPr preferRelativeResize="0"/>
          <p:nvPr/>
        </p:nvPicPr>
        <p:blipFill rotWithShape="1">
          <a:blip r:embed="rId3">
            <a:alphaModFix/>
          </a:blip>
          <a:srcRect b="0" l="0" r="0" t="0"/>
          <a:stretch/>
        </p:blipFill>
        <p:spPr>
          <a:xfrm>
            <a:off x="571500" y="3090862"/>
            <a:ext cx="104775" cy="180975"/>
          </a:xfrm>
          <a:prstGeom prst="rect">
            <a:avLst/>
          </a:prstGeom>
          <a:noFill/>
          <a:ln>
            <a:noFill/>
          </a:ln>
        </p:spPr>
      </p:pic>
      <p:pic>
        <p:nvPicPr>
          <p:cNvPr descr="image.png" id="489" name="Google Shape;489;p45"/>
          <p:cNvPicPr preferRelativeResize="0"/>
          <p:nvPr/>
        </p:nvPicPr>
        <p:blipFill rotWithShape="1">
          <a:blip r:embed="rId3">
            <a:alphaModFix/>
          </a:blip>
          <a:srcRect b="0" l="0" r="0" t="0"/>
          <a:stretch/>
        </p:blipFill>
        <p:spPr>
          <a:xfrm>
            <a:off x="571500" y="3810892"/>
            <a:ext cx="104775" cy="180975"/>
          </a:xfrm>
          <a:prstGeom prst="rect">
            <a:avLst/>
          </a:prstGeom>
          <a:noFill/>
          <a:ln>
            <a:noFill/>
          </a:ln>
        </p:spPr>
      </p:pic>
      <p:pic>
        <p:nvPicPr>
          <p:cNvPr descr="image.png" id="490" name="Google Shape;490;p45"/>
          <p:cNvPicPr preferRelativeResize="0"/>
          <p:nvPr/>
        </p:nvPicPr>
        <p:blipFill rotWithShape="1">
          <a:blip r:embed="rId3">
            <a:alphaModFix/>
          </a:blip>
          <a:srcRect b="0" l="0" r="0" t="0"/>
          <a:stretch/>
        </p:blipFill>
        <p:spPr>
          <a:xfrm>
            <a:off x="571500" y="4256633"/>
            <a:ext cx="104775" cy="180975"/>
          </a:xfrm>
          <a:prstGeom prst="rect">
            <a:avLst/>
          </a:prstGeom>
          <a:noFill/>
          <a:ln>
            <a:noFill/>
          </a:ln>
        </p:spPr>
      </p:pic>
      <p:pic>
        <p:nvPicPr>
          <p:cNvPr id="491" name="Google Shape;491;p45" title="08_Case3_BMI_WHO_Rate.png"/>
          <p:cNvPicPr preferRelativeResize="0"/>
          <p:nvPr/>
        </p:nvPicPr>
        <p:blipFill>
          <a:blip r:embed="rId4">
            <a:alphaModFix/>
          </a:blip>
          <a:stretch>
            <a:fillRect/>
          </a:stretch>
        </p:blipFill>
        <p:spPr>
          <a:xfrm>
            <a:off x="6172200" y="1662550"/>
            <a:ext cx="5715000" cy="4176125"/>
          </a:xfrm>
          <a:prstGeom prst="rect">
            <a:avLst/>
          </a:prstGeom>
          <a:noFill/>
          <a:ln cap="flat" cmpd="sng" w="9525">
            <a:solidFill>
              <a:srgbClr val="1E3A8A"/>
            </a:solidFill>
            <a:prstDash val="solid"/>
            <a:round/>
            <a:headEnd len="sm" w="sm" type="none"/>
            <a:tailEnd len="sm" w="sm" type="none"/>
          </a:ln>
        </p:spPr>
      </p:pic>
      <p:sp>
        <p:nvSpPr>
          <p:cNvPr id="492" name="Google Shape;492;p45"/>
          <p:cNvSpPr/>
          <p:nvPr/>
        </p:nvSpPr>
        <p:spPr>
          <a:xfrm>
            <a:off x="9487450" y="-1194925"/>
            <a:ext cx="5600700" cy="2402925"/>
          </a:xfrm>
          <a:prstGeom prst="flowChartSort">
            <a:avLst/>
          </a:prstGeom>
          <a:solidFill>
            <a:srgbClr val="F8FA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3" name="Google Shape;493;p45"/>
          <p:cNvSpPr/>
          <p:nvPr/>
        </p:nvSpPr>
        <p:spPr>
          <a:xfrm>
            <a:off x="-2807875" y="5687025"/>
            <a:ext cx="5600700" cy="2402925"/>
          </a:xfrm>
          <a:prstGeom prst="flowChartSor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4" name="Google Shape;494;p45"/>
          <p:cNvSpPr/>
          <p:nvPr/>
        </p:nvSpPr>
        <p:spPr>
          <a:xfrm>
            <a:off x="9487450" y="5687025"/>
            <a:ext cx="5600700" cy="2402925"/>
          </a:xfrm>
          <a:prstGeom prst="flowChartSor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descr="image.png" id="499" name="Google Shape;499;p4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00" name="Google Shape;500;p46"/>
          <p:cNvPicPr preferRelativeResize="0"/>
          <p:nvPr/>
        </p:nvPicPr>
        <p:blipFill rotWithShape="1">
          <a:blip r:embed="rId4">
            <a:alphaModFix/>
          </a:blip>
          <a:srcRect b="0" l="0" r="0" t="0"/>
          <a:stretch/>
        </p:blipFill>
        <p:spPr>
          <a:xfrm>
            <a:off x="571500" y="1714500"/>
            <a:ext cx="11049000" cy="2590800"/>
          </a:xfrm>
          <a:prstGeom prst="rect">
            <a:avLst/>
          </a:prstGeom>
          <a:noFill/>
          <a:ln>
            <a:noFill/>
          </a:ln>
        </p:spPr>
      </p:pic>
      <p:sp>
        <p:nvSpPr>
          <p:cNvPr id="501" name="Google Shape;501;p46"/>
          <p:cNvSpPr txBox="1"/>
          <p:nvPr/>
        </p:nvSpPr>
        <p:spPr>
          <a:xfrm>
            <a:off x="571500" y="38100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Phân tích theo chỉ số BMI</a:t>
            </a:r>
            <a:endParaRPr/>
          </a:p>
        </p:txBody>
      </p:sp>
      <p:sp>
        <p:nvSpPr>
          <p:cNvPr id="502" name="Google Shape;502;p46"/>
          <p:cNvSpPr/>
          <p:nvPr/>
        </p:nvSpPr>
        <p:spPr>
          <a:xfrm>
            <a:off x="571500" y="933450"/>
            <a:ext cx="11049000" cy="1920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3" name="Google Shape;503;p46"/>
          <p:cNvSpPr txBox="1"/>
          <p:nvPr/>
        </p:nvSpPr>
        <p:spPr>
          <a:xfrm>
            <a:off x="1000125" y="1143000"/>
            <a:ext cx="11151300" cy="300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Mối quan hệ giữa béo phì và đái tháo đường</a:t>
            </a:r>
            <a:endParaRPr/>
          </a:p>
        </p:txBody>
      </p:sp>
      <p:pic>
        <p:nvPicPr>
          <p:cNvPr descr="image.png" id="504" name="Google Shape;504;p46"/>
          <p:cNvPicPr preferRelativeResize="0"/>
          <p:nvPr/>
        </p:nvPicPr>
        <p:blipFill rotWithShape="1">
          <a:blip r:embed="rId5">
            <a:alphaModFix/>
          </a:blip>
          <a:srcRect b="0" l="0" r="0" t="0"/>
          <a:stretch/>
        </p:blipFill>
        <p:spPr>
          <a:xfrm>
            <a:off x="571500" y="1185862"/>
            <a:ext cx="314325" cy="247650"/>
          </a:xfrm>
          <a:prstGeom prst="rect">
            <a:avLst/>
          </a:prstGeom>
          <a:noFill/>
          <a:ln>
            <a:noFill/>
          </a:ln>
        </p:spPr>
      </p:pic>
      <p:graphicFrame>
        <p:nvGraphicFramePr>
          <p:cNvPr id="505" name="Google Shape;505;p46"/>
          <p:cNvGraphicFramePr/>
          <p:nvPr/>
        </p:nvGraphicFramePr>
        <p:xfrm>
          <a:off x="581025" y="1724025"/>
          <a:ext cx="3000000" cy="3000000"/>
        </p:xfrm>
        <a:graphic>
          <a:graphicData uri="http://schemas.openxmlformats.org/drawingml/2006/table">
            <a:tbl>
              <a:tblPr bandRow="1" firstRow="1">
                <a:noFill/>
                <a:tableStyleId>{B6AAFA0E-85FE-4FC6-A6DD-8A86827CEECE}</a:tableStyleId>
              </a:tblPr>
              <a:tblGrid>
                <a:gridCol w="2353425"/>
                <a:gridCol w="1631600"/>
                <a:gridCol w="1929700"/>
                <a:gridCol w="2369050"/>
                <a:gridCol w="2746175"/>
              </a:tblGrid>
              <a:tr h="514350">
                <a:tc>
                  <a:txBody>
                    <a:bodyPr/>
                    <a:lstStyle/>
                    <a:p>
                      <a:pPr indent="0" lvl="0" marL="0" marR="0" rtl="0" algn="l">
                        <a:spcBef>
                          <a:spcPts val="0"/>
                        </a:spcBef>
                        <a:spcAft>
                          <a:spcPts val="0"/>
                        </a:spcAft>
                        <a:buNone/>
                      </a:pPr>
                      <a:r>
                        <a:rPr b="1" i="0" lang="en-US" sz="1500" u="none" cap="none" strike="noStrike">
                          <a:solidFill>
                            <a:srgbClr val="FFFFFF"/>
                          </a:solidFill>
                          <a:latin typeface="Playfair Display"/>
                          <a:ea typeface="Playfair Display"/>
                          <a:cs typeface="Playfair Display"/>
                          <a:sym typeface="Playfair Display"/>
                        </a:rPr>
                        <a:t>Nhóm BMI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ctr">
                        <a:spcBef>
                          <a:spcPts val="0"/>
                        </a:spcBef>
                        <a:spcAft>
                          <a:spcPts val="0"/>
                        </a:spcAft>
                        <a:buNone/>
                      </a:pPr>
                      <a:r>
                        <a:rPr b="1" i="0" lang="en-US" sz="1500" u="none" cap="none" strike="noStrike">
                          <a:solidFill>
                            <a:srgbClr val="FFFFFF"/>
                          </a:solidFill>
                          <a:latin typeface="Playfair Display"/>
                          <a:ea typeface="Playfair Display"/>
                          <a:cs typeface="Playfair Display"/>
                          <a:sym typeface="Playfair Display"/>
                        </a:rPr>
                        <a:t>Tổng số</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ctr">
                        <a:spcBef>
                          <a:spcPts val="0"/>
                        </a:spcBef>
                        <a:spcAft>
                          <a:spcPts val="0"/>
                        </a:spcAft>
                        <a:buNone/>
                      </a:pPr>
                      <a:r>
                        <a:rPr b="1" i="0" lang="en-US" sz="1500" u="none" cap="none" strike="noStrike">
                          <a:solidFill>
                            <a:srgbClr val="FFFFFF"/>
                          </a:solidFill>
                          <a:latin typeface="Playfair Display"/>
                          <a:ea typeface="Playfair Display"/>
                          <a:cs typeface="Playfair Display"/>
                          <a:sym typeface="Playfair Display"/>
                        </a:rPr>
                        <a:t>Số ca mắc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ctr">
                        <a:spcBef>
                          <a:spcPts val="0"/>
                        </a:spcBef>
                        <a:spcAft>
                          <a:spcPts val="0"/>
                        </a:spcAft>
                        <a:buNone/>
                      </a:pPr>
                      <a:r>
                        <a:rPr b="1" i="0" lang="en-US" sz="1500" u="none" cap="none" strike="noStrike">
                          <a:solidFill>
                            <a:srgbClr val="FFFFFF"/>
                          </a:solidFill>
                          <a:latin typeface="Playfair Display"/>
                          <a:ea typeface="Playfair Display"/>
                          <a:cs typeface="Playfair Display"/>
                          <a:sym typeface="Playfair Display"/>
                        </a:rPr>
                        <a:t>Tỷ lệ mắc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ctr">
                        <a:spcBef>
                          <a:spcPts val="0"/>
                        </a:spcBef>
                        <a:spcAft>
                          <a:spcPts val="0"/>
                        </a:spcAft>
                        <a:buNone/>
                      </a:pPr>
                      <a:r>
                        <a:rPr b="1" i="0" lang="en-US" sz="1500" u="none" cap="none" strike="noStrike">
                          <a:solidFill>
                            <a:srgbClr val="FFFFFF"/>
                          </a:solidFill>
                          <a:latin typeface="Playfair Display"/>
                          <a:ea typeface="Playfair Display"/>
                          <a:cs typeface="Playfair Display"/>
                          <a:sym typeface="Playfair Display"/>
                        </a:rPr>
                        <a:t>BMI trung bình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r>
              <a:tr h="514350">
                <a:tc>
                  <a:txBody>
                    <a:bodyPr/>
                    <a:lstStyle/>
                    <a:p>
                      <a:pPr indent="0" lvl="0" marL="0" marR="0" rtl="0" algn="l">
                        <a:spcBef>
                          <a:spcPts val="0"/>
                        </a:spcBef>
                        <a:spcAft>
                          <a:spcPts val="0"/>
                        </a:spcAft>
                        <a:buNone/>
                      </a:pPr>
                      <a:r>
                        <a:rPr b="1" i="0" lang="en-US" sz="1350" u="none" cap="none" strike="noStrike">
                          <a:solidFill>
                            <a:srgbClr val="1E3A8A"/>
                          </a:solidFill>
                          <a:latin typeface="Nunito"/>
                          <a:ea typeface="Nunito"/>
                          <a:cs typeface="Nunito"/>
                          <a:sym typeface="Nunito"/>
                        </a:rPr>
                        <a:t>Gầy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Nunito"/>
                          <a:ea typeface="Nunito"/>
                          <a:cs typeface="Nunito"/>
                          <a:sym typeface="Nunito"/>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Nunito"/>
                          <a:ea typeface="Nunito"/>
                          <a:cs typeface="Nunito"/>
                          <a:sym typeface="Nunito"/>
                        </a:rPr>
                        <a:t>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Nunito"/>
                          <a:ea typeface="Nunito"/>
                          <a:cs typeface="Nunito"/>
                          <a:sym typeface="Nunito"/>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Nunito"/>
                          <a:ea typeface="Nunito"/>
                          <a:cs typeface="Nunito"/>
                          <a:sym typeface="Nunito"/>
                        </a:rPr>
                        <a:t>18.2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14350">
                <a:tc>
                  <a:txBody>
                    <a:bodyPr/>
                    <a:lstStyle/>
                    <a:p>
                      <a:pPr indent="0" lvl="0" marL="0" marR="0" rtl="0" algn="l">
                        <a:spcBef>
                          <a:spcPts val="0"/>
                        </a:spcBef>
                        <a:spcAft>
                          <a:spcPts val="0"/>
                        </a:spcAft>
                        <a:buNone/>
                      </a:pPr>
                      <a:r>
                        <a:rPr b="1" i="0" lang="en-US" sz="1350" u="none" cap="none" strike="noStrike">
                          <a:solidFill>
                            <a:srgbClr val="1E3A8A"/>
                          </a:solidFill>
                          <a:latin typeface="Nunito"/>
                          <a:ea typeface="Nunito"/>
                          <a:cs typeface="Nunito"/>
                          <a:sym typeface="Nunito"/>
                        </a:rPr>
                        <a:t>Bình thường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475569"/>
                          </a:solidFill>
                          <a:latin typeface="Nunito"/>
                          <a:ea typeface="Nunito"/>
                          <a:cs typeface="Nunito"/>
                          <a:sym typeface="Nunito"/>
                        </a:rPr>
                        <a:t>95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475569"/>
                          </a:solidFill>
                          <a:latin typeface="Nunito"/>
                          <a:ea typeface="Nunito"/>
                          <a:cs typeface="Nunito"/>
                          <a:sym typeface="Nunito"/>
                        </a:rPr>
                        <a:t>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475569"/>
                          </a:solidFill>
                          <a:latin typeface="Nunito"/>
                          <a:ea typeface="Nunito"/>
                          <a:cs typeface="Nunito"/>
                          <a:sym typeface="Nunito"/>
                        </a:rPr>
                        <a:t>7.0%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475569"/>
                          </a:solidFill>
                          <a:latin typeface="Nunito"/>
                          <a:ea typeface="Nunito"/>
                          <a:cs typeface="Nunito"/>
                          <a:sym typeface="Nunito"/>
                        </a:rPr>
                        <a:t>22.8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14350">
                <a:tc>
                  <a:txBody>
                    <a:bodyPr/>
                    <a:lstStyle/>
                    <a:p>
                      <a:pPr indent="0" lvl="0" marL="0" marR="0" rtl="0" algn="l">
                        <a:spcBef>
                          <a:spcPts val="0"/>
                        </a:spcBef>
                        <a:spcAft>
                          <a:spcPts val="0"/>
                        </a:spcAft>
                        <a:buNone/>
                      </a:pPr>
                      <a:r>
                        <a:rPr b="1" i="0" lang="en-US" sz="1350" u="none" cap="none" strike="noStrike">
                          <a:solidFill>
                            <a:srgbClr val="1E3A8A"/>
                          </a:solidFill>
                          <a:latin typeface="Nunito"/>
                          <a:ea typeface="Nunito"/>
                          <a:cs typeface="Nunito"/>
                          <a:sym typeface="Nunito"/>
                        </a:rPr>
                        <a:t>Thừa cân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Nunito"/>
                          <a:ea typeface="Nunito"/>
                          <a:cs typeface="Nunito"/>
                          <a:sym typeface="Nunito"/>
                        </a:rPr>
                        <a:t>170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Nunito"/>
                          <a:ea typeface="Nunito"/>
                          <a:cs typeface="Nunito"/>
                          <a:sym typeface="Nunito"/>
                        </a:rPr>
                        <a:t>38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Nunito"/>
                          <a:ea typeface="Nunito"/>
                          <a:cs typeface="Nunito"/>
                          <a:sym typeface="Nunito"/>
                        </a:rPr>
                        <a:t>22.0%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475569"/>
                          </a:solidFill>
                          <a:latin typeface="Nunito"/>
                          <a:ea typeface="Nunito"/>
                          <a:cs typeface="Nunito"/>
                          <a:sym typeface="Nunito"/>
                        </a:rPr>
                        <a:t>27.5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14350">
                <a:tc>
                  <a:txBody>
                    <a:bodyPr/>
                    <a:lstStyle/>
                    <a:p>
                      <a:pPr indent="0" lvl="0" marL="0" marR="0" rtl="0" algn="l">
                        <a:spcBef>
                          <a:spcPts val="0"/>
                        </a:spcBef>
                        <a:spcAft>
                          <a:spcPts val="0"/>
                        </a:spcAft>
                        <a:buNone/>
                      </a:pPr>
                      <a:r>
                        <a:rPr b="1" i="0" lang="en-US" sz="1350" u="none" cap="none" strike="noStrike">
                          <a:solidFill>
                            <a:srgbClr val="E11D48"/>
                          </a:solidFill>
                          <a:latin typeface="Nunito"/>
                          <a:ea typeface="Nunito"/>
                          <a:cs typeface="Nunito"/>
                          <a:sym typeface="Nunito"/>
                        </a:rPr>
                        <a:t>Béo phì</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1F2"/>
                    </a:solidFill>
                  </a:tcPr>
                </a:tc>
                <a:tc>
                  <a:txBody>
                    <a:bodyPr/>
                    <a:lstStyle/>
                    <a:p>
                      <a:pPr indent="0" lvl="0" marL="0" marR="0" rtl="0" algn="ctr">
                        <a:spcBef>
                          <a:spcPts val="0"/>
                        </a:spcBef>
                        <a:spcAft>
                          <a:spcPts val="0"/>
                        </a:spcAft>
                        <a:buNone/>
                      </a:pPr>
                      <a:r>
                        <a:rPr b="1" i="0" lang="en-US" sz="1350" u="none" cap="none" strike="noStrike">
                          <a:solidFill>
                            <a:srgbClr val="E11D48"/>
                          </a:solidFill>
                          <a:latin typeface="Nunito"/>
                          <a:ea typeface="Nunito"/>
                          <a:cs typeface="Nunito"/>
                          <a:sym typeface="Nunito"/>
                        </a:rPr>
                        <a:t>451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1F2"/>
                    </a:solidFill>
                  </a:tcPr>
                </a:tc>
                <a:tc>
                  <a:txBody>
                    <a:bodyPr/>
                    <a:lstStyle/>
                    <a:p>
                      <a:pPr indent="0" lvl="0" marL="0" marR="0" rtl="0" algn="ctr">
                        <a:spcBef>
                          <a:spcPts val="0"/>
                        </a:spcBef>
                        <a:spcAft>
                          <a:spcPts val="0"/>
                        </a:spcAft>
                        <a:buNone/>
                      </a:pPr>
                      <a:r>
                        <a:rPr b="1" i="0" lang="en-US" sz="1350" u="none" cap="none" strike="noStrike">
                          <a:solidFill>
                            <a:srgbClr val="E11D48"/>
                          </a:solidFill>
                          <a:latin typeface="Nunito"/>
                          <a:ea typeface="Nunito"/>
                          <a:cs typeface="Nunito"/>
                          <a:sym typeface="Nunito"/>
                        </a:rPr>
                        <a:t>203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1F2"/>
                    </a:solidFill>
                  </a:tcPr>
                </a:tc>
                <a:tc>
                  <a:txBody>
                    <a:bodyPr/>
                    <a:lstStyle/>
                    <a:p>
                      <a:pPr indent="0" lvl="0" marL="0" marR="0" rtl="0" algn="ctr">
                        <a:spcBef>
                          <a:spcPts val="0"/>
                        </a:spcBef>
                        <a:spcAft>
                          <a:spcPts val="0"/>
                        </a:spcAft>
                        <a:buNone/>
                      </a:pPr>
                      <a:r>
                        <a:rPr b="1" i="0" lang="en-US" sz="1350" u="none" cap="none" strike="noStrike">
                          <a:solidFill>
                            <a:srgbClr val="E11D48"/>
                          </a:solidFill>
                          <a:latin typeface="Nunito"/>
                          <a:ea typeface="Nunito"/>
                          <a:cs typeface="Nunito"/>
                          <a:sym typeface="Nunito"/>
                        </a:rPr>
                        <a:t>45.0%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1F2"/>
                    </a:solidFill>
                  </a:tcPr>
                </a:tc>
                <a:tc>
                  <a:txBody>
                    <a:bodyPr/>
                    <a:lstStyle/>
                    <a:p>
                      <a:pPr indent="0" lvl="0" marL="0" marR="0" rtl="0" algn="ctr">
                        <a:spcBef>
                          <a:spcPts val="0"/>
                        </a:spcBef>
                        <a:spcAft>
                          <a:spcPts val="0"/>
                        </a:spcAft>
                        <a:buNone/>
                      </a:pPr>
                      <a:r>
                        <a:rPr b="1" i="0" lang="en-US" sz="1350" u="none" cap="none" strike="noStrike">
                          <a:solidFill>
                            <a:srgbClr val="E11D48"/>
                          </a:solidFill>
                          <a:latin typeface="Nunito"/>
                          <a:ea typeface="Nunito"/>
                          <a:cs typeface="Nunito"/>
                          <a:sym typeface="Nunito"/>
                        </a:rPr>
                        <a:t>36.5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1F2"/>
                    </a:solidFill>
                  </a:tcPr>
                </a:tc>
              </a:tr>
            </a:tbl>
          </a:graphicData>
        </a:graphic>
      </p:graphicFrame>
      <p:pic>
        <p:nvPicPr>
          <p:cNvPr descr="image.png" id="506" name="Google Shape;506;p46"/>
          <p:cNvPicPr preferRelativeResize="0"/>
          <p:nvPr/>
        </p:nvPicPr>
        <p:blipFill rotWithShape="1">
          <a:blip r:embed="rId6">
            <a:alphaModFix/>
          </a:blip>
          <a:srcRect b="0" l="0" r="0" t="0"/>
          <a:stretch/>
        </p:blipFill>
        <p:spPr>
          <a:xfrm>
            <a:off x="857250" y="4800600"/>
            <a:ext cx="228600" cy="228600"/>
          </a:xfrm>
          <a:prstGeom prst="rect">
            <a:avLst/>
          </a:prstGeom>
          <a:noFill/>
          <a:ln>
            <a:noFill/>
          </a:ln>
        </p:spPr>
      </p:pic>
      <p:sp>
        <p:nvSpPr>
          <p:cNvPr id="507" name="Google Shape;507;p46"/>
          <p:cNvSpPr txBox="1"/>
          <p:nvPr/>
        </p:nvSpPr>
        <p:spPr>
          <a:xfrm>
            <a:off x="1228725" y="4781550"/>
            <a:ext cx="4486200" cy="8241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334155"/>
                </a:solidFill>
                <a:latin typeface="Nunito"/>
                <a:ea typeface="Nunito"/>
                <a:cs typeface="Nunito"/>
                <a:sym typeface="Nunito"/>
              </a:rPr>
              <a:t>Tỷ lệ mắc bệnh tăng dần theo mức độ BMI, </a:t>
            </a:r>
            <a:r>
              <a:rPr b="1" i="0" lang="en-US" sz="1275" u="none" cap="none" strike="noStrike">
                <a:solidFill>
                  <a:srgbClr val="BE123C"/>
                </a:solidFill>
                <a:latin typeface="Nunito"/>
                <a:ea typeface="Nunito"/>
                <a:cs typeface="Nunito"/>
                <a:sym typeface="Nunito"/>
              </a:rPr>
              <a:t>cao nhất ở nhóm béo phì (45%)</a:t>
            </a:r>
            <a:r>
              <a:rPr b="0" i="0" lang="en-US" sz="1275" u="none" cap="none" strike="noStrike">
                <a:solidFill>
                  <a:srgbClr val="334155"/>
                </a:solidFill>
                <a:latin typeface="Nunito"/>
                <a:ea typeface="Nunito"/>
                <a:cs typeface="Nunito"/>
                <a:sym typeface="Nunito"/>
              </a:rPr>
              <a:t>. Người béo phì có nguy cơ mắc đái tháo đường cao gấp </a:t>
            </a:r>
            <a:r>
              <a:rPr b="1" i="0" lang="en-US" sz="1275" u="none" cap="none" strike="noStrike">
                <a:solidFill>
                  <a:srgbClr val="BE123C"/>
                </a:solidFill>
                <a:latin typeface="Nunito"/>
                <a:ea typeface="Nunito"/>
                <a:cs typeface="Nunito"/>
                <a:sym typeface="Nunito"/>
              </a:rPr>
              <a:t>4.07</a:t>
            </a:r>
            <a:r>
              <a:rPr b="0" i="0" lang="en-US" sz="1275" u="none" cap="none" strike="noStrike">
                <a:solidFill>
                  <a:srgbClr val="334155"/>
                </a:solidFill>
                <a:latin typeface="Nunito"/>
                <a:ea typeface="Nunito"/>
                <a:cs typeface="Nunito"/>
                <a:sym typeface="Nunito"/>
              </a:rPr>
              <a:t> so với người không béo phì (odds ratio = 4.07).</a:t>
            </a:r>
            <a:endParaRPr/>
          </a:p>
        </p:txBody>
      </p:sp>
      <p:pic>
        <p:nvPicPr>
          <p:cNvPr descr="image.png" id="508" name="Google Shape;508;p46"/>
          <p:cNvPicPr preferRelativeResize="0"/>
          <p:nvPr/>
        </p:nvPicPr>
        <p:blipFill rotWithShape="1">
          <a:blip r:embed="rId7">
            <a:alphaModFix/>
          </a:blip>
          <a:srcRect b="0" l="0" r="0" t="0"/>
          <a:stretch/>
        </p:blipFill>
        <p:spPr>
          <a:xfrm>
            <a:off x="6524625" y="4800600"/>
            <a:ext cx="228600" cy="228600"/>
          </a:xfrm>
          <a:prstGeom prst="rect">
            <a:avLst/>
          </a:prstGeom>
          <a:noFill/>
          <a:ln>
            <a:noFill/>
          </a:ln>
        </p:spPr>
      </p:pic>
      <p:sp>
        <p:nvSpPr>
          <p:cNvPr id="509" name="Google Shape;509;p46"/>
          <p:cNvSpPr txBox="1"/>
          <p:nvPr/>
        </p:nvSpPr>
        <p:spPr>
          <a:xfrm>
            <a:off x="6896100" y="4781550"/>
            <a:ext cx="44862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1" i="0" lang="en-US" sz="1275" u="none" cap="none" strike="noStrike">
                <a:solidFill>
                  <a:srgbClr val="1E3A8A"/>
                </a:solidFill>
                <a:latin typeface="Nunito"/>
                <a:ea typeface="Nunito"/>
                <a:cs typeface="Nunito"/>
                <a:sym typeface="Nunito"/>
              </a:rPr>
              <a:t>Cơ chế sinh bệnh:</a:t>
            </a:r>
            <a:r>
              <a:rPr b="0" i="0" lang="en-US" sz="1275" u="none" cap="none" strike="noStrike">
                <a:solidFill>
                  <a:srgbClr val="334155"/>
                </a:solidFill>
                <a:latin typeface="Nunito"/>
                <a:ea typeface="Nunito"/>
                <a:cs typeface="Nunito"/>
                <a:sym typeface="Nunito"/>
              </a:rPr>
              <a:t> Béo phì làm tăng kháng insulin, tăng viêm mãn tính, rối loạn lipid máu, stress oxy hóa.</a:t>
            </a:r>
            <a:endParaRPr/>
          </a:p>
        </p:txBody>
      </p:sp>
      <p:sp>
        <p:nvSpPr>
          <p:cNvPr id="510" name="Google Shape;510;p46"/>
          <p:cNvSpPr/>
          <p:nvPr/>
        </p:nvSpPr>
        <p:spPr>
          <a:xfrm>
            <a:off x="581025" y="2776537"/>
            <a:ext cx="23535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46"/>
          <p:cNvSpPr/>
          <p:nvPr/>
        </p:nvSpPr>
        <p:spPr>
          <a:xfrm>
            <a:off x="2934444" y="2776537"/>
            <a:ext cx="16317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2" name="Google Shape;512;p46"/>
          <p:cNvSpPr/>
          <p:nvPr/>
        </p:nvSpPr>
        <p:spPr>
          <a:xfrm>
            <a:off x="4566046" y="2776537"/>
            <a:ext cx="19296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3" name="Google Shape;513;p46"/>
          <p:cNvSpPr/>
          <p:nvPr/>
        </p:nvSpPr>
        <p:spPr>
          <a:xfrm>
            <a:off x="6495752" y="2776537"/>
            <a:ext cx="23691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4" name="Google Shape;514;p46"/>
          <p:cNvSpPr/>
          <p:nvPr/>
        </p:nvSpPr>
        <p:spPr>
          <a:xfrm>
            <a:off x="8864798" y="2776537"/>
            <a:ext cx="27462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5" name="Google Shape;515;p46"/>
          <p:cNvSpPr/>
          <p:nvPr/>
        </p:nvSpPr>
        <p:spPr>
          <a:xfrm>
            <a:off x="581025" y="3281362"/>
            <a:ext cx="23535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6" name="Google Shape;516;p46"/>
          <p:cNvSpPr/>
          <p:nvPr/>
        </p:nvSpPr>
        <p:spPr>
          <a:xfrm>
            <a:off x="2934444" y="3281362"/>
            <a:ext cx="16317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7" name="Google Shape;517;p46"/>
          <p:cNvSpPr/>
          <p:nvPr/>
        </p:nvSpPr>
        <p:spPr>
          <a:xfrm>
            <a:off x="4566046" y="3281362"/>
            <a:ext cx="19296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8" name="Google Shape;518;p46"/>
          <p:cNvSpPr/>
          <p:nvPr/>
        </p:nvSpPr>
        <p:spPr>
          <a:xfrm>
            <a:off x="6495752" y="3281362"/>
            <a:ext cx="23691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9" name="Google Shape;519;p46"/>
          <p:cNvSpPr/>
          <p:nvPr/>
        </p:nvSpPr>
        <p:spPr>
          <a:xfrm>
            <a:off x="8864798" y="3281362"/>
            <a:ext cx="27462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0" name="Google Shape;520;p46"/>
          <p:cNvSpPr/>
          <p:nvPr/>
        </p:nvSpPr>
        <p:spPr>
          <a:xfrm>
            <a:off x="581025" y="3786187"/>
            <a:ext cx="23535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1" name="Google Shape;521;p46"/>
          <p:cNvSpPr/>
          <p:nvPr/>
        </p:nvSpPr>
        <p:spPr>
          <a:xfrm>
            <a:off x="2934444" y="3786187"/>
            <a:ext cx="16317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2" name="Google Shape;522;p46"/>
          <p:cNvSpPr/>
          <p:nvPr/>
        </p:nvSpPr>
        <p:spPr>
          <a:xfrm>
            <a:off x="4566046" y="3786187"/>
            <a:ext cx="19296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46"/>
          <p:cNvSpPr/>
          <p:nvPr/>
        </p:nvSpPr>
        <p:spPr>
          <a:xfrm>
            <a:off x="6495752" y="3786187"/>
            <a:ext cx="23691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4" name="Google Shape;524;p46"/>
          <p:cNvSpPr/>
          <p:nvPr/>
        </p:nvSpPr>
        <p:spPr>
          <a:xfrm>
            <a:off x="8864798" y="3786187"/>
            <a:ext cx="27462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528" name="Shape 528"/>
        <p:cNvGrpSpPr/>
        <p:nvPr/>
      </p:nvGrpSpPr>
      <p:grpSpPr>
        <a:xfrm>
          <a:off x="0" y="0"/>
          <a:ext cx="0" cy="0"/>
          <a:chOff x="0" y="0"/>
          <a:chExt cx="0" cy="0"/>
        </a:xfrm>
      </p:grpSpPr>
      <p:sp>
        <p:nvSpPr>
          <p:cNvPr id="529" name="Google Shape;529;p47"/>
          <p:cNvSpPr txBox="1"/>
          <p:nvPr/>
        </p:nvSpPr>
        <p:spPr>
          <a:xfrm>
            <a:off x="154850" y="718000"/>
            <a:ext cx="50742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Playfair Display"/>
                <a:ea typeface="Playfair Display"/>
                <a:cs typeface="Playfair Display"/>
                <a:sym typeface="Playfair Display"/>
              </a:rPr>
              <a:t>Phân tích Phân bố Mật độ: Chỉ số BMI</a:t>
            </a:r>
            <a:endParaRPr/>
          </a:p>
        </p:txBody>
      </p:sp>
      <p:sp>
        <p:nvSpPr>
          <p:cNvPr id="530" name="Google Shape;530;p47"/>
          <p:cNvSpPr txBox="1"/>
          <p:nvPr/>
        </p:nvSpPr>
        <p:spPr>
          <a:xfrm>
            <a:off x="67476" y="1806775"/>
            <a:ext cx="56871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FFFFFF"/>
                </a:solidFill>
                <a:latin typeface="Playfair Display"/>
                <a:ea typeface="Playfair Display"/>
                <a:cs typeface="Playfair Display"/>
                <a:sym typeface="Playfair Display"/>
              </a:rPr>
              <a:t>Biến thiên và Sự dịch chuyển Phân bố (KDE Plot)</a:t>
            </a:r>
            <a:endParaRPr/>
          </a:p>
        </p:txBody>
      </p:sp>
      <p:sp>
        <p:nvSpPr>
          <p:cNvPr id="531" name="Google Shape;531;p47"/>
          <p:cNvSpPr txBox="1"/>
          <p:nvPr/>
        </p:nvSpPr>
        <p:spPr>
          <a:xfrm>
            <a:off x="371050" y="2355041"/>
            <a:ext cx="48579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latin typeface="Nunito"/>
                <a:ea typeface="Nunito"/>
                <a:cs typeface="Nunito"/>
                <a:sym typeface="Nunito"/>
              </a:rPr>
              <a:t>Trực quan hóa Phân bố (Distribution):</a:t>
            </a:r>
            <a:r>
              <a:rPr lang="en-US" sz="1100">
                <a:solidFill>
                  <a:schemeClr val="lt1"/>
                </a:solidFill>
                <a:latin typeface="Nunito"/>
                <a:ea typeface="Nunito"/>
                <a:cs typeface="Nunito"/>
                <a:sym typeface="Nunito"/>
              </a:rPr>
              <a:t> Biểu đồ KDE làm mượt (smooth) biểu đồ tần suất (histogram), giúp ta nhìn rõ hình dáng phân bố của dữ liệu BMI (đã chuẩn hóa). Cả hai nhóm đều có xu hướng phân bố gần giống phân bố chuẩn nhưng có hơi lệch phải (right-skewed).</a:t>
            </a:r>
            <a:endParaRPr>
              <a:solidFill>
                <a:schemeClr val="lt1"/>
              </a:solidFill>
              <a:latin typeface="Nunito"/>
              <a:ea typeface="Nunito"/>
              <a:cs typeface="Nunito"/>
              <a:sym typeface="Nunito"/>
            </a:endParaRPr>
          </a:p>
        </p:txBody>
      </p:sp>
      <p:sp>
        <p:nvSpPr>
          <p:cNvPr id="532" name="Google Shape;532;p47"/>
          <p:cNvSpPr txBox="1"/>
          <p:nvPr/>
        </p:nvSpPr>
        <p:spPr>
          <a:xfrm>
            <a:off x="371050" y="3584925"/>
            <a:ext cx="48579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latin typeface="Nunito"/>
                <a:ea typeface="Nunito"/>
                <a:cs typeface="Nunito"/>
                <a:sym typeface="Nunito"/>
              </a:rPr>
              <a:t>Sự dịch chuyển của nhóm Bệnh:</a:t>
            </a:r>
            <a:r>
              <a:rPr lang="en-US" sz="1100">
                <a:solidFill>
                  <a:schemeClr val="lt1"/>
                </a:solidFill>
                <a:latin typeface="Nunito"/>
                <a:ea typeface="Nunito"/>
                <a:cs typeface="Nunito"/>
                <a:sym typeface="Nunito"/>
              </a:rPr>
              <a:t> Đỉnh (peak) của đường cong Outcome = 1 (màu đỏ) dịch chuyển rõ rệt về phía bên phải so với đỉnh của Outcome = 0 (màu xanh). Điều này cho thấy nhóm mang nhãn dương tính có mức BMI trung bình cao hơn.</a:t>
            </a:r>
            <a:endParaRPr>
              <a:solidFill>
                <a:schemeClr val="lt1"/>
              </a:solidFill>
              <a:latin typeface="Nunito"/>
              <a:ea typeface="Nunito"/>
              <a:cs typeface="Nunito"/>
              <a:sym typeface="Nunito"/>
            </a:endParaRPr>
          </a:p>
        </p:txBody>
      </p:sp>
      <p:pic>
        <p:nvPicPr>
          <p:cNvPr descr="image.png" id="533" name="Google Shape;533;p47"/>
          <p:cNvPicPr preferRelativeResize="0"/>
          <p:nvPr/>
        </p:nvPicPr>
        <p:blipFill rotWithShape="1">
          <a:blip r:embed="rId3">
            <a:alphaModFix/>
          </a:blip>
          <a:srcRect b="0" l="0" r="0" t="0"/>
          <a:stretch/>
        </p:blipFill>
        <p:spPr>
          <a:xfrm>
            <a:off x="195275" y="2364541"/>
            <a:ext cx="104775" cy="180975"/>
          </a:xfrm>
          <a:prstGeom prst="rect">
            <a:avLst/>
          </a:prstGeom>
          <a:noFill/>
          <a:ln>
            <a:noFill/>
          </a:ln>
        </p:spPr>
      </p:pic>
      <p:pic>
        <p:nvPicPr>
          <p:cNvPr descr="image.png" id="534" name="Google Shape;534;p47"/>
          <p:cNvPicPr preferRelativeResize="0"/>
          <p:nvPr/>
        </p:nvPicPr>
        <p:blipFill rotWithShape="1">
          <a:blip r:embed="rId3">
            <a:alphaModFix/>
          </a:blip>
          <a:srcRect b="0" l="0" r="0" t="0"/>
          <a:stretch/>
        </p:blipFill>
        <p:spPr>
          <a:xfrm>
            <a:off x="195275" y="3584928"/>
            <a:ext cx="104775" cy="180975"/>
          </a:xfrm>
          <a:prstGeom prst="rect">
            <a:avLst/>
          </a:prstGeom>
          <a:noFill/>
          <a:ln>
            <a:noFill/>
          </a:ln>
        </p:spPr>
      </p:pic>
      <p:sp>
        <p:nvSpPr>
          <p:cNvPr id="535" name="Google Shape;535;p47"/>
          <p:cNvSpPr/>
          <p:nvPr/>
        </p:nvSpPr>
        <p:spPr>
          <a:xfrm>
            <a:off x="9334500" y="-17240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536" name="Google Shape;536;p47"/>
          <p:cNvSpPr/>
          <p:nvPr/>
        </p:nvSpPr>
        <p:spPr>
          <a:xfrm>
            <a:off x="-826600" y="500412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537" name="Google Shape;537;p47"/>
          <p:cNvSpPr/>
          <p:nvPr/>
        </p:nvSpPr>
        <p:spPr>
          <a:xfrm>
            <a:off x="1180900" y="601957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538" name="Google Shape;538;p47"/>
          <p:cNvSpPr/>
          <p:nvPr/>
        </p:nvSpPr>
        <p:spPr>
          <a:xfrm>
            <a:off x="7393725" y="-24545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pic>
        <p:nvPicPr>
          <p:cNvPr id="539" name="Google Shape;539;p47" title="50_Bonus_Single_KDE_BMI.png"/>
          <p:cNvPicPr preferRelativeResize="0"/>
          <p:nvPr/>
        </p:nvPicPr>
        <p:blipFill>
          <a:blip r:embed="rId4">
            <a:alphaModFix/>
          </a:blip>
          <a:stretch>
            <a:fillRect/>
          </a:stretch>
        </p:blipFill>
        <p:spPr>
          <a:xfrm>
            <a:off x="5629013" y="976375"/>
            <a:ext cx="6386914" cy="5264543"/>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3" name="Shape 543"/>
        <p:cNvGrpSpPr/>
        <p:nvPr/>
      </p:nvGrpSpPr>
      <p:grpSpPr>
        <a:xfrm>
          <a:off x="0" y="0"/>
          <a:ext cx="0" cy="0"/>
          <a:chOff x="0" y="0"/>
          <a:chExt cx="0" cy="0"/>
        </a:xfrm>
      </p:grpSpPr>
      <p:pic>
        <p:nvPicPr>
          <p:cNvPr id="544" name="Google Shape;544;p48" title="32_Bonus_Combo_Scatter_BloodPressure_vs_BMI.png"/>
          <p:cNvPicPr preferRelativeResize="0"/>
          <p:nvPr/>
        </p:nvPicPr>
        <p:blipFill rotWithShape="1">
          <a:blip r:embed="rId3">
            <a:alphaModFix/>
          </a:blip>
          <a:srcRect b="0" l="0" r="0" t="0"/>
          <a:stretch/>
        </p:blipFill>
        <p:spPr>
          <a:xfrm>
            <a:off x="267950" y="1611159"/>
            <a:ext cx="5600701" cy="4625529"/>
          </a:xfrm>
          <a:prstGeom prst="rect">
            <a:avLst/>
          </a:prstGeom>
          <a:noFill/>
          <a:ln cap="flat" cmpd="sng" w="19050">
            <a:solidFill>
              <a:schemeClr val="dk2"/>
            </a:solidFill>
            <a:prstDash val="solid"/>
            <a:round/>
            <a:headEnd len="sm" w="sm" type="none"/>
            <a:tailEnd len="sm" w="sm" type="none"/>
          </a:ln>
        </p:spPr>
      </p:pic>
      <p:sp>
        <p:nvSpPr>
          <p:cNvPr id="545" name="Google Shape;545;p48"/>
          <p:cNvSpPr txBox="1"/>
          <p:nvPr/>
        </p:nvSpPr>
        <p:spPr>
          <a:xfrm>
            <a:off x="571500" y="476250"/>
            <a:ext cx="116205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1E3A8A"/>
                </a:solidFill>
                <a:latin typeface="Playfair Display"/>
                <a:ea typeface="Playfair Display"/>
                <a:cs typeface="Playfair Display"/>
                <a:sym typeface="Playfair Display"/>
              </a:rPr>
              <a:t>Phân tích Khám phá (EDA): Mối quan hệ </a:t>
            </a:r>
            <a:r>
              <a:rPr b="1" lang="en-US" sz="2700">
                <a:solidFill>
                  <a:srgbClr val="1E3A8A"/>
                </a:solidFill>
                <a:latin typeface="Playfair Display"/>
                <a:ea typeface="Playfair Display"/>
                <a:cs typeface="Playfair Display"/>
                <a:sym typeface="Playfair Display"/>
              </a:rPr>
              <a:t>BMI</a:t>
            </a:r>
            <a:r>
              <a:rPr lang="en-US">
                <a:solidFill>
                  <a:schemeClr val="dk1"/>
                </a:solidFill>
              </a:rPr>
              <a:t> </a:t>
            </a:r>
            <a:r>
              <a:rPr b="1" lang="en-US" sz="2700">
                <a:solidFill>
                  <a:srgbClr val="1E3A8A"/>
                </a:solidFill>
                <a:latin typeface="Playfair Display"/>
                <a:ea typeface="Playfair Display"/>
                <a:cs typeface="Playfair Display"/>
                <a:sym typeface="Playfair Display"/>
              </a:rPr>
              <a:t>và </a:t>
            </a:r>
            <a:r>
              <a:rPr b="1" lang="en-US" sz="2700">
                <a:solidFill>
                  <a:srgbClr val="1E3A8A"/>
                </a:solidFill>
                <a:latin typeface="Playfair Display"/>
                <a:ea typeface="Playfair Display"/>
                <a:cs typeface="Playfair Display"/>
                <a:sym typeface="Playfair Display"/>
              </a:rPr>
              <a:t>BloodPressure</a:t>
            </a:r>
            <a:endParaRPr/>
          </a:p>
        </p:txBody>
      </p:sp>
      <p:sp>
        <p:nvSpPr>
          <p:cNvPr id="546" name="Google Shape;546;p48"/>
          <p:cNvSpPr txBox="1"/>
          <p:nvPr/>
        </p:nvSpPr>
        <p:spPr>
          <a:xfrm>
            <a:off x="6193325" y="1592866"/>
            <a:ext cx="560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2563EB"/>
                </a:solidFill>
                <a:latin typeface="Playfair Display"/>
                <a:ea typeface="Playfair Display"/>
                <a:cs typeface="Playfair Display"/>
                <a:sym typeface="Playfair Display"/>
              </a:rPr>
              <a:t>Mức độ chồng chéo và Khả năng phân tách lớp</a:t>
            </a:r>
            <a:endParaRPr/>
          </a:p>
        </p:txBody>
      </p:sp>
      <p:sp>
        <p:nvSpPr>
          <p:cNvPr id="547" name="Google Shape;547;p48"/>
          <p:cNvSpPr txBox="1"/>
          <p:nvPr/>
        </p:nvSpPr>
        <p:spPr>
          <a:xfrm>
            <a:off x="6429725" y="2508116"/>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Sự pha trộn dữ liệu cực lớn:</a:t>
            </a:r>
            <a:r>
              <a:rPr lang="en-US" sz="1100">
                <a:solidFill>
                  <a:schemeClr val="dk1"/>
                </a:solidFill>
              </a:rPr>
              <a:t> Khác với cặp Glucose-BMI, biểu đồ tán xạ giữa Huyết áp (BloodPressure) và BMI cho thấy sự chồng chéo gần như hoàn toàn giữa hai nhóm nhãn (Outcome 0 và 1) ở khu vực trung tâm (quanh Z-score = 0).</a:t>
            </a:r>
            <a:endParaRPr/>
          </a:p>
        </p:txBody>
      </p:sp>
      <p:sp>
        <p:nvSpPr>
          <p:cNvPr id="548" name="Google Shape;548;p48"/>
          <p:cNvSpPr txBox="1"/>
          <p:nvPr/>
        </p:nvSpPr>
        <p:spPr>
          <a:xfrm>
            <a:off x="6479075" y="3568422"/>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Khả năng dự đoán độc lập thấp:</a:t>
            </a:r>
            <a:r>
              <a:rPr lang="en-US" sz="1100">
                <a:solidFill>
                  <a:schemeClr val="dk1"/>
                </a:solidFill>
              </a:rPr>
              <a:t> Ranh giới phân lớp mờ nhạt chứng tỏ rằng nếu chỉ sử dụng riêng rẽ đặc trưng BloodPressure, mô hình Machine Learning sẽ rất khó để phân biệt bệnh nhân có mắc tiểu đường hay không.</a:t>
            </a:r>
            <a:endParaRPr/>
          </a:p>
        </p:txBody>
      </p:sp>
      <p:sp>
        <p:nvSpPr>
          <p:cNvPr id="549" name="Google Shape;549;p48"/>
          <p:cNvSpPr txBox="1"/>
          <p:nvPr/>
        </p:nvSpPr>
        <p:spPr>
          <a:xfrm>
            <a:off x="6479075" y="4628727"/>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Xu hướng phân bố:</a:t>
            </a:r>
            <a:r>
              <a:rPr lang="en-US" sz="1100">
                <a:solidFill>
                  <a:schemeClr val="dk1"/>
                </a:solidFill>
              </a:rPr>
              <a:t> Phần lớn dữ liệu hội tụ thành một cụm tròn trịa mang dáng dấp của phân bố chuẩn. Dù vậy, các điểm mang nhãn dương tính (màu cam) vẫn có xu hướng nhỉnh hơn một chút về trục tung (có mức BMI cao hơn) so với nhóm âm tính</a:t>
            </a:r>
            <a:endParaRPr/>
          </a:p>
        </p:txBody>
      </p:sp>
      <p:pic>
        <p:nvPicPr>
          <p:cNvPr descr="image.png" id="550" name="Google Shape;550;p48"/>
          <p:cNvPicPr preferRelativeResize="0"/>
          <p:nvPr/>
        </p:nvPicPr>
        <p:blipFill rotWithShape="1">
          <a:blip r:embed="rId4">
            <a:alphaModFix/>
          </a:blip>
          <a:srcRect b="0" l="0" r="0" t="0"/>
          <a:stretch/>
        </p:blipFill>
        <p:spPr>
          <a:xfrm>
            <a:off x="6193325" y="2508129"/>
            <a:ext cx="104775" cy="180975"/>
          </a:xfrm>
          <a:prstGeom prst="rect">
            <a:avLst/>
          </a:prstGeom>
          <a:noFill/>
          <a:ln>
            <a:noFill/>
          </a:ln>
        </p:spPr>
      </p:pic>
      <p:pic>
        <p:nvPicPr>
          <p:cNvPr descr="image.png" id="551" name="Google Shape;551;p48"/>
          <p:cNvPicPr preferRelativeResize="0"/>
          <p:nvPr/>
        </p:nvPicPr>
        <p:blipFill rotWithShape="1">
          <a:blip r:embed="rId4">
            <a:alphaModFix/>
          </a:blip>
          <a:srcRect b="0" l="0" r="0" t="0"/>
          <a:stretch/>
        </p:blipFill>
        <p:spPr>
          <a:xfrm>
            <a:off x="6193325" y="3568422"/>
            <a:ext cx="104775" cy="180975"/>
          </a:xfrm>
          <a:prstGeom prst="rect">
            <a:avLst/>
          </a:prstGeom>
          <a:noFill/>
          <a:ln>
            <a:noFill/>
          </a:ln>
        </p:spPr>
      </p:pic>
      <p:pic>
        <p:nvPicPr>
          <p:cNvPr descr="image.png" id="552" name="Google Shape;552;p48"/>
          <p:cNvPicPr preferRelativeResize="0"/>
          <p:nvPr/>
        </p:nvPicPr>
        <p:blipFill rotWithShape="1">
          <a:blip r:embed="rId4">
            <a:alphaModFix/>
          </a:blip>
          <a:srcRect b="0" l="0" r="0" t="0"/>
          <a:stretch/>
        </p:blipFill>
        <p:spPr>
          <a:xfrm>
            <a:off x="6193325" y="4628727"/>
            <a:ext cx="104775" cy="180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556" name="Shape 556"/>
        <p:cNvGrpSpPr/>
        <p:nvPr/>
      </p:nvGrpSpPr>
      <p:grpSpPr>
        <a:xfrm>
          <a:off x="0" y="0"/>
          <a:ext cx="0" cy="0"/>
          <a:chOff x="0" y="0"/>
          <a:chExt cx="0" cy="0"/>
        </a:xfrm>
      </p:grpSpPr>
      <p:sp>
        <p:nvSpPr>
          <p:cNvPr id="557" name="Google Shape;557;p49"/>
          <p:cNvSpPr txBox="1"/>
          <p:nvPr/>
        </p:nvSpPr>
        <p:spPr>
          <a:xfrm>
            <a:off x="571500" y="476250"/>
            <a:ext cx="54006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Playfair Display"/>
                <a:ea typeface="Playfair Display"/>
                <a:cs typeface="Playfair Display"/>
                <a:sym typeface="Playfair Display"/>
              </a:rPr>
              <a:t>Phân tích Khám phá (EDA): Mối quan hệ </a:t>
            </a:r>
            <a:r>
              <a:rPr b="1" lang="en-US" sz="2700">
                <a:solidFill>
                  <a:schemeClr val="lt1"/>
                </a:solidFill>
                <a:latin typeface="Playfair Display"/>
                <a:ea typeface="Playfair Display"/>
                <a:cs typeface="Playfair Display"/>
                <a:sym typeface="Playfair Display"/>
              </a:rPr>
              <a:t>BMI</a:t>
            </a:r>
            <a:r>
              <a:rPr b="1" lang="en-US" sz="2700">
                <a:solidFill>
                  <a:srgbClr val="FFFFFF"/>
                </a:solidFill>
                <a:latin typeface="Playfair Display"/>
                <a:ea typeface="Playfair Display"/>
                <a:cs typeface="Playfair Display"/>
                <a:sym typeface="Playfair Display"/>
              </a:rPr>
              <a:t> và </a:t>
            </a:r>
            <a:r>
              <a:rPr b="1" lang="en-US" sz="2700">
                <a:solidFill>
                  <a:schemeClr val="lt1"/>
                </a:solidFill>
                <a:latin typeface="Playfair Display"/>
                <a:ea typeface="Playfair Display"/>
                <a:cs typeface="Playfair Display"/>
                <a:sym typeface="Playfair Display"/>
              </a:rPr>
              <a:t>SkinThickness</a:t>
            </a:r>
            <a:endParaRPr/>
          </a:p>
        </p:txBody>
      </p:sp>
      <p:sp>
        <p:nvSpPr>
          <p:cNvPr id="558" name="Google Shape;558;p49"/>
          <p:cNvSpPr txBox="1"/>
          <p:nvPr/>
        </p:nvSpPr>
        <p:spPr>
          <a:xfrm>
            <a:off x="585900" y="1693766"/>
            <a:ext cx="540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FFFFFF"/>
                </a:solidFill>
                <a:latin typeface="Playfair Display"/>
                <a:ea typeface="Playfair Display"/>
                <a:cs typeface="Playfair Display"/>
                <a:sym typeface="Playfair Display"/>
              </a:rPr>
              <a:t>Tương quan Sinh lý và Dấu vết Xử lý Dữ liệu</a:t>
            </a:r>
            <a:endParaRPr/>
          </a:p>
        </p:txBody>
      </p:sp>
      <p:sp>
        <p:nvSpPr>
          <p:cNvPr id="559" name="Google Shape;559;p49"/>
          <p:cNvSpPr txBox="1"/>
          <p:nvPr/>
        </p:nvSpPr>
        <p:spPr>
          <a:xfrm>
            <a:off x="766763" y="2152879"/>
            <a:ext cx="48579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latin typeface="Nunito"/>
                <a:ea typeface="Nunito"/>
                <a:cs typeface="Nunito"/>
                <a:sym typeface="Nunito"/>
              </a:rPr>
              <a:t>Tương quan tuyến tính (Positive Correlation): </a:t>
            </a:r>
            <a:r>
              <a:rPr lang="en-US" sz="1100">
                <a:solidFill>
                  <a:schemeClr val="lt1"/>
                </a:solidFill>
                <a:latin typeface="Nunito"/>
                <a:ea typeface="Nunito"/>
                <a:cs typeface="Nunito"/>
                <a:sym typeface="Nunito"/>
              </a:rPr>
              <a:t>Đồ thị cho thấy một xu hướng đi lên khá rõ rệt. Khi độ dày nếp gấp da (SkinThickness) tăng, chỉ số khối cơ thể (BMI) cũng có xu hướng tăng theo. Đây là một mối tương quan hoàn toàn hợp lý về mặt sinh lý học.</a:t>
            </a:r>
            <a:endParaRPr>
              <a:solidFill>
                <a:schemeClr val="lt1"/>
              </a:solidFill>
              <a:latin typeface="Nunito"/>
              <a:ea typeface="Nunito"/>
              <a:cs typeface="Nunito"/>
              <a:sym typeface="Nunito"/>
            </a:endParaRPr>
          </a:p>
        </p:txBody>
      </p:sp>
      <p:sp>
        <p:nvSpPr>
          <p:cNvPr id="560" name="Google Shape;560;p49"/>
          <p:cNvSpPr txBox="1"/>
          <p:nvPr/>
        </p:nvSpPr>
        <p:spPr>
          <a:xfrm>
            <a:off x="766763" y="3331485"/>
            <a:ext cx="4857900" cy="1252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latin typeface="Nunito"/>
                <a:ea typeface="Nunito"/>
                <a:cs typeface="Nunito"/>
                <a:sym typeface="Nunito"/>
              </a:rPr>
              <a:t>Dấu vết điền khuyết (Imputation Artifact):</a:t>
            </a:r>
            <a:r>
              <a:rPr lang="en-US" sz="1100">
                <a:solidFill>
                  <a:schemeClr val="lt1"/>
                </a:solidFill>
                <a:latin typeface="Nunito"/>
                <a:ea typeface="Nunito"/>
                <a:cs typeface="Nunito"/>
                <a:sym typeface="Nunito"/>
              </a:rPr>
              <a:t> Tương tự như biến Insulin, ta thấy một vệt dữ liệu xếp thành đường thẳng dọc cực kỳ dày đặc tại vị trí SkinThickness ≈ 0 (Z-score). Đây là minh chứng rõ nét của việc các giá trị 0 (thiếu sót/missing) trong tập dữ liệu gốc đã được lấp đầy bằng giá trị Mean hoặc Median trước khi chuẩn hóa.</a:t>
            </a:r>
            <a:endParaRPr>
              <a:solidFill>
                <a:schemeClr val="lt1"/>
              </a:solidFill>
              <a:latin typeface="Nunito"/>
              <a:ea typeface="Nunito"/>
              <a:cs typeface="Nunito"/>
              <a:sym typeface="Nunito"/>
            </a:endParaRPr>
          </a:p>
        </p:txBody>
      </p:sp>
      <p:sp>
        <p:nvSpPr>
          <p:cNvPr id="561" name="Google Shape;561;p49"/>
          <p:cNvSpPr txBox="1"/>
          <p:nvPr/>
        </p:nvSpPr>
        <p:spPr>
          <a:xfrm>
            <a:off x="766775" y="4781002"/>
            <a:ext cx="48579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latin typeface="Nunito"/>
                <a:ea typeface="Nunito"/>
                <a:cs typeface="Nunito"/>
                <a:sym typeface="Nunito"/>
              </a:rPr>
              <a:t>Phân bố nhãn dự đoán:</a:t>
            </a:r>
            <a:r>
              <a:rPr lang="en-US" sz="1100">
                <a:solidFill>
                  <a:schemeClr val="lt1"/>
                </a:solidFill>
                <a:latin typeface="Nunito"/>
                <a:ea typeface="Nunito"/>
                <a:cs typeface="Nunito"/>
                <a:sym typeface="Nunito"/>
              </a:rPr>
              <a:t> Nhóm mang nhãn Outcome = 1 (màu cam) tập trung chủ yếu ở khu vực có BMI cao (nửa trên đồ thị). Tuy nhiên, sự chồng chéo với nhóm Outcome = 0 (màu xanh) vẫn còn đáng kể, đòi hỏi mô hình phân loại phải kết hợp thêm nhiều đặc trưng khác.</a:t>
            </a:r>
            <a:endParaRPr>
              <a:solidFill>
                <a:schemeClr val="lt1"/>
              </a:solidFill>
              <a:latin typeface="Nunito"/>
              <a:ea typeface="Nunito"/>
              <a:cs typeface="Nunito"/>
              <a:sym typeface="Nunito"/>
            </a:endParaRPr>
          </a:p>
        </p:txBody>
      </p:sp>
      <p:pic>
        <p:nvPicPr>
          <p:cNvPr descr="image.png" id="562" name="Google Shape;562;p49"/>
          <p:cNvPicPr preferRelativeResize="0"/>
          <p:nvPr/>
        </p:nvPicPr>
        <p:blipFill rotWithShape="1">
          <a:blip r:embed="rId3">
            <a:alphaModFix/>
          </a:blip>
          <a:srcRect b="0" l="0" r="0" t="0"/>
          <a:stretch/>
        </p:blipFill>
        <p:spPr>
          <a:xfrm>
            <a:off x="571525" y="2152866"/>
            <a:ext cx="104775" cy="180975"/>
          </a:xfrm>
          <a:prstGeom prst="rect">
            <a:avLst/>
          </a:prstGeom>
          <a:noFill/>
          <a:ln>
            <a:noFill/>
          </a:ln>
        </p:spPr>
      </p:pic>
      <p:pic>
        <p:nvPicPr>
          <p:cNvPr descr="image.png" id="563" name="Google Shape;563;p49"/>
          <p:cNvPicPr preferRelativeResize="0"/>
          <p:nvPr/>
        </p:nvPicPr>
        <p:blipFill rotWithShape="1">
          <a:blip r:embed="rId3">
            <a:alphaModFix/>
          </a:blip>
          <a:srcRect b="0" l="0" r="0" t="0"/>
          <a:stretch/>
        </p:blipFill>
        <p:spPr>
          <a:xfrm>
            <a:off x="571500" y="3338522"/>
            <a:ext cx="104775" cy="180975"/>
          </a:xfrm>
          <a:prstGeom prst="rect">
            <a:avLst/>
          </a:prstGeom>
          <a:noFill/>
          <a:ln>
            <a:noFill/>
          </a:ln>
        </p:spPr>
      </p:pic>
      <p:pic>
        <p:nvPicPr>
          <p:cNvPr descr="image.png" id="564" name="Google Shape;564;p49"/>
          <p:cNvPicPr preferRelativeResize="0"/>
          <p:nvPr/>
        </p:nvPicPr>
        <p:blipFill rotWithShape="1">
          <a:blip r:embed="rId3">
            <a:alphaModFix/>
          </a:blip>
          <a:srcRect b="0" l="0" r="0" t="0"/>
          <a:stretch/>
        </p:blipFill>
        <p:spPr>
          <a:xfrm>
            <a:off x="571525" y="4781027"/>
            <a:ext cx="104775" cy="180975"/>
          </a:xfrm>
          <a:prstGeom prst="rect">
            <a:avLst/>
          </a:prstGeom>
          <a:noFill/>
          <a:ln>
            <a:noFill/>
          </a:ln>
        </p:spPr>
      </p:pic>
      <p:pic>
        <p:nvPicPr>
          <p:cNvPr id="565" name="Google Shape;565;p49" title="36_Bonus_Combo_Scatter_SkinThickness_vs_BMI.png"/>
          <p:cNvPicPr preferRelativeResize="0"/>
          <p:nvPr/>
        </p:nvPicPr>
        <p:blipFill>
          <a:blip r:embed="rId4">
            <a:alphaModFix/>
          </a:blip>
          <a:stretch>
            <a:fillRect/>
          </a:stretch>
        </p:blipFill>
        <p:spPr>
          <a:xfrm>
            <a:off x="5715150" y="997071"/>
            <a:ext cx="6160573" cy="50879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6FF"/>
        </a:solidFill>
      </p:bgPr>
    </p:bg>
    <p:spTree>
      <p:nvGrpSpPr>
        <p:cNvPr id="569" name="Shape 569"/>
        <p:cNvGrpSpPr/>
        <p:nvPr/>
      </p:nvGrpSpPr>
      <p:grpSpPr>
        <a:xfrm>
          <a:off x="0" y="0"/>
          <a:ext cx="0" cy="0"/>
          <a:chOff x="0" y="0"/>
          <a:chExt cx="0" cy="0"/>
        </a:xfrm>
      </p:grpSpPr>
      <p:sp>
        <p:nvSpPr>
          <p:cNvPr id="570" name="Google Shape;570;p50"/>
          <p:cNvSpPr txBox="1"/>
          <p:nvPr/>
        </p:nvSpPr>
        <p:spPr>
          <a:xfrm>
            <a:off x="423500" y="500925"/>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1E3A8A"/>
                </a:solidFill>
                <a:latin typeface="Playfair Display"/>
                <a:ea typeface="Playfair Display"/>
                <a:cs typeface="Playfair Display"/>
                <a:sym typeface="Playfair Display"/>
              </a:rPr>
              <a:t>Phân tích Khám phá (EDA): Mối quan hệ BMI và Insulin</a:t>
            </a:r>
            <a:endParaRPr/>
          </a:p>
        </p:txBody>
      </p:sp>
      <p:sp>
        <p:nvSpPr>
          <p:cNvPr id="571" name="Google Shape;571;p50"/>
          <p:cNvSpPr txBox="1"/>
          <p:nvPr/>
        </p:nvSpPr>
        <p:spPr>
          <a:xfrm>
            <a:off x="423500" y="2051441"/>
            <a:ext cx="560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2563EB"/>
                </a:solidFill>
                <a:latin typeface="Playfair Display"/>
                <a:ea typeface="Playfair Display"/>
                <a:cs typeface="Playfair Display"/>
                <a:sym typeface="Playfair Display"/>
              </a:rPr>
              <a:t>Dấu vết Xử lý nhiễu và Sự phân tán dữ liệu</a:t>
            </a:r>
            <a:endParaRPr/>
          </a:p>
        </p:txBody>
      </p:sp>
      <p:sp>
        <p:nvSpPr>
          <p:cNvPr id="572" name="Google Shape;572;p50"/>
          <p:cNvSpPr txBox="1"/>
          <p:nvPr/>
        </p:nvSpPr>
        <p:spPr>
          <a:xfrm>
            <a:off x="857250" y="2714053"/>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Dấu vết điền khuyết (Imputation):</a:t>
            </a:r>
            <a:r>
              <a:rPr lang="en-US" sz="1100">
                <a:solidFill>
                  <a:schemeClr val="dk1"/>
                </a:solidFill>
              </a:rPr>
              <a:t> Vệt thẳng đứng cực kỳ rõ rệt tại </a:t>
            </a:r>
            <a:r>
              <a:rPr lang="en-US" sz="1100">
                <a:solidFill>
                  <a:srgbClr val="188038"/>
                </a:solidFill>
                <a:latin typeface="Roboto Mono"/>
                <a:ea typeface="Roboto Mono"/>
                <a:cs typeface="Roboto Mono"/>
                <a:sym typeface="Roboto Mono"/>
              </a:rPr>
              <a:t>Insulin ≈ 0</a:t>
            </a:r>
            <a:r>
              <a:rPr lang="en-US" sz="1100">
                <a:solidFill>
                  <a:schemeClr val="dk1"/>
                </a:solidFill>
              </a:rPr>
              <a:t> chứng tỏ một lượng lớn dữ liệu thiếu sót đã được lấp đầy bằng giá trị trung bình (Mean) trong bước tiền xử lý.</a:t>
            </a:r>
            <a:endParaRPr>
              <a:solidFill>
                <a:schemeClr val="dk1"/>
              </a:solidFill>
            </a:endParaRPr>
          </a:p>
        </p:txBody>
      </p:sp>
      <p:sp>
        <p:nvSpPr>
          <p:cNvPr id="573" name="Google Shape;573;p50"/>
          <p:cNvSpPr txBox="1"/>
          <p:nvPr/>
        </p:nvSpPr>
        <p:spPr>
          <a:xfrm>
            <a:off x="842525" y="3900547"/>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Mức độ chồng chéo lớn:</a:t>
            </a:r>
            <a:r>
              <a:rPr lang="en-US" sz="1100">
                <a:solidFill>
                  <a:schemeClr val="dk1"/>
                </a:solidFill>
              </a:rPr>
              <a:t> Tại vùng giá trị thấp của cả hai trục, nhóm an toàn (màu xanh) và nhóm mắc bệnh (màu cam) đan xen vào nhau rất dày đặc. Việc kết hợp hai đặc trưng này không tạo ra được ranh giới quyết định (decision boundary) rõ ràng.</a:t>
            </a:r>
            <a:endParaRPr>
              <a:solidFill>
                <a:schemeClr val="dk1"/>
              </a:solidFill>
            </a:endParaRPr>
          </a:p>
        </p:txBody>
      </p:sp>
      <p:sp>
        <p:nvSpPr>
          <p:cNvPr id="574" name="Google Shape;574;p50"/>
          <p:cNvSpPr txBox="1"/>
          <p:nvPr/>
        </p:nvSpPr>
        <p:spPr>
          <a:xfrm>
            <a:off x="857250" y="5357927"/>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Sự dịch chuyển của nhóm rủi ro:</a:t>
            </a:r>
            <a:r>
              <a:rPr lang="en-US" sz="1100">
                <a:solidFill>
                  <a:schemeClr val="dk1"/>
                </a:solidFill>
              </a:rPr>
              <a:t> Nhóm mắc bệnh có độ phân tán rộng hơn hẳn. Khi bệnh nhân có BMI tăng cao (trục tung &gt; 1) kết hợp với các điểm dị biệt có lượng Insulin đột biến (trục hoành từ 2 đến 8), xác suất dương tính tăng lên đáng kể.</a:t>
            </a:r>
            <a:endParaRPr>
              <a:solidFill>
                <a:schemeClr val="dk1"/>
              </a:solidFill>
            </a:endParaRPr>
          </a:p>
        </p:txBody>
      </p:sp>
      <p:pic>
        <p:nvPicPr>
          <p:cNvPr descr="image.png" id="575" name="Google Shape;575;p50"/>
          <p:cNvPicPr preferRelativeResize="0"/>
          <p:nvPr/>
        </p:nvPicPr>
        <p:blipFill rotWithShape="1">
          <a:blip r:embed="rId3">
            <a:alphaModFix/>
          </a:blip>
          <a:srcRect b="0" l="0" r="0" t="0"/>
          <a:stretch/>
        </p:blipFill>
        <p:spPr>
          <a:xfrm>
            <a:off x="571500" y="2714041"/>
            <a:ext cx="104775" cy="180975"/>
          </a:xfrm>
          <a:prstGeom prst="rect">
            <a:avLst/>
          </a:prstGeom>
          <a:noFill/>
          <a:ln>
            <a:noFill/>
          </a:ln>
        </p:spPr>
      </p:pic>
      <p:pic>
        <p:nvPicPr>
          <p:cNvPr descr="image.png" id="576" name="Google Shape;576;p50"/>
          <p:cNvPicPr preferRelativeResize="0"/>
          <p:nvPr/>
        </p:nvPicPr>
        <p:blipFill rotWithShape="1">
          <a:blip r:embed="rId3">
            <a:alphaModFix/>
          </a:blip>
          <a:srcRect b="0" l="0" r="0" t="0"/>
          <a:stretch/>
        </p:blipFill>
        <p:spPr>
          <a:xfrm>
            <a:off x="571500" y="5357922"/>
            <a:ext cx="104775" cy="180975"/>
          </a:xfrm>
          <a:prstGeom prst="rect">
            <a:avLst/>
          </a:prstGeom>
          <a:noFill/>
          <a:ln>
            <a:noFill/>
          </a:ln>
        </p:spPr>
      </p:pic>
      <p:pic>
        <p:nvPicPr>
          <p:cNvPr descr="image.png" id="577" name="Google Shape;577;p50"/>
          <p:cNvPicPr preferRelativeResize="0"/>
          <p:nvPr/>
        </p:nvPicPr>
        <p:blipFill rotWithShape="1">
          <a:blip r:embed="rId3">
            <a:alphaModFix/>
          </a:blip>
          <a:srcRect b="0" l="0" r="0" t="0"/>
          <a:stretch/>
        </p:blipFill>
        <p:spPr>
          <a:xfrm>
            <a:off x="556775" y="3900527"/>
            <a:ext cx="104775" cy="180975"/>
          </a:xfrm>
          <a:prstGeom prst="rect">
            <a:avLst/>
          </a:prstGeom>
          <a:noFill/>
          <a:ln>
            <a:noFill/>
          </a:ln>
        </p:spPr>
      </p:pic>
      <p:pic>
        <p:nvPicPr>
          <p:cNvPr id="578" name="Google Shape;578;p50" title="39_Bonus_Combo_Scatter_Insulin_vs_BMI.png"/>
          <p:cNvPicPr preferRelativeResize="0"/>
          <p:nvPr/>
        </p:nvPicPr>
        <p:blipFill>
          <a:blip r:embed="rId4">
            <a:alphaModFix/>
          </a:blip>
          <a:stretch>
            <a:fillRect/>
          </a:stretch>
        </p:blipFill>
        <p:spPr>
          <a:xfrm>
            <a:off x="6162100" y="1649200"/>
            <a:ext cx="5863003" cy="4842182"/>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2" name="Shape 582"/>
        <p:cNvGrpSpPr/>
        <p:nvPr/>
      </p:nvGrpSpPr>
      <p:grpSpPr>
        <a:xfrm>
          <a:off x="0" y="0"/>
          <a:ext cx="0" cy="0"/>
          <a:chOff x="0" y="0"/>
          <a:chExt cx="0" cy="0"/>
        </a:xfrm>
      </p:grpSpPr>
      <p:pic>
        <p:nvPicPr>
          <p:cNvPr id="583" name="Google Shape;583;p51" title="21_Bonus_Combo_Scatter_Pregnancies_vs_BMI.png"/>
          <p:cNvPicPr preferRelativeResize="0"/>
          <p:nvPr/>
        </p:nvPicPr>
        <p:blipFill>
          <a:blip r:embed="rId3">
            <a:alphaModFix/>
          </a:blip>
          <a:stretch>
            <a:fillRect/>
          </a:stretch>
        </p:blipFill>
        <p:spPr>
          <a:xfrm>
            <a:off x="461325" y="1475179"/>
            <a:ext cx="5600701" cy="4625586"/>
          </a:xfrm>
          <a:prstGeom prst="rect">
            <a:avLst/>
          </a:prstGeom>
          <a:noFill/>
          <a:ln cap="flat" cmpd="sng" w="19050">
            <a:solidFill>
              <a:schemeClr val="dk2"/>
            </a:solidFill>
            <a:prstDash val="solid"/>
            <a:round/>
            <a:headEnd len="sm" w="sm" type="none"/>
            <a:tailEnd len="sm" w="sm" type="none"/>
          </a:ln>
        </p:spPr>
      </p:pic>
      <p:sp>
        <p:nvSpPr>
          <p:cNvPr id="584" name="Google Shape;584;p51"/>
          <p:cNvSpPr txBox="1"/>
          <p:nvPr/>
        </p:nvSpPr>
        <p:spPr>
          <a:xfrm>
            <a:off x="571500" y="47625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1E3A8A"/>
                </a:solidFill>
                <a:latin typeface="Playfair Display"/>
                <a:ea typeface="Playfair Display"/>
                <a:cs typeface="Playfair Display"/>
                <a:sym typeface="Playfair Display"/>
              </a:rPr>
              <a:t>Phân tích Khám phá (EDA): Mối quan hệ </a:t>
            </a:r>
            <a:r>
              <a:rPr b="1" lang="en-US" sz="2700">
                <a:solidFill>
                  <a:srgbClr val="1E3A8A"/>
                </a:solidFill>
                <a:latin typeface="Playfair Display"/>
                <a:ea typeface="Playfair Display"/>
                <a:cs typeface="Playfair Display"/>
                <a:sym typeface="Playfair Display"/>
              </a:rPr>
              <a:t>BMI </a:t>
            </a:r>
            <a:r>
              <a:rPr b="1" lang="en-US" sz="2700">
                <a:solidFill>
                  <a:srgbClr val="1E3A8A"/>
                </a:solidFill>
                <a:latin typeface="Playfair Display"/>
                <a:ea typeface="Playfair Display"/>
                <a:cs typeface="Playfair Display"/>
                <a:sym typeface="Playfair Display"/>
              </a:rPr>
              <a:t>và </a:t>
            </a:r>
            <a:r>
              <a:rPr b="1" lang="en-US" sz="2700">
                <a:solidFill>
                  <a:srgbClr val="1E3A8A"/>
                </a:solidFill>
                <a:latin typeface="Playfair Display"/>
                <a:ea typeface="Playfair Display"/>
                <a:cs typeface="Playfair Display"/>
                <a:sym typeface="Playfair Display"/>
              </a:rPr>
              <a:t>Pregnancies </a:t>
            </a:r>
            <a:endParaRPr/>
          </a:p>
        </p:txBody>
      </p:sp>
      <p:sp>
        <p:nvSpPr>
          <p:cNvPr id="585" name="Google Shape;585;p51"/>
          <p:cNvSpPr txBox="1"/>
          <p:nvPr/>
        </p:nvSpPr>
        <p:spPr>
          <a:xfrm>
            <a:off x="6338600" y="1829599"/>
            <a:ext cx="5600700" cy="6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2563EB"/>
                </a:solidFill>
                <a:latin typeface="Playfair Display"/>
                <a:ea typeface="Playfair Display"/>
                <a:cs typeface="Playfair Display"/>
                <a:sym typeface="Playfair Display"/>
              </a:rPr>
              <a:t>Tương quan giữa Số Lần Mang Thai và Chỉ Số Khối Cơ Thể</a:t>
            </a:r>
            <a:endParaRPr/>
          </a:p>
        </p:txBody>
      </p:sp>
      <p:sp>
        <p:nvSpPr>
          <p:cNvPr id="586" name="Google Shape;586;p51"/>
          <p:cNvSpPr txBox="1"/>
          <p:nvPr/>
        </p:nvSpPr>
        <p:spPr>
          <a:xfrm>
            <a:off x="6614750" y="2650416"/>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Phân bố của nhóm An toàn:</a:t>
            </a:r>
            <a:r>
              <a:rPr lang="en-US" sz="1100">
                <a:solidFill>
                  <a:schemeClr val="dk1"/>
                </a:solidFill>
              </a:rPr>
              <a:t> Nhóm không mắc bệnh (</a:t>
            </a:r>
            <a:r>
              <a:rPr lang="en-US" sz="1100">
                <a:solidFill>
                  <a:srgbClr val="188038"/>
                </a:solidFill>
                <a:latin typeface="Roboto Mono"/>
                <a:ea typeface="Roboto Mono"/>
                <a:cs typeface="Roboto Mono"/>
                <a:sym typeface="Roboto Mono"/>
              </a:rPr>
              <a:t>Outcome = 0</a:t>
            </a:r>
            <a:r>
              <a:rPr lang="en-US" sz="1100">
                <a:solidFill>
                  <a:schemeClr val="dk1"/>
                </a:solidFill>
              </a:rPr>
              <a:t> - màu xanh dương) tập trung với mật độ cực kỳ dày đặc ở các mức </a:t>
            </a:r>
            <a:r>
              <a:rPr lang="en-US" sz="1100">
                <a:solidFill>
                  <a:srgbClr val="188038"/>
                </a:solidFill>
                <a:latin typeface="Roboto Mono"/>
                <a:ea typeface="Roboto Mono"/>
                <a:cs typeface="Roboto Mono"/>
                <a:sym typeface="Roboto Mono"/>
              </a:rPr>
              <a:t>Pregnancies</a:t>
            </a:r>
            <a:r>
              <a:rPr lang="en-US" sz="1100">
                <a:solidFill>
                  <a:schemeClr val="dk1"/>
                </a:solidFill>
              </a:rPr>
              <a:t> thấp và </a:t>
            </a:r>
            <a:r>
              <a:rPr lang="en-US" sz="1100">
                <a:solidFill>
                  <a:srgbClr val="188038"/>
                </a:solidFill>
                <a:latin typeface="Roboto Mono"/>
                <a:ea typeface="Roboto Mono"/>
                <a:cs typeface="Roboto Mono"/>
                <a:sym typeface="Roboto Mono"/>
              </a:rPr>
              <a:t>BMI</a:t>
            </a:r>
            <a:r>
              <a:rPr lang="en-US" sz="1100">
                <a:solidFill>
                  <a:schemeClr val="dk1"/>
                </a:solidFill>
              </a:rPr>
              <a:t> dưới trung bình (khu vực góc dưới bên trái). Điều này chỉ ra nguy cơ mắc bệnh rất thấp ở nhóm đối tượng này.</a:t>
            </a:r>
            <a:endParaRPr/>
          </a:p>
        </p:txBody>
      </p:sp>
      <p:sp>
        <p:nvSpPr>
          <p:cNvPr id="587" name="Google Shape;587;p51"/>
          <p:cNvSpPr txBox="1"/>
          <p:nvPr/>
        </p:nvSpPr>
        <p:spPr>
          <a:xfrm>
            <a:off x="6614750" y="4170737"/>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Sự gia tăng rủi ro:</a:t>
            </a:r>
            <a:r>
              <a:rPr lang="en-US" sz="1100">
                <a:solidFill>
                  <a:schemeClr val="dk1"/>
                </a:solidFill>
              </a:rPr>
              <a:t> Nhóm mắc bệnh (</a:t>
            </a:r>
            <a:r>
              <a:rPr lang="en-US" sz="1100">
                <a:solidFill>
                  <a:srgbClr val="188038"/>
                </a:solidFill>
                <a:latin typeface="Roboto Mono"/>
                <a:ea typeface="Roboto Mono"/>
                <a:cs typeface="Roboto Mono"/>
                <a:sym typeface="Roboto Mono"/>
              </a:rPr>
              <a:t>Outcome = 1</a:t>
            </a:r>
            <a:r>
              <a:rPr lang="en-US" sz="1100">
                <a:solidFill>
                  <a:schemeClr val="dk1"/>
                </a:solidFill>
              </a:rPr>
              <a:t> - màu cam) có sự phân tán rộng hơn và xuất hiện dày hơn hẳn ở các vùng có đồng thời số lần mang thai cao và BMI cao (góc trên bên phải đồ thị). Sự kết hợp của hai đặc trưng này đóng vai trò quan trọng trong việc tăng khả năng nhận diện lớp dương tính.</a:t>
            </a:r>
            <a:endParaRPr/>
          </a:p>
        </p:txBody>
      </p:sp>
      <p:pic>
        <p:nvPicPr>
          <p:cNvPr descr="image.png" id="588" name="Google Shape;588;p51"/>
          <p:cNvPicPr preferRelativeResize="0"/>
          <p:nvPr/>
        </p:nvPicPr>
        <p:blipFill rotWithShape="1">
          <a:blip r:embed="rId4">
            <a:alphaModFix/>
          </a:blip>
          <a:srcRect b="0" l="0" r="0" t="0"/>
          <a:stretch/>
        </p:blipFill>
        <p:spPr>
          <a:xfrm>
            <a:off x="6329000" y="2650416"/>
            <a:ext cx="104775" cy="180975"/>
          </a:xfrm>
          <a:prstGeom prst="rect">
            <a:avLst/>
          </a:prstGeom>
          <a:noFill/>
          <a:ln>
            <a:noFill/>
          </a:ln>
        </p:spPr>
      </p:pic>
      <p:pic>
        <p:nvPicPr>
          <p:cNvPr descr="image.png" id="589" name="Google Shape;589;p51"/>
          <p:cNvPicPr preferRelativeResize="0"/>
          <p:nvPr/>
        </p:nvPicPr>
        <p:blipFill rotWithShape="1">
          <a:blip r:embed="rId4">
            <a:alphaModFix/>
          </a:blip>
          <a:srcRect b="0" l="0" r="0" t="0"/>
          <a:stretch/>
        </p:blipFill>
        <p:spPr>
          <a:xfrm>
            <a:off x="6329000" y="4170737"/>
            <a:ext cx="104775" cy="180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593" name="Shape 593"/>
        <p:cNvGrpSpPr/>
        <p:nvPr/>
      </p:nvGrpSpPr>
      <p:grpSpPr>
        <a:xfrm>
          <a:off x="0" y="0"/>
          <a:ext cx="0" cy="0"/>
          <a:chOff x="0" y="0"/>
          <a:chExt cx="0" cy="0"/>
        </a:xfrm>
      </p:grpSpPr>
      <p:sp>
        <p:nvSpPr>
          <p:cNvPr id="594" name="Google Shape;594;p52"/>
          <p:cNvSpPr/>
          <p:nvPr/>
        </p:nvSpPr>
        <p:spPr>
          <a:xfrm>
            <a:off x="-1266412" y="5063550"/>
            <a:ext cx="3780600" cy="250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95" name="Google Shape;595;p52"/>
          <p:cNvSpPr txBox="1"/>
          <p:nvPr/>
        </p:nvSpPr>
        <p:spPr>
          <a:xfrm>
            <a:off x="571500" y="476250"/>
            <a:ext cx="5400675"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FFFFFF"/>
                </a:solidFill>
                <a:latin typeface="Playfair Display"/>
                <a:ea typeface="Playfair Display"/>
                <a:cs typeface="Playfair Display"/>
                <a:sym typeface="Playfair Display"/>
              </a:rPr>
              <a:t>Bộ đôi Tử thần: BMI &amp; Glucose</a:t>
            </a:r>
            <a:endParaRPr/>
          </a:p>
        </p:txBody>
      </p:sp>
      <p:pic>
        <p:nvPicPr>
          <p:cNvPr descr="image.png" id="596" name="Google Shape;596;p52"/>
          <p:cNvPicPr preferRelativeResize="0"/>
          <p:nvPr/>
        </p:nvPicPr>
        <p:blipFill rotWithShape="1">
          <a:blip r:embed="rId3">
            <a:alphaModFix/>
          </a:blip>
          <a:srcRect b="0" l="0" r="0" t="0"/>
          <a:stretch/>
        </p:blipFill>
        <p:spPr>
          <a:xfrm>
            <a:off x="571500" y="3090862"/>
            <a:ext cx="104775" cy="180975"/>
          </a:xfrm>
          <a:prstGeom prst="rect">
            <a:avLst/>
          </a:prstGeom>
          <a:noFill/>
          <a:ln>
            <a:noFill/>
          </a:ln>
        </p:spPr>
      </p:pic>
      <p:pic>
        <p:nvPicPr>
          <p:cNvPr descr="image.png" id="597" name="Google Shape;597;p52"/>
          <p:cNvPicPr preferRelativeResize="0"/>
          <p:nvPr/>
        </p:nvPicPr>
        <p:blipFill rotWithShape="1">
          <a:blip r:embed="rId3">
            <a:alphaModFix/>
          </a:blip>
          <a:srcRect b="0" l="0" r="0" t="0"/>
          <a:stretch/>
        </p:blipFill>
        <p:spPr>
          <a:xfrm>
            <a:off x="571500" y="3810892"/>
            <a:ext cx="104775" cy="180975"/>
          </a:xfrm>
          <a:prstGeom prst="rect">
            <a:avLst/>
          </a:prstGeom>
          <a:noFill/>
          <a:ln>
            <a:noFill/>
          </a:ln>
        </p:spPr>
      </p:pic>
      <p:pic>
        <p:nvPicPr>
          <p:cNvPr descr="image.png" id="598" name="Google Shape;598;p52"/>
          <p:cNvPicPr preferRelativeResize="0"/>
          <p:nvPr/>
        </p:nvPicPr>
        <p:blipFill rotWithShape="1">
          <a:blip r:embed="rId3">
            <a:alphaModFix/>
          </a:blip>
          <a:srcRect b="0" l="0" r="0" t="0"/>
          <a:stretch/>
        </p:blipFill>
        <p:spPr>
          <a:xfrm>
            <a:off x="571500" y="4256633"/>
            <a:ext cx="104775" cy="180975"/>
          </a:xfrm>
          <a:prstGeom prst="rect">
            <a:avLst/>
          </a:prstGeom>
          <a:noFill/>
          <a:ln>
            <a:noFill/>
          </a:ln>
        </p:spPr>
      </p:pic>
      <p:sp>
        <p:nvSpPr>
          <p:cNvPr id="599" name="Google Shape;599;p52"/>
          <p:cNvSpPr/>
          <p:nvPr/>
        </p:nvSpPr>
        <p:spPr>
          <a:xfrm>
            <a:off x="9954600" y="-949825"/>
            <a:ext cx="3780600" cy="250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00" name="Google Shape;600;p52"/>
          <p:cNvSpPr/>
          <p:nvPr/>
        </p:nvSpPr>
        <p:spPr>
          <a:xfrm>
            <a:off x="8468400" y="-84000"/>
            <a:ext cx="3780600" cy="3704400"/>
          </a:xfrm>
          <a:prstGeom prst="roundRect">
            <a:avLst>
              <a:gd fmla="val 50000" name="adj"/>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601" name="Google Shape;601;p52"/>
          <p:cNvSpPr/>
          <p:nvPr/>
        </p:nvSpPr>
        <p:spPr>
          <a:xfrm>
            <a:off x="0" y="3271825"/>
            <a:ext cx="3780600" cy="3704400"/>
          </a:xfrm>
          <a:prstGeom prst="roundRect">
            <a:avLst>
              <a:gd fmla="val 50000" name="adj"/>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pic>
        <p:nvPicPr>
          <p:cNvPr id="602" name="Google Shape;602;p52" title="09_Case3_Scatter_BMI_Glucose.png"/>
          <p:cNvPicPr preferRelativeResize="0"/>
          <p:nvPr/>
        </p:nvPicPr>
        <p:blipFill rotWithShape="1">
          <a:blip r:embed="rId4">
            <a:alphaModFix/>
          </a:blip>
          <a:srcRect b="0" l="0" r="0" t="0"/>
          <a:stretch/>
        </p:blipFill>
        <p:spPr>
          <a:xfrm>
            <a:off x="5895975" y="1853301"/>
            <a:ext cx="5890877" cy="4151376"/>
          </a:xfrm>
          <a:prstGeom prst="rect">
            <a:avLst/>
          </a:prstGeom>
          <a:noFill/>
          <a:ln cap="flat" cmpd="sng" w="9525">
            <a:solidFill>
              <a:srgbClr val="60A5FA"/>
            </a:solidFill>
            <a:prstDash val="solid"/>
            <a:round/>
            <a:headEnd len="sm" w="sm" type="none"/>
            <a:tailEnd len="sm" w="sm" type="none"/>
          </a:ln>
        </p:spPr>
      </p:pic>
      <p:sp>
        <p:nvSpPr>
          <p:cNvPr id="603" name="Google Shape;603;p52"/>
          <p:cNvSpPr txBox="1"/>
          <p:nvPr/>
        </p:nvSpPr>
        <p:spPr>
          <a:xfrm>
            <a:off x="571500" y="2538562"/>
            <a:ext cx="540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FFFFF"/>
                </a:solidFill>
                <a:latin typeface="Playfair Display"/>
                <a:ea typeface="Playfair Display"/>
                <a:cs typeface="Playfair Display"/>
                <a:sym typeface="Playfair Display"/>
              </a:rPr>
              <a:t>Tương quan cộng hưởng</a:t>
            </a:r>
            <a:endParaRPr/>
          </a:p>
        </p:txBody>
      </p:sp>
      <p:sp>
        <p:nvSpPr>
          <p:cNvPr id="604" name="Google Shape;604;p52"/>
          <p:cNvSpPr txBox="1"/>
          <p:nvPr/>
        </p:nvSpPr>
        <p:spPr>
          <a:xfrm>
            <a:off x="857175" y="3016712"/>
            <a:ext cx="48579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E2E8F0"/>
                </a:solidFill>
                <a:latin typeface="Nunito"/>
                <a:ea typeface="Nunito"/>
                <a:cs typeface="Nunito"/>
                <a:sym typeface="Nunito"/>
              </a:rPr>
              <a:t>Nhóm mắc bệnh (Điểm đỏ) tập trung dày đặc ở góc phần tư trên cùng bên phải (</a:t>
            </a:r>
            <a:r>
              <a:rPr b="1" i="0" lang="en-US" sz="1350" u="none" cap="none" strike="noStrike">
                <a:solidFill>
                  <a:srgbClr val="BFDBFE"/>
                </a:solidFill>
                <a:latin typeface="Nunito"/>
                <a:ea typeface="Nunito"/>
                <a:cs typeface="Nunito"/>
                <a:sym typeface="Nunito"/>
              </a:rPr>
              <a:t>BMI cao + Glucose cao</a:t>
            </a:r>
            <a:r>
              <a:rPr b="0" i="0" lang="en-US" sz="1350" u="none" cap="none" strike="noStrike">
                <a:solidFill>
                  <a:srgbClr val="E2E8F0"/>
                </a:solidFill>
                <a:latin typeface="Nunito"/>
                <a:ea typeface="Nunito"/>
                <a:cs typeface="Nunito"/>
                <a:sym typeface="Nunito"/>
              </a:rPr>
              <a:t>).</a:t>
            </a:r>
            <a:endParaRPr/>
          </a:p>
        </p:txBody>
      </p:sp>
      <p:sp>
        <p:nvSpPr>
          <p:cNvPr id="605" name="Google Shape;605;p52"/>
          <p:cNvSpPr txBox="1"/>
          <p:nvPr/>
        </p:nvSpPr>
        <p:spPr>
          <a:xfrm>
            <a:off x="857250" y="3734842"/>
            <a:ext cx="48579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E2E8F0"/>
                </a:solidFill>
                <a:latin typeface="Nunito"/>
                <a:ea typeface="Nunito"/>
                <a:cs typeface="Nunito"/>
                <a:sym typeface="Nunito"/>
              </a:rPr>
              <a:t>Béo phì làm tăng phản ứng viêm mãn tính và đề kháng insulin.</a:t>
            </a:r>
            <a:endParaRPr/>
          </a:p>
        </p:txBody>
      </p:sp>
      <p:sp>
        <p:nvSpPr>
          <p:cNvPr id="606" name="Google Shape;606;p52"/>
          <p:cNvSpPr txBox="1"/>
          <p:nvPr/>
        </p:nvSpPr>
        <p:spPr>
          <a:xfrm>
            <a:off x="857250" y="4180583"/>
            <a:ext cx="48579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E2E8F0"/>
                </a:solidFill>
                <a:latin typeface="Nunito"/>
                <a:ea typeface="Nunito"/>
                <a:cs typeface="Nunito"/>
                <a:sym typeface="Nunito"/>
              </a:rPr>
              <a:t>Hậu quả là đẩy lượng Glucose trong máu vượt hoàn toàn ngưỡng kiểm soát sinh lý.</a:t>
            </a:r>
            <a:endParaRPr/>
          </a:p>
        </p:txBody>
      </p:sp>
      <p:pic>
        <p:nvPicPr>
          <p:cNvPr descr="image.png" id="607" name="Google Shape;607;p52"/>
          <p:cNvPicPr preferRelativeResize="0"/>
          <p:nvPr/>
        </p:nvPicPr>
        <p:blipFill rotWithShape="1">
          <a:blip r:embed="rId3">
            <a:alphaModFix/>
          </a:blip>
          <a:srcRect b="0" l="0" r="0" t="0"/>
          <a:stretch/>
        </p:blipFill>
        <p:spPr>
          <a:xfrm>
            <a:off x="571650" y="3748325"/>
            <a:ext cx="104775" cy="180975"/>
          </a:xfrm>
          <a:prstGeom prst="rect">
            <a:avLst/>
          </a:prstGeom>
          <a:noFill/>
          <a:ln>
            <a:noFill/>
          </a:ln>
        </p:spPr>
      </p:pic>
      <p:pic>
        <p:nvPicPr>
          <p:cNvPr descr="image.png" id="608" name="Google Shape;608;p52"/>
          <p:cNvPicPr preferRelativeResize="0"/>
          <p:nvPr/>
        </p:nvPicPr>
        <p:blipFill rotWithShape="1">
          <a:blip r:embed="rId3">
            <a:alphaModFix/>
          </a:blip>
          <a:srcRect b="0" l="0" r="0" t="0"/>
          <a:stretch/>
        </p:blipFill>
        <p:spPr>
          <a:xfrm>
            <a:off x="571650" y="4180575"/>
            <a:ext cx="104775" cy="1809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6FF"/>
        </a:solidFill>
      </p:bgPr>
    </p:bg>
    <p:spTree>
      <p:nvGrpSpPr>
        <p:cNvPr id="612" name="Shape 612"/>
        <p:cNvGrpSpPr/>
        <p:nvPr/>
      </p:nvGrpSpPr>
      <p:grpSpPr>
        <a:xfrm>
          <a:off x="0" y="0"/>
          <a:ext cx="0" cy="0"/>
          <a:chOff x="0" y="0"/>
          <a:chExt cx="0" cy="0"/>
        </a:xfrm>
      </p:grpSpPr>
      <p:sp>
        <p:nvSpPr>
          <p:cNvPr id="613" name="Google Shape;613;p53"/>
          <p:cNvSpPr txBox="1"/>
          <p:nvPr/>
        </p:nvSpPr>
        <p:spPr>
          <a:xfrm>
            <a:off x="423500" y="500925"/>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1E3A8A"/>
                </a:solidFill>
                <a:latin typeface="Playfair Display"/>
                <a:ea typeface="Playfair Display"/>
                <a:cs typeface="Playfair Display"/>
                <a:sym typeface="Playfair Display"/>
              </a:rPr>
              <a:t>Phân tích Khám phá (EDA): Mối quan hệ </a:t>
            </a:r>
            <a:r>
              <a:rPr b="1" lang="en-US" sz="2700">
                <a:solidFill>
                  <a:srgbClr val="1E3A8A"/>
                </a:solidFill>
                <a:latin typeface="Playfair Display"/>
                <a:ea typeface="Playfair Display"/>
                <a:cs typeface="Playfair Display"/>
                <a:sym typeface="Playfair Display"/>
              </a:rPr>
              <a:t>BMI</a:t>
            </a:r>
            <a:r>
              <a:rPr b="1" lang="en-US" sz="2700">
                <a:solidFill>
                  <a:srgbClr val="1E3A8A"/>
                </a:solidFill>
                <a:latin typeface="Playfair Display"/>
                <a:ea typeface="Playfair Display"/>
                <a:cs typeface="Playfair Display"/>
                <a:sym typeface="Playfair Display"/>
              </a:rPr>
              <a:t> và </a:t>
            </a:r>
            <a:r>
              <a:rPr b="1" lang="en-US" sz="2700">
                <a:solidFill>
                  <a:srgbClr val="1E3A8A"/>
                </a:solidFill>
                <a:latin typeface="Playfair Display"/>
                <a:ea typeface="Playfair Display"/>
                <a:cs typeface="Playfair Display"/>
                <a:sym typeface="Playfair Display"/>
              </a:rPr>
              <a:t>Glucose </a:t>
            </a:r>
            <a:endParaRPr/>
          </a:p>
        </p:txBody>
      </p:sp>
      <p:sp>
        <p:nvSpPr>
          <p:cNvPr id="614" name="Google Shape;614;p53"/>
          <p:cNvSpPr txBox="1"/>
          <p:nvPr/>
        </p:nvSpPr>
        <p:spPr>
          <a:xfrm>
            <a:off x="423500" y="2051441"/>
            <a:ext cx="560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2563EB"/>
                </a:solidFill>
                <a:latin typeface="Playfair Display"/>
                <a:ea typeface="Playfair Display"/>
                <a:cs typeface="Playfair Display"/>
                <a:sym typeface="Playfair Display"/>
              </a:rPr>
              <a:t>Khả năng phân tách lớp của Đặc trưng trọng yếu</a:t>
            </a:r>
            <a:endParaRPr/>
          </a:p>
        </p:txBody>
      </p:sp>
      <p:sp>
        <p:nvSpPr>
          <p:cNvPr id="615" name="Google Shape;615;p53"/>
          <p:cNvSpPr txBox="1"/>
          <p:nvPr/>
        </p:nvSpPr>
        <p:spPr>
          <a:xfrm>
            <a:off x="857250" y="2714053"/>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Phân bố sau chuẩn hóa (Standardization):</a:t>
            </a:r>
            <a:r>
              <a:rPr lang="en-US" sz="1100">
                <a:solidFill>
                  <a:schemeClr val="dk1"/>
                </a:solidFill>
              </a:rPr>
              <a:t> Tương tự các biến khác, trục </a:t>
            </a:r>
            <a:r>
              <a:rPr lang="en-US" sz="1100">
                <a:solidFill>
                  <a:schemeClr val="dk1"/>
                </a:solidFill>
                <a:latin typeface="Roboto Mono"/>
                <a:ea typeface="Roboto Mono"/>
                <a:cs typeface="Roboto Mono"/>
                <a:sym typeface="Roboto Mono"/>
              </a:rPr>
              <a:t>Glucose</a:t>
            </a:r>
            <a:r>
              <a:rPr lang="en-US" sz="1100">
                <a:solidFill>
                  <a:schemeClr val="dk1"/>
                </a:solidFill>
              </a:rPr>
              <a:t> và </a:t>
            </a:r>
            <a:r>
              <a:rPr lang="en-US" sz="1100">
                <a:solidFill>
                  <a:schemeClr val="dk1"/>
                </a:solidFill>
                <a:latin typeface="Roboto Mono"/>
                <a:ea typeface="Roboto Mono"/>
                <a:cs typeface="Roboto Mono"/>
                <a:sym typeface="Roboto Mono"/>
              </a:rPr>
              <a:t>BMI</a:t>
            </a:r>
            <a:r>
              <a:rPr lang="en-US" sz="1100">
                <a:solidFill>
                  <a:schemeClr val="dk1"/>
                </a:solidFill>
              </a:rPr>
              <a:t> đã được đưa về thang đo Z-score (tâm tại 0). Trực quan cho thấy dữ liệu trải đều và không có hiện tượng vệt thẳng đứng, chứng tỏ bước xử lý nhiễu trước đó đã hoạt động tốt.</a:t>
            </a:r>
            <a:endParaRPr>
              <a:solidFill>
                <a:schemeClr val="dk1"/>
              </a:solidFill>
            </a:endParaRPr>
          </a:p>
        </p:txBody>
      </p:sp>
      <p:sp>
        <p:nvSpPr>
          <p:cNvPr id="616" name="Google Shape;616;p53"/>
          <p:cNvSpPr txBox="1"/>
          <p:nvPr/>
        </p:nvSpPr>
        <p:spPr>
          <a:xfrm>
            <a:off x="857250" y="3979810"/>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Cụm an toàn (Outcome = 0):</a:t>
            </a:r>
            <a:r>
              <a:rPr lang="en-US" sz="1100">
                <a:solidFill>
                  <a:schemeClr val="dk1"/>
                </a:solidFill>
              </a:rPr>
              <a:t> Các điểm màu xanh (không mắc bệnh) quần tụ với mật độ rất cao ở khu vực góc dưới bên trái đồ thị. Điều này cho thấy khi chỉ số </a:t>
            </a:r>
            <a:r>
              <a:rPr lang="en-US" sz="1100">
                <a:solidFill>
                  <a:schemeClr val="dk1"/>
                </a:solidFill>
                <a:latin typeface="Roboto Mono"/>
                <a:ea typeface="Roboto Mono"/>
                <a:cs typeface="Roboto Mono"/>
                <a:sym typeface="Roboto Mono"/>
              </a:rPr>
              <a:t>Glucose</a:t>
            </a:r>
            <a:r>
              <a:rPr lang="en-US" sz="1100">
                <a:solidFill>
                  <a:schemeClr val="dk1"/>
                </a:solidFill>
              </a:rPr>
              <a:t> và </a:t>
            </a:r>
            <a:r>
              <a:rPr lang="en-US" sz="1100">
                <a:solidFill>
                  <a:schemeClr val="dk1"/>
                </a:solidFill>
                <a:latin typeface="Roboto Mono"/>
                <a:ea typeface="Roboto Mono"/>
                <a:cs typeface="Roboto Mono"/>
                <a:sym typeface="Roboto Mono"/>
              </a:rPr>
              <a:t>BMI</a:t>
            </a:r>
            <a:r>
              <a:rPr lang="en-US" sz="1100">
                <a:solidFill>
                  <a:schemeClr val="dk1"/>
                </a:solidFill>
              </a:rPr>
              <a:t> cùng ở mức thấp hoặc trung bình, xác suất âm tính là cực kỳ cao.</a:t>
            </a:r>
            <a:endParaRPr>
              <a:solidFill>
                <a:schemeClr val="dk1"/>
              </a:solidFill>
            </a:endParaRPr>
          </a:p>
        </p:txBody>
      </p:sp>
      <p:sp>
        <p:nvSpPr>
          <p:cNvPr id="617" name="Google Shape;617;p53"/>
          <p:cNvSpPr txBox="1"/>
          <p:nvPr/>
        </p:nvSpPr>
        <p:spPr>
          <a:xfrm>
            <a:off x="857250" y="5357927"/>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Xu hướng rủi ro (Outcome = 1):</a:t>
            </a:r>
            <a:r>
              <a:rPr lang="en-US" sz="1100">
                <a:solidFill>
                  <a:schemeClr val="dk1"/>
                </a:solidFill>
              </a:rPr>
              <a:t> Các điểm màu cam (mắc bệnh) dịch chuyển thành một dải rõ rệt về phía trên bên phải. Sự gia tăng đồng thời của </a:t>
            </a:r>
            <a:r>
              <a:rPr lang="en-US" sz="1100">
                <a:solidFill>
                  <a:schemeClr val="dk1"/>
                </a:solidFill>
                <a:latin typeface="Roboto Mono"/>
                <a:ea typeface="Roboto Mono"/>
                <a:cs typeface="Roboto Mono"/>
                <a:sym typeface="Roboto Mono"/>
              </a:rPr>
              <a:t>Glucose</a:t>
            </a:r>
            <a:r>
              <a:rPr lang="en-US" sz="1100">
                <a:solidFill>
                  <a:schemeClr val="dk1"/>
                </a:solidFill>
              </a:rPr>
              <a:t> (đường huyết cao) và </a:t>
            </a:r>
            <a:r>
              <a:rPr lang="en-US" sz="1100">
                <a:solidFill>
                  <a:schemeClr val="dk1"/>
                </a:solidFill>
                <a:latin typeface="Roboto Mono"/>
                <a:ea typeface="Roboto Mono"/>
                <a:cs typeface="Roboto Mono"/>
                <a:sym typeface="Roboto Mono"/>
              </a:rPr>
              <a:t>BMI</a:t>
            </a:r>
            <a:r>
              <a:rPr lang="en-US" sz="1100">
                <a:solidFill>
                  <a:schemeClr val="dk1"/>
                </a:solidFill>
              </a:rPr>
              <a:t> (béo phì) tạo ra ranh giới phân tách khá rõ nét, biến đây thành 2 đặc trưng cốt lõi (core features) cho mô hình dự đoán.</a:t>
            </a:r>
            <a:endParaRPr>
              <a:solidFill>
                <a:schemeClr val="dk1"/>
              </a:solidFill>
            </a:endParaRPr>
          </a:p>
        </p:txBody>
      </p:sp>
      <p:pic>
        <p:nvPicPr>
          <p:cNvPr descr="image.png" id="618" name="Google Shape;618;p53"/>
          <p:cNvPicPr preferRelativeResize="0"/>
          <p:nvPr/>
        </p:nvPicPr>
        <p:blipFill rotWithShape="1">
          <a:blip r:embed="rId3">
            <a:alphaModFix/>
          </a:blip>
          <a:srcRect b="0" l="0" r="0" t="0"/>
          <a:stretch/>
        </p:blipFill>
        <p:spPr>
          <a:xfrm>
            <a:off x="571500" y="2714041"/>
            <a:ext cx="104775" cy="180975"/>
          </a:xfrm>
          <a:prstGeom prst="rect">
            <a:avLst/>
          </a:prstGeom>
          <a:noFill/>
          <a:ln>
            <a:noFill/>
          </a:ln>
        </p:spPr>
      </p:pic>
      <p:pic>
        <p:nvPicPr>
          <p:cNvPr descr="image.png" id="619" name="Google Shape;619;p53"/>
          <p:cNvPicPr preferRelativeResize="0"/>
          <p:nvPr/>
        </p:nvPicPr>
        <p:blipFill rotWithShape="1">
          <a:blip r:embed="rId3">
            <a:alphaModFix/>
          </a:blip>
          <a:srcRect b="0" l="0" r="0" t="0"/>
          <a:stretch/>
        </p:blipFill>
        <p:spPr>
          <a:xfrm>
            <a:off x="571500" y="5357922"/>
            <a:ext cx="104775" cy="180975"/>
          </a:xfrm>
          <a:prstGeom prst="rect">
            <a:avLst/>
          </a:prstGeom>
          <a:noFill/>
          <a:ln>
            <a:noFill/>
          </a:ln>
        </p:spPr>
      </p:pic>
      <p:pic>
        <p:nvPicPr>
          <p:cNvPr descr="image.png" id="620" name="Google Shape;620;p53"/>
          <p:cNvPicPr preferRelativeResize="0"/>
          <p:nvPr/>
        </p:nvPicPr>
        <p:blipFill rotWithShape="1">
          <a:blip r:embed="rId3">
            <a:alphaModFix/>
          </a:blip>
          <a:srcRect b="0" l="0" r="0" t="0"/>
          <a:stretch/>
        </p:blipFill>
        <p:spPr>
          <a:xfrm>
            <a:off x="571500" y="3979790"/>
            <a:ext cx="104775" cy="180975"/>
          </a:xfrm>
          <a:prstGeom prst="rect">
            <a:avLst/>
          </a:prstGeom>
          <a:noFill/>
          <a:ln>
            <a:noFill/>
          </a:ln>
        </p:spPr>
      </p:pic>
      <p:pic>
        <p:nvPicPr>
          <p:cNvPr id="621" name="Google Shape;621;p53" title="27_Bonus_Combo_Scatter_Glucose_vs_BMI.png"/>
          <p:cNvPicPr preferRelativeResize="0"/>
          <p:nvPr/>
        </p:nvPicPr>
        <p:blipFill>
          <a:blip r:embed="rId4">
            <a:alphaModFix/>
          </a:blip>
          <a:stretch>
            <a:fillRect/>
          </a:stretch>
        </p:blipFill>
        <p:spPr>
          <a:xfrm>
            <a:off x="6086625" y="1755550"/>
            <a:ext cx="5714998" cy="4719947"/>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E8F0"/>
        </a:solidFill>
      </p:bgPr>
    </p:bg>
    <p:spTree>
      <p:nvGrpSpPr>
        <p:cNvPr id="625" name="Shape 625"/>
        <p:cNvGrpSpPr/>
        <p:nvPr/>
      </p:nvGrpSpPr>
      <p:grpSpPr>
        <a:xfrm>
          <a:off x="0" y="0"/>
          <a:ext cx="0" cy="0"/>
          <a:chOff x="0" y="0"/>
          <a:chExt cx="0" cy="0"/>
        </a:xfrm>
      </p:grpSpPr>
      <p:pic>
        <p:nvPicPr>
          <p:cNvPr id="626" name="Google Shape;626;p54" title="10_Case4_Glucose_ADA_Rate.png"/>
          <p:cNvPicPr preferRelativeResize="0"/>
          <p:nvPr/>
        </p:nvPicPr>
        <p:blipFill>
          <a:blip r:embed="rId3">
            <a:alphaModFix/>
          </a:blip>
          <a:stretch>
            <a:fillRect/>
          </a:stretch>
        </p:blipFill>
        <p:spPr>
          <a:xfrm>
            <a:off x="240600" y="1462000"/>
            <a:ext cx="6281549" cy="4908450"/>
          </a:xfrm>
          <a:prstGeom prst="rect">
            <a:avLst/>
          </a:prstGeom>
          <a:noFill/>
          <a:ln cap="flat" cmpd="sng" w="9525">
            <a:solidFill>
              <a:srgbClr val="1E3A8A"/>
            </a:solidFill>
            <a:prstDash val="solid"/>
            <a:round/>
            <a:headEnd len="sm" w="sm" type="none"/>
            <a:tailEnd len="sm" w="sm" type="none"/>
          </a:ln>
        </p:spPr>
      </p:pic>
      <p:sp>
        <p:nvSpPr>
          <p:cNvPr id="627" name="Google Shape;627;p54"/>
          <p:cNvSpPr txBox="1"/>
          <p:nvPr/>
        </p:nvSpPr>
        <p:spPr>
          <a:xfrm>
            <a:off x="571500" y="39945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Phân tích Glucose (Chuẩn ADA)</a:t>
            </a:r>
            <a:endParaRPr/>
          </a:p>
        </p:txBody>
      </p:sp>
      <p:sp>
        <p:nvSpPr>
          <p:cNvPr id="628" name="Google Shape;628;p54"/>
          <p:cNvSpPr txBox="1"/>
          <p:nvPr/>
        </p:nvSpPr>
        <p:spPr>
          <a:xfrm>
            <a:off x="7082450" y="2242997"/>
            <a:ext cx="560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Ranh giới Tiền đái tháo đường</a:t>
            </a:r>
            <a:endParaRPr/>
          </a:p>
        </p:txBody>
      </p:sp>
      <p:sp>
        <p:nvSpPr>
          <p:cNvPr id="629" name="Google Shape;629;p54"/>
          <p:cNvSpPr txBox="1"/>
          <p:nvPr/>
        </p:nvSpPr>
        <p:spPr>
          <a:xfrm>
            <a:off x="7368200" y="2719247"/>
            <a:ext cx="5048400" cy="955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350" u="none" cap="none" strike="noStrike">
                <a:solidFill>
                  <a:srgbClr val="1E40AF"/>
                </a:solidFill>
                <a:latin typeface="Nunito"/>
                <a:ea typeface="Nunito"/>
                <a:cs typeface="Nunito"/>
                <a:sym typeface="Nunito"/>
              </a:rPr>
              <a:t>Chuẩn chẩn đoán ADA:</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334155"/>
                </a:solidFill>
                <a:latin typeface="Nunito"/>
                <a:ea typeface="Nunito"/>
                <a:cs typeface="Nunito"/>
                <a:sym typeface="Nunito"/>
              </a:rPr>
              <a:t> Normal (&lt; 100 mg/dL)</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334155"/>
                </a:solidFill>
                <a:latin typeface="Nunito"/>
                <a:ea typeface="Nunito"/>
                <a:cs typeface="Nunito"/>
                <a:sym typeface="Nunito"/>
              </a:rPr>
              <a:t> Prediabetes (100-125 mg/dL)</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334155"/>
                </a:solidFill>
                <a:latin typeface="Nunito"/>
                <a:ea typeface="Nunito"/>
                <a:cs typeface="Nunito"/>
                <a:sym typeface="Nunito"/>
              </a:rPr>
              <a:t> Diabetes (≥ 126 mg/dL).</a:t>
            </a:r>
            <a:endParaRPr/>
          </a:p>
        </p:txBody>
      </p:sp>
      <p:sp>
        <p:nvSpPr>
          <p:cNvPr id="630" name="Google Shape;630;p54"/>
          <p:cNvSpPr txBox="1"/>
          <p:nvPr/>
        </p:nvSpPr>
        <p:spPr>
          <a:xfrm>
            <a:off x="7368200" y="3987858"/>
            <a:ext cx="50484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Tỷ lệ dương tính tăng vọt ở nhóm ≥ 126 mg/dL.</a:t>
            </a:r>
            <a:endParaRPr/>
          </a:p>
        </p:txBody>
      </p:sp>
      <p:sp>
        <p:nvSpPr>
          <p:cNvPr id="631" name="Google Shape;631;p54"/>
          <p:cNvSpPr txBox="1"/>
          <p:nvPr/>
        </p:nvSpPr>
        <p:spPr>
          <a:xfrm>
            <a:off x="7368200" y="4433598"/>
            <a:ext cx="50484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Nhóm này chiếm tới </a:t>
            </a:r>
            <a:r>
              <a:rPr b="1" i="0" lang="en-US" sz="1350" u="none" cap="none" strike="noStrike">
                <a:solidFill>
                  <a:srgbClr val="E11D48"/>
                </a:solidFill>
                <a:latin typeface="Nunito"/>
                <a:ea typeface="Nunito"/>
                <a:cs typeface="Nunito"/>
                <a:sym typeface="Nunito"/>
              </a:rPr>
              <a:t>58%</a:t>
            </a:r>
            <a:r>
              <a:rPr b="0" i="0" lang="en-US" sz="1350" u="none" cap="none" strike="noStrike">
                <a:solidFill>
                  <a:srgbClr val="334155"/>
                </a:solidFill>
                <a:latin typeface="Nunito"/>
                <a:ea typeface="Nunito"/>
                <a:cs typeface="Nunito"/>
                <a:sym typeface="Nunito"/>
              </a:rPr>
              <a:t> tổng số ca mắc bệnh trong toàn bộ quần thể nghiên cứu.</a:t>
            </a:r>
            <a:endParaRPr/>
          </a:p>
        </p:txBody>
      </p:sp>
      <p:pic>
        <p:nvPicPr>
          <p:cNvPr descr="image.png" id="632" name="Google Shape;632;p54"/>
          <p:cNvPicPr preferRelativeResize="0"/>
          <p:nvPr/>
        </p:nvPicPr>
        <p:blipFill rotWithShape="1">
          <a:blip r:embed="rId4">
            <a:alphaModFix/>
          </a:blip>
          <a:srcRect b="0" l="0" r="0" t="0"/>
          <a:stretch/>
        </p:blipFill>
        <p:spPr>
          <a:xfrm>
            <a:off x="7082450" y="2738297"/>
            <a:ext cx="104775" cy="180975"/>
          </a:xfrm>
          <a:prstGeom prst="rect">
            <a:avLst/>
          </a:prstGeom>
          <a:noFill/>
          <a:ln>
            <a:noFill/>
          </a:ln>
        </p:spPr>
      </p:pic>
      <p:pic>
        <p:nvPicPr>
          <p:cNvPr descr="image.png" id="633" name="Google Shape;633;p54"/>
          <p:cNvPicPr preferRelativeResize="0"/>
          <p:nvPr/>
        </p:nvPicPr>
        <p:blipFill rotWithShape="1">
          <a:blip r:embed="rId4">
            <a:alphaModFix/>
          </a:blip>
          <a:srcRect b="0" l="0" r="0" t="0"/>
          <a:stretch/>
        </p:blipFill>
        <p:spPr>
          <a:xfrm>
            <a:off x="7082450" y="4006908"/>
            <a:ext cx="104775" cy="180975"/>
          </a:xfrm>
          <a:prstGeom prst="rect">
            <a:avLst/>
          </a:prstGeom>
          <a:noFill/>
          <a:ln>
            <a:noFill/>
          </a:ln>
        </p:spPr>
      </p:pic>
      <p:pic>
        <p:nvPicPr>
          <p:cNvPr descr="image.png" id="634" name="Google Shape;634;p54"/>
          <p:cNvPicPr preferRelativeResize="0"/>
          <p:nvPr/>
        </p:nvPicPr>
        <p:blipFill rotWithShape="1">
          <a:blip r:embed="rId4">
            <a:alphaModFix/>
          </a:blip>
          <a:srcRect b="0" l="0" r="0" t="0"/>
          <a:stretch/>
        </p:blipFill>
        <p:spPr>
          <a:xfrm>
            <a:off x="7082450" y="4452648"/>
            <a:ext cx="104775" cy="180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6FF"/>
        </a:solidFill>
      </p:bgPr>
    </p:bg>
    <p:spTree>
      <p:nvGrpSpPr>
        <p:cNvPr id="638" name="Shape 638"/>
        <p:cNvGrpSpPr/>
        <p:nvPr/>
      </p:nvGrpSpPr>
      <p:grpSpPr>
        <a:xfrm>
          <a:off x="0" y="0"/>
          <a:ext cx="0" cy="0"/>
          <a:chOff x="0" y="0"/>
          <a:chExt cx="0" cy="0"/>
        </a:xfrm>
      </p:grpSpPr>
      <p:sp>
        <p:nvSpPr>
          <p:cNvPr id="639" name="Google Shape;639;p55"/>
          <p:cNvSpPr txBox="1"/>
          <p:nvPr/>
        </p:nvSpPr>
        <p:spPr>
          <a:xfrm>
            <a:off x="571500" y="476250"/>
            <a:ext cx="540067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Sự đàn hồi của Insulin trước Glucose</a:t>
            </a:r>
            <a:endParaRPr/>
          </a:p>
        </p:txBody>
      </p:sp>
      <p:sp>
        <p:nvSpPr>
          <p:cNvPr id="640" name="Google Shape;640;p55"/>
          <p:cNvSpPr txBox="1"/>
          <p:nvPr/>
        </p:nvSpPr>
        <p:spPr>
          <a:xfrm>
            <a:off x="571500" y="2824162"/>
            <a:ext cx="5400675"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Mối quan hệ phi tuyến</a:t>
            </a:r>
            <a:endParaRPr/>
          </a:p>
        </p:txBody>
      </p:sp>
      <p:sp>
        <p:nvSpPr>
          <p:cNvPr id="641" name="Google Shape;641;p55"/>
          <p:cNvSpPr txBox="1"/>
          <p:nvPr/>
        </p:nvSpPr>
        <p:spPr>
          <a:xfrm>
            <a:off x="857250" y="3300412"/>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Khi Glucose tăng, Insulin cũng tăng để đáp ứng, nhưng mối quan hệ này không tuyến tính mạnh.</a:t>
            </a:r>
            <a:endParaRPr/>
          </a:p>
        </p:txBody>
      </p:sp>
      <p:sp>
        <p:nvSpPr>
          <p:cNvPr id="642" name="Google Shape;642;p55"/>
          <p:cNvSpPr txBox="1"/>
          <p:nvPr/>
        </p:nvSpPr>
        <p:spPr>
          <a:xfrm>
            <a:off x="857250" y="4020442"/>
            <a:ext cx="48577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Nhóm mắc bệnh thể hiện rất rõ tình trạng </a:t>
            </a:r>
            <a:r>
              <a:rPr b="1" i="0" lang="en-US" sz="1350" u="none" cap="none" strike="noStrike">
                <a:solidFill>
                  <a:srgbClr val="E11D48"/>
                </a:solidFill>
                <a:latin typeface="Nunito"/>
                <a:ea typeface="Nunito"/>
                <a:cs typeface="Nunito"/>
                <a:sym typeface="Nunito"/>
              </a:rPr>
              <a:t>kháng insulin</a:t>
            </a:r>
            <a:r>
              <a:rPr b="0" i="0" lang="en-US" sz="1350" u="none" cap="none" strike="noStrike">
                <a:solidFill>
                  <a:srgbClr val="334155"/>
                </a:solidFill>
                <a:latin typeface="Nunito"/>
                <a:ea typeface="Nunito"/>
                <a:cs typeface="Nunito"/>
                <a:sym typeface="Nunito"/>
              </a:rPr>
              <a:t>.</a:t>
            </a:r>
            <a:endParaRPr/>
          </a:p>
        </p:txBody>
      </p:sp>
      <p:sp>
        <p:nvSpPr>
          <p:cNvPr id="643" name="Google Shape;643;p55"/>
          <p:cNvSpPr txBox="1"/>
          <p:nvPr/>
        </p:nvSpPr>
        <p:spPr>
          <a:xfrm>
            <a:off x="857250" y="4466183"/>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Đường huyết lên rất cao nhưng lượng insulin bơm ra từ tuyến tụy không mang lại hiệu quả chuyển hóa.</a:t>
            </a:r>
            <a:endParaRPr/>
          </a:p>
        </p:txBody>
      </p:sp>
      <p:pic>
        <p:nvPicPr>
          <p:cNvPr descr="image.png" id="644" name="Google Shape;644;p55"/>
          <p:cNvPicPr preferRelativeResize="0"/>
          <p:nvPr/>
        </p:nvPicPr>
        <p:blipFill rotWithShape="1">
          <a:blip r:embed="rId3">
            <a:alphaModFix/>
          </a:blip>
          <a:srcRect b="0" l="0" r="0" t="0"/>
          <a:stretch/>
        </p:blipFill>
        <p:spPr>
          <a:xfrm>
            <a:off x="571500" y="3319462"/>
            <a:ext cx="104775" cy="180975"/>
          </a:xfrm>
          <a:prstGeom prst="rect">
            <a:avLst/>
          </a:prstGeom>
          <a:noFill/>
          <a:ln>
            <a:noFill/>
          </a:ln>
        </p:spPr>
      </p:pic>
      <p:pic>
        <p:nvPicPr>
          <p:cNvPr descr="image.png" id="645" name="Google Shape;645;p55"/>
          <p:cNvPicPr preferRelativeResize="0"/>
          <p:nvPr/>
        </p:nvPicPr>
        <p:blipFill rotWithShape="1">
          <a:blip r:embed="rId3">
            <a:alphaModFix/>
          </a:blip>
          <a:srcRect b="0" l="0" r="0" t="0"/>
          <a:stretch/>
        </p:blipFill>
        <p:spPr>
          <a:xfrm>
            <a:off x="571500" y="4039492"/>
            <a:ext cx="104775" cy="180975"/>
          </a:xfrm>
          <a:prstGeom prst="rect">
            <a:avLst/>
          </a:prstGeom>
          <a:noFill/>
          <a:ln>
            <a:noFill/>
          </a:ln>
        </p:spPr>
      </p:pic>
      <p:pic>
        <p:nvPicPr>
          <p:cNvPr descr="image.png" id="646" name="Google Shape;646;p55"/>
          <p:cNvPicPr preferRelativeResize="0"/>
          <p:nvPr/>
        </p:nvPicPr>
        <p:blipFill rotWithShape="1">
          <a:blip r:embed="rId3">
            <a:alphaModFix/>
          </a:blip>
          <a:srcRect b="0" l="0" r="0" t="0"/>
          <a:stretch/>
        </p:blipFill>
        <p:spPr>
          <a:xfrm>
            <a:off x="571500" y="4485233"/>
            <a:ext cx="104775" cy="180975"/>
          </a:xfrm>
          <a:prstGeom prst="rect">
            <a:avLst/>
          </a:prstGeom>
          <a:noFill/>
          <a:ln>
            <a:noFill/>
          </a:ln>
        </p:spPr>
      </p:pic>
      <p:pic>
        <p:nvPicPr>
          <p:cNvPr id="647" name="Google Shape;647;p55" title="11_Case4_Scatter_Insulin_Glucose.png"/>
          <p:cNvPicPr preferRelativeResize="0"/>
          <p:nvPr/>
        </p:nvPicPr>
        <p:blipFill>
          <a:blip r:embed="rId4">
            <a:alphaModFix/>
          </a:blip>
          <a:stretch>
            <a:fillRect/>
          </a:stretch>
        </p:blipFill>
        <p:spPr>
          <a:xfrm>
            <a:off x="5895975" y="1118802"/>
            <a:ext cx="5890627" cy="4911800"/>
          </a:xfrm>
          <a:prstGeom prst="rect">
            <a:avLst/>
          </a:prstGeom>
          <a:noFill/>
          <a:ln cap="flat" cmpd="sng" w="9525">
            <a:solidFill>
              <a:srgbClr val="1E3A8A"/>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651" name="Shape 651"/>
        <p:cNvGrpSpPr/>
        <p:nvPr/>
      </p:nvGrpSpPr>
      <p:grpSpPr>
        <a:xfrm>
          <a:off x="0" y="0"/>
          <a:ext cx="0" cy="0"/>
          <a:chOff x="0" y="0"/>
          <a:chExt cx="0" cy="0"/>
        </a:xfrm>
      </p:grpSpPr>
      <p:sp>
        <p:nvSpPr>
          <p:cNvPr id="652" name="Google Shape;652;p56"/>
          <p:cNvSpPr txBox="1"/>
          <p:nvPr/>
        </p:nvSpPr>
        <p:spPr>
          <a:xfrm>
            <a:off x="154850" y="718000"/>
            <a:ext cx="55020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Playfair Display"/>
                <a:ea typeface="Playfair Display"/>
                <a:cs typeface="Playfair Display"/>
                <a:sym typeface="Playfair Display"/>
              </a:rPr>
              <a:t>Phân tích Khám phá (EDA): Mối quan hệ SkinThickness và Độ tuổi</a:t>
            </a:r>
            <a:endParaRPr/>
          </a:p>
        </p:txBody>
      </p:sp>
      <p:sp>
        <p:nvSpPr>
          <p:cNvPr id="653" name="Google Shape;653;p56"/>
          <p:cNvSpPr txBox="1"/>
          <p:nvPr/>
        </p:nvSpPr>
        <p:spPr>
          <a:xfrm>
            <a:off x="154851" y="1806775"/>
            <a:ext cx="56871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FFFFFF"/>
                </a:solidFill>
                <a:latin typeface="Playfair Display"/>
                <a:ea typeface="Playfair Display"/>
                <a:cs typeface="Playfair Display"/>
                <a:sym typeface="Playfair Display"/>
              </a:rPr>
              <a:t>Đặc điểm dữ liệu và Sự phân tán nhóm</a:t>
            </a:r>
            <a:endParaRPr/>
          </a:p>
        </p:txBody>
      </p:sp>
      <p:sp>
        <p:nvSpPr>
          <p:cNvPr id="654" name="Google Shape;654;p56"/>
          <p:cNvSpPr txBox="1"/>
          <p:nvPr/>
        </p:nvSpPr>
        <p:spPr>
          <a:xfrm>
            <a:off x="371050" y="2355041"/>
            <a:ext cx="4857900" cy="77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200">
                <a:solidFill>
                  <a:schemeClr val="lt1"/>
                </a:solidFill>
                <a:latin typeface="Nunito"/>
                <a:ea typeface="Nunito"/>
                <a:cs typeface="Nunito"/>
                <a:sym typeface="Nunito"/>
              </a:rPr>
              <a:t>Sự chồng lấp dữ liệu:</a:t>
            </a:r>
            <a:r>
              <a:rPr lang="en-US" sz="1200">
                <a:solidFill>
                  <a:schemeClr val="lt1"/>
                </a:solidFill>
                <a:latin typeface="Nunito"/>
                <a:ea typeface="Nunito"/>
                <a:cs typeface="Nunito"/>
                <a:sym typeface="Nunito"/>
              </a:rPr>
              <a:t> Hai nhóm (Outcome 0 và 1) đan xen mạnh tại khu vực trung tâm, cho thấy ranh giới phân loại bằng 2 đặc trưng này là không rõ ràng.</a:t>
            </a:r>
            <a:endParaRPr sz="1500">
              <a:solidFill>
                <a:schemeClr val="lt1"/>
              </a:solidFill>
              <a:latin typeface="Nunito"/>
              <a:ea typeface="Nunito"/>
              <a:cs typeface="Nunito"/>
              <a:sym typeface="Nunito"/>
            </a:endParaRPr>
          </a:p>
        </p:txBody>
      </p:sp>
      <p:sp>
        <p:nvSpPr>
          <p:cNvPr id="655" name="Google Shape;655;p56"/>
          <p:cNvSpPr txBox="1"/>
          <p:nvPr/>
        </p:nvSpPr>
        <p:spPr>
          <a:xfrm>
            <a:off x="371050" y="3584925"/>
            <a:ext cx="4857900" cy="77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200">
                <a:solidFill>
                  <a:schemeClr val="lt1"/>
                </a:solidFill>
                <a:latin typeface="Nunito"/>
                <a:ea typeface="Nunito"/>
                <a:cs typeface="Nunito"/>
                <a:sym typeface="Nunito"/>
              </a:rPr>
              <a:t>Xu hướng nhóm bệnh:</a:t>
            </a:r>
            <a:r>
              <a:rPr lang="en-US" sz="1200">
                <a:solidFill>
                  <a:schemeClr val="lt1"/>
                </a:solidFill>
                <a:latin typeface="Nunito"/>
                <a:ea typeface="Nunito"/>
                <a:cs typeface="Nunito"/>
                <a:sym typeface="Nunito"/>
              </a:rPr>
              <a:t> Nhóm mắc bệnh (màu cam) có xu hướng phân tán rộng hơn và xuất hiện với mật độ cao hơn ở các vùng có giá trị Age lớn.</a:t>
            </a:r>
            <a:endParaRPr sz="1500">
              <a:solidFill>
                <a:schemeClr val="lt1"/>
              </a:solidFill>
              <a:latin typeface="Nunito"/>
              <a:ea typeface="Nunito"/>
              <a:cs typeface="Nunito"/>
              <a:sym typeface="Nunito"/>
            </a:endParaRPr>
          </a:p>
        </p:txBody>
      </p:sp>
      <p:pic>
        <p:nvPicPr>
          <p:cNvPr descr="image.png" id="656" name="Google Shape;656;p56"/>
          <p:cNvPicPr preferRelativeResize="0"/>
          <p:nvPr/>
        </p:nvPicPr>
        <p:blipFill rotWithShape="1">
          <a:blip r:embed="rId3">
            <a:alphaModFix/>
          </a:blip>
          <a:srcRect b="0" l="0" r="0" t="0"/>
          <a:stretch/>
        </p:blipFill>
        <p:spPr>
          <a:xfrm>
            <a:off x="195275" y="2364541"/>
            <a:ext cx="104775" cy="180975"/>
          </a:xfrm>
          <a:prstGeom prst="rect">
            <a:avLst/>
          </a:prstGeom>
          <a:noFill/>
          <a:ln>
            <a:noFill/>
          </a:ln>
        </p:spPr>
      </p:pic>
      <p:pic>
        <p:nvPicPr>
          <p:cNvPr descr="image.png" id="657" name="Google Shape;657;p56"/>
          <p:cNvPicPr preferRelativeResize="0"/>
          <p:nvPr/>
        </p:nvPicPr>
        <p:blipFill rotWithShape="1">
          <a:blip r:embed="rId3">
            <a:alphaModFix/>
          </a:blip>
          <a:srcRect b="0" l="0" r="0" t="0"/>
          <a:stretch/>
        </p:blipFill>
        <p:spPr>
          <a:xfrm>
            <a:off x="195275" y="3584928"/>
            <a:ext cx="104775" cy="180975"/>
          </a:xfrm>
          <a:prstGeom prst="rect">
            <a:avLst/>
          </a:prstGeom>
          <a:noFill/>
          <a:ln>
            <a:noFill/>
          </a:ln>
        </p:spPr>
      </p:pic>
      <p:sp>
        <p:nvSpPr>
          <p:cNvPr id="658" name="Google Shape;658;p56"/>
          <p:cNvSpPr/>
          <p:nvPr/>
        </p:nvSpPr>
        <p:spPr>
          <a:xfrm>
            <a:off x="9334500" y="-17240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659" name="Google Shape;659;p56"/>
          <p:cNvSpPr/>
          <p:nvPr/>
        </p:nvSpPr>
        <p:spPr>
          <a:xfrm>
            <a:off x="-826600" y="500412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660" name="Google Shape;660;p56"/>
          <p:cNvSpPr/>
          <p:nvPr/>
        </p:nvSpPr>
        <p:spPr>
          <a:xfrm>
            <a:off x="1180900" y="601957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661" name="Google Shape;661;p56"/>
          <p:cNvSpPr/>
          <p:nvPr/>
        </p:nvSpPr>
        <p:spPr>
          <a:xfrm>
            <a:off x="7393725" y="-24545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pic>
        <p:nvPicPr>
          <p:cNvPr id="662" name="Google Shape;662;p56" title="17_Bonus_Combo_Scatter_Pregnancies_vs_Glucose.png"/>
          <p:cNvPicPr preferRelativeResize="0"/>
          <p:nvPr/>
        </p:nvPicPr>
        <p:blipFill>
          <a:blip r:embed="rId4">
            <a:alphaModFix/>
          </a:blip>
          <a:stretch>
            <a:fillRect/>
          </a:stretch>
        </p:blipFill>
        <p:spPr>
          <a:xfrm>
            <a:off x="5756163" y="1275175"/>
            <a:ext cx="6132624" cy="506485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6" name="Shape 666"/>
        <p:cNvGrpSpPr/>
        <p:nvPr/>
      </p:nvGrpSpPr>
      <p:grpSpPr>
        <a:xfrm>
          <a:off x="0" y="0"/>
          <a:ext cx="0" cy="0"/>
          <a:chOff x="0" y="0"/>
          <a:chExt cx="0" cy="0"/>
        </a:xfrm>
      </p:grpSpPr>
      <p:sp>
        <p:nvSpPr>
          <p:cNvPr id="667" name="Google Shape;667;p57"/>
          <p:cNvSpPr/>
          <p:nvPr/>
        </p:nvSpPr>
        <p:spPr>
          <a:xfrm rot="10800000">
            <a:off x="-287050" y="5336363"/>
            <a:ext cx="2852100" cy="1863600"/>
          </a:xfrm>
          <a:prstGeom prst="rect">
            <a:avLst/>
          </a:prstGeom>
          <a:solidFill>
            <a:srgbClr val="1E3A8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sp>
        <p:nvSpPr>
          <p:cNvPr id="668" name="Google Shape;668;p57"/>
          <p:cNvSpPr/>
          <p:nvPr/>
        </p:nvSpPr>
        <p:spPr>
          <a:xfrm rot="10800000">
            <a:off x="-50400" y="3037313"/>
            <a:ext cx="4056600" cy="39534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669" name="Google Shape;669;p57"/>
          <p:cNvSpPr/>
          <p:nvPr/>
        </p:nvSpPr>
        <p:spPr>
          <a:xfrm>
            <a:off x="9612400" y="-301950"/>
            <a:ext cx="2852100" cy="1863600"/>
          </a:xfrm>
          <a:prstGeom prst="rect">
            <a:avLst/>
          </a:prstGeom>
          <a:solidFill>
            <a:srgbClr val="1E3A8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sp>
        <p:nvSpPr>
          <p:cNvPr id="670" name="Google Shape;670;p57"/>
          <p:cNvSpPr/>
          <p:nvPr/>
        </p:nvSpPr>
        <p:spPr>
          <a:xfrm>
            <a:off x="8171250" y="-92700"/>
            <a:ext cx="4056600" cy="39534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671" name="Google Shape;671;p57"/>
          <p:cNvSpPr txBox="1"/>
          <p:nvPr/>
        </p:nvSpPr>
        <p:spPr>
          <a:xfrm>
            <a:off x="571500" y="47625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1E3A8A"/>
                </a:solidFill>
                <a:latin typeface="Playfair Display"/>
                <a:ea typeface="Playfair Display"/>
                <a:cs typeface="Playfair Display"/>
                <a:sym typeface="Playfair Display"/>
              </a:rPr>
              <a:t>Phân tích Khám phá (EDA): Mối quan hệ Glucose và Huyết áp</a:t>
            </a:r>
            <a:endParaRPr/>
          </a:p>
        </p:txBody>
      </p:sp>
      <p:sp>
        <p:nvSpPr>
          <p:cNvPr id="672" name="Google Shape;672;p57"/>
          <p:cNvSpPr txBox="1"/>
          <p:nvPr/>
        </p:nvSpPr>
        <p:spPr>
          <a:xfrm>
            <a:off x="6572400" y="1785791"/>
            <a:ext cx="560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chemeClr val="dk2"/>
                </a:solidFill>
                <a:latin typeface="Playfair Display"/>
                <a:ea typeface="Playfair Display"/>
                <a:cs typeface="Playfair Display"/>
                <a:sym typeface="Playfair Display"/>
              </a:rPr>
              <a:t>Đánh giá tương quan và Khả năng phân tách lớp</a:t>
            </a:r>
            <a:endParaRPr b="1" sz="1950">
              <a:solidFill>
                <a:schemeClr val="dk2"/>
              </a:solidFill>
              <a:latin typeface="Playfair Display"/>
              <a:ea typeface="Playfair Display"/>
              <a:cs typeface="Playfair Display"/>
              <a:sym typeface="Playfair Display"/>
            </a:endParaRPr>
          </a:p>
        </p:txBody>
      </p:sp>
      <p:sp>
        <p:nvSpPr>
          <p:cNvPr id="673" name="Google Shape;673;p57"/>
          <p:cNvSpPr txBox="1"/>
          <p:nvPr/>
        </p:nvSpPr>
        <p:spPr>
          <a:xfrm>
            <a:off x="6943725" y="2430691"/>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Sự chồng chéo đáng kể:</a:t>
            </a:r>
            <a:r>
              <a:rPr lang="en-US" sz="1100">
                <a:solidFill>
                  <a:schemeClr val="dk1"/>
                </a:solidFill>
              </a:rPr>
              <a:t> Nhóm không mắc bệnh (xanh) và mắc bệnh (đỏ) đan xen dày đặc tại vùng trung tâm (quanh Z-score = 0), cho thấy dữ liệu có mức độ pha trộn cao.</a:t>
            </a:r>
            <a:endParaRPr>
              <a:latin typeface="Nunito"/>
              <a:ea typeface="Nunito"/>
              <a:cs typeface="Nunito"/>
              <a:sym typeface="Nunito"/>
            </a:endParaRPr>
          </a:p>
        </p:txBody>
      </p:sp>
      <p:sp>
        <p:nvSpPr>
          <p:cNvPr id="674" name="Google Shape;674;p57"/>
          <p:cNvSpPr txBox="1"/>
          <p:nvPr/>
        </p:nvSpPr>
        <p:spPr>
          <a:xfrm>
            <a:off x="6943725" y="4748297"/>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Hạn chế của cặp đặc trưng:</a:t>
            </a:r>
            <a:r>
              <a:rPr lang="en-US" sz="1100">
                <a:solidFill>
                  <a:schemeClr val="dk1"/>
                </a:solidFill>
              </a:rPr>
              <a:t> Mức độ chồng lấp lớn giữa hai lớp chứng tỏ chỉ dùng riêng cặp Glucose và BloodPressure là chưa đủ để thiết lập ranh giới phân loại chính xác cho mô hình.</a:t>
            </a:r>
            <a:endParaRPr>
              <a:solidFill>
                <a:schemeClr val="dk1"/>
              </a:solidFill>
              <a:latin typeface="Nunito"/>
              <a:ea typeface="Nunito"/>
              <a:cs typeface="Nunito"/>
              <a:sym typeface="Nunito"/>
            </a:endParaRPr>
          </a:p>
        </p:txBody>
      </p:sp>
      <p:pic>
        <p:nvPicPr>
          <p:cNvPr descr="image.png" id="675" name="Google Shape;675;p57"/>
          <p:cNvPicPr preferRelativeResize="0"/>
          <p:nvPr/>
        </p:nvPicPr>
        <p:blipFill rotWithShape="1">
          <a:blip r:embed="rId3">
            <a:alphaModFix/>
          </a:blip>
          <a:srcRect b="0" l="0" r="0" t="0"/>
          <a:stretch/>
        </p:blipFill>
        <p:spPr>
          <a:xfrm>
            <a:off x="6657975" y="2430691"/>
            <a:ext cx="104775" cy="180975"/>
          </a:xfrm>
          <a:prstGeom prst="rect">
            <a:avLst/>
          </a:prstGeom>
          <a:noFill/>
          <a:ln>
            <a:noFill/>
          </a:ln>
        </p:spPr>
      </p:pic>
      <p:pic>
        <p:nvPicPr>
          <p:cNvPr descr="image.png" id="676" name="Google Shape;676;p57"/>
          <p:cNvPicPr preferRelativeResize="0"/>
          <p:nvPr/>
        </p:nvPicPr>
        <p:blipFill rotWithShape="1">
          <a:blip r:embed="rId3">
            <a:alphaModFix/>
          </a:blip>
          <a:srcRect b="0" l="0" r="0" t="0"/>
          <a:stretch/>
        </p:blipFill>
        <p:spPr>
          <a:xfrm>
            <a:off x="6657975" y="4748297"/>
            <a:ext cx="104775" cy="180975"/>
          </a:xfrm>
          <a:prstGeom prst="rect">
            <a:avLst/>
          </a:prstGeom>
          <a:noFill/>
          <a:ln>
            <a:noFill/>
          </a:ln>
        </p:spPr>
      </p:pic>
      <p:sp>
        <p:nvSpPr>
          <p:cNvPr id="677" name="Google Shape;677;p57"/>
          <p:cNvSpPr txBox="1"/>
          <p:nvPr/>
        </p:nvSpPr>
        <p:spPr>
          <a:xfrm>
            <a:off x="6943725" y="3589497"/>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Vai trò của Glucose:</a:t>
            </a:r>
            <a:r>
              <a:rPr lang="en-US" sz="1100">
                <a:solidFill>
                  <a:schemeClr val="dk1"/>
                </a:solidFill>
              </a:rPr>
              <a:t> Glucose đóng góp tín hiệu phân tách rõ nét hơn (nhóm bệnh có xu hướng lệch phải), trong khi Huyết áp không cho thấy sự khác biệt đáng kể giữa hai nhóm.</a:t>
            </a:r>
            <a:endParaRPr>
              <a:solidFill>
                <a:schemeClr val="dk1"/>
              </a:solidFill>
              <a:latin typeface="Nunito"/>
              <a:ea typeface="Nunito"/>
              <a:cs typeface="Nunito"/>
              <a:sym typeface="Nunito"/>
            </a:endParaRPr>
          </a:p>
        </p:txBody>
      </p:sp>
      <p:pic>
        <p:nvPicPr>
          <p:cNvPr descr="image.png" id="678" name="Google Shape;678;p57"/>
          <p:cNvPicPr preferRelativeResize="0"/>
          <p:nvPr/>
        </p:nvPicPr>
        <p:blipFill rotWithShape="1">
          <a:blip r:embed="rId3">
            <a:alphaModFix/>
          </a:blip>
          <a:srcRect b="0" l="0" r="0" t="0"/>
          <a:stretch/>
        </p:blipFill>
        <p:spPr>
          <a:xfrm>
            <a:off x="6657975" y="3589497"/>
            <a:ext cx="104775" cy="180975"/>
          </a:xfrm>
          <a:prstGeom prst="rect">
            <a:avLst/>
          </a:prstGeom>
          <a:noFill/>
          <a:ln>
            <a:noFill/>
          </a:ln>
        </p:spPr>
      </p:pic>
      <p:pic>
        <p:nvPicPr>
          <p:cNvPr id="679" name="Google Shape;679;p57" title="24_Bonus_Combo_Scatter_Glucose_vs_BloodPressure.png"/>
          <p:cNvPicPr preferRelativeResize="0"/>
          <p:nvPr/>
        </p:nvPicPr>
        <p:blipFill>
          <a:blip r:embed="rId4">
            <a:alphaModFix/>
          </a:blip>
          <a:stretch>
            <a:fillRect/>
          </a:stretch>
        </p:blipFill>
        <p:spPr>
          <a:xfrm>
            <a:off x="468700" y="1441275"/>
            <a:ext cx="5800574" cy="4790623"/>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E8F0"/>
        </a:solidFill>
      </p:bgPr>
    </p:bg>
    <p:spTree>
      <p:nvGrpSpPr>
        <p:cNvPr id="683" name="Shape 683"/>
        <p:cNvGrpSpPr/>
        <p:nvPr/>
      </p:nvGrpSpPr>
      <p:grpSpPr>
        <a:xfrm>
          <a:off x="0" y="0"/>
          <a:ext cx="0" cy="0"/>
          <a:chOff x="0" y="0"/>
          <a:chExt cx="0" cy="0"/>
        </a:xfrm>
      </p:grpSpPr>
      <p:sp>
        <p:nvSpPr>
          <p:cNvPr id="684" name="Google Shape;684;p58"/>
          <p:cNvSpPr txBox="1"/>
          <p:nvPr/>
        </p:nvSpPr>
        <p:spPr>
          <a:xfrm>
            <a:off x="571500" y="39945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1E3A8A"/>
                </a:solidFill>
                <a:latin typeface="Playfair Display"/>
                <a:ea typeface="Playfair Display"/>
                <a:cs typeface="Playfair Display"/>
                <a:sym typeface="Playfair Display"/>
              </a:rPr>
              <a:t>Phân tích Khám phá (EDA): Mối quan hệ Glucose và SkinThickness</a:t>
            </a:r>
            <a:endParaRPr/>
          </a:p>
        </p:txBody>
      </p:sp>
      <p:sp>
        <p:nvSpPr>
          <p:cNvPr id="685" name="Google Shape;685;p58"/>
          <p:cNvSpPr txBox="1"/>
          <p:nvPr/>
        </p:nvSpPr>
        <p:spPr>
          <a:xfrm>
            <a:off x="571500" y="2321272"/>
            <a:ext cx="560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2563EB"/>
                </a:solidFill>
                <a:latin typeface="Playfair Display"/>
                <a:ea typeface="Playfair Display"/>
                <a:cs typeface="Playfair Display"/>
                <a:sym typeface="Playfair Display"/>
              </a:rPr>
              <a:t>Dấu vết Xử lý nhiễu và Sự tương quan</a:t>
            </a:r>
            <a:endParaRPr/>
          </a:p>
        </p:txBody>
      </p:sp>
      <p:sp>
        <p:nvSpPr>
          <p:cNvPr id="686" name="Google Shape;686;p58"/>
          <p:cNvSpPr txBox="1"/>
          <p:nvPr/>
        </p:nvSpPr>
        <p:spPr>
          <a:xfrm>
            <a:off x="857250" y="2797522"/>
            <a:ext cx="5048400" cy="372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1100">
                <a:solidFill>
                  <a:schemeClr val="dk1"/>
                </a:solidFill>
                <a:latin typeface="Nunito"/>
                <a:ea typeface="Nunito"/>
                <a:cs typeface="Nunito"/>
                <a:sym typeface="Nunito"/>
              </a:rPr>
              <a:t>Sự chồng lấp dữ liệu:</a:t>
            </a:r>
            <a:r>
              <a:rPr lang="en-US" sz="1100">
                <a:solidFill>
                  <a:schemeClr val="dk1"/>
                </a:solidFill>
                <a:latin typeface="Nunito"/>
                <a:ea typeface="Nunito"/>
                <a:cs typeface="Nunito"/>
                <a:sym typeface="Nunito"/>
              </a:rPr>
              <a:t> Tại vùng Glucose thấp, hai nhóm (Outcome 0 và 1) đan xen mạnh, cho thấy ranh giới phân loại chưa rõ ràng.</a:t>
            </a:r>
            <a:endParaRPr>
              <a:solidFill>
                <a:schemeClr val="dk1"/>
              </a:solidFill>
              <a:latin typeface="Nunito"/>
              <a:ea typeface="Nunito"/>
              <a:cs typeface="Nunito"/>
              <a:sym typeface="Nunito"/>
            </a:endParaRPr>
          </a:p>
        </p:txBody>
      </p:sp>
      <p:sp>
        <p:nvSpPr>
          <p:cNvPr id="687" name="Google Shape;687;p58"/>
          <p:cNvSpPr txBox="1"/>
          <p:nvPr/>
        </p:nvSpPr>
        <p:spPr>
          <a:xfrm>
            <a:off x="857250" y="3620958"/>
            <a:ext cx="5048400" cy="440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Xu hướng nhóm bệnh:</a:t>
            </a:r>
            <a:r>
              <a:rPr lang="en-US" sz="1100">
                <a:solidFill>
                  <a:schemeClr val="dk1"/>
                </a:solidFill>
                <a:latin typeface="Nunito"/>
                <a:ea typeface="Nunito"/>
                <a:cs typeface="Nunito"/>
                <a:sym typeface="Nunito"/>
              </a:rPr>
              <a:t> Nhóm mắc bệnh (màu cam) phân tán rộng hơn và có xu hướng tập trung ở các vùng có giá trị Glucose cao hơn so với nhóm an toàn.</a:t>
            </a:r>
            <a:endParaRPr>
              <a:latin typeface="Nunito"/>
              <a:ea typeface="Nunito"/>
              <a:cs typeface="Nunito"/>
              <a:sym typeface="Nunito"/>
            </a:endParaRPr>
          </a:p>
        </p:txBody>
      </p:sp>
      <p:sp>
        <p:nvSpPr>
          <p:cNvPr id="688" name="Google Shape;688;p58"/>
          <p:cNvSpPr txBox="1"/>
          <p:nvPr/>
        </p:nvSpPr>
        <p:spPr>
          <a:xfrm>
            <a:off x="857250" y="4511873"/>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Dấu vết điền khuyết (Imputation):</a:t>
            </a:r>
            <a:r>
              <a:rPr lang="en-US" sz="1100">
                <a:solidFill>
                  <a:schemeClr val="dk1"/>
                </a:solidFill>
              </a:rPr>
              <a:t> Vệt dữ liệu tập trung dày đặc tại </a:t>
            </a:r>
            <a:r>
              <a:rPr lang="en-US" sz="1100">
                <a:solidFill>
                  <a:schemeClr val="dk1"/>
                </a:solidFill>
                <a:latin typeface="Roboto Mono"/>
                <a:ea typeface="Roboto Mono"/>
                <a:cs typeface="Roboto Mono"/>
                <a:sym typeface="Roboto Mono"/>
              </a:rPr>
              <a:t>SkinThickness ≈ 0</a:t>
            </a:r>
            <a:r>
              <a:rPr lang="en-US" sz="1100">
                <a:solidFill>
                  <a:schemeClr val="dk1"/>
                </a:solidFill>
              </a:rPr>
              <a:t> cho thấy dữ liệu thiếu sót đã được lấp đầy bằng giá trị trung bình/trung vị trước khi chuẩn hóa.</a:t>
            </a:r>
            <a:endParaRPr>
              <a:solidFill>
                <a:schemeClr val="dk1"/>
              </a:solidFill>
            </a:endParaRPr>
          </a:p>
        </p:txBody>
      </p:sp>
      <p:pic>
        <p:nvPicPr>
          <p:cNvPr descr="image.png" id="689" name="Google Shape;689;p58"/>
          <p:cNvPicPr preferRelativeResize="0"/>
          <p:nvPr/>
        </p:nvPicPr>
        <p:blipFill rotWithShape="1">
          <a:blip r:embed="rId3">
            <a:alphaModFix/>
          </a:blip>
          <a:srcRect b="0" l="0" r="0" t="0"/>
          <a:stretch/>
        </p:blipFill>
        <p:spPr>
          <a:xfrm>
            <a:off x="571500" y="2816572"/>
            <a:ext cx="104775" cy="180975"/>
          </a:xfrm>
          <a:prstGeom prst="rect">
            <a:avLst/>
          </a:prstGeom>
          <a:noFill/>
          <a:ln>
            <a:noFill/>
          </a:ln>
        </p:spPr>
      </p:pic>
      <p:pic>
        <p:nvPicPr>
          <p:cNvPr descr="image.png" id="690" name="Google Shape;690;p58"/>
          <p:cNvPicPr preferRelativeResize="0"/>
          <p:nvPr/>
        </p:nvPicPr>
        <p:blipFill rotWithShape="1">
          <a:blip r:embed="rId3">
            <a:alphaModFix/>
          </a:blip>
          <a:srcRect b="0" l="0" r="0" t="0"/>
          <a:stretch/>
        </p:blipFill>
        <p:spPr>
          <a:xfrm>
            <a:off x="571500" y="3640008"/>
            <a:ext cx="104775" cy="180975"/>
          </a:xfrm>
          <a:prstGeom prst="rect">
            <a:avLst/>
          </a:prstGeom>
          <a:noFill/>
          <a:ln>
            <a:noFill/>
          </a:ln>
        </p:spPr>
      </p:pic>
      <p:pic>
        <p:nvPicPr>
          <p:cNvPr descr="image.png" id="691" name="Google Shape;691;p58"/>
          <p:cNvPicPr preferRelativeResize="0"/>
          <p:nvPr/>
        </p:nvPicPr>
        <p:blipFill rotWithShape="1">
          <a:blip r:embed="rId3">
            <a:alphaModFix/>
          </a:blip>
          <a:srcRect b="0" l="0" r="0" t="0"/>
          <a:stretch/>
        </p:blipFill>
        <p:spPr>
          <a:xfrm>
            <a:off x="571500" y="4530923"/>
            <a:ext cx="104775" cy="180975"/>
          </a:xfrm>
          <a:prstGeom prst="rect">
            <a:avLst/>
          </a:prstGeom>
          <a:noFill/>
          <a:ln>
            <a:noFill/>
          </a:ln>
        </p:spPr>
      </p:pic>
      <p:pic>
        <p:nvPicPr>
          <p:cNvPr id="692" name="Google Shape;692;p58" title="25_Bonus_Combo_Scatter_Glucose_vs_SkinThickness.png"/>
          <p:cNvPicPr preferRelativeResize="0"/>
          <p:nvPr/>
        </p:nvPicPr>
        <p:blipFill>
          <a:blip r:embed="rId4">
            <a:alphaModFix/>
          </a:blip>
          <a:stretch>
            <a:fillRect/>
          </a:stretch>
        </p:blipFill>
        <p:spPr>
          <a:xfrm>
            <a:off x="5905650" y="1310750"/>
            <a:ext cx="5714998" cy="4719947"/>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696" name="Shape 696"/>
        <p:cNvGrpSpPr/>
        <p:nvPr/>
      </p:nvGrpSpPr>
      <p:grpSpPr>
        <a:xfrm>
          <a:off x="0" y="0"/>
          <a:ext cx="0" cy="0"/>
          <a:chOff x="0" y="0"/>
          <a:chExt cx="0" cy="0"/>
        </a:xfrm>
      </p:grpSpPr>
      <p:sp>
        <p:nvSpPr>
          <p:cNvPr id="697" name="Google Shape;697;p59"/>
          <p:cNvSpPr txBox="1"/>
          <p:nvPr/>
        </p:nvSpPr>
        <p:spPr>
          <a:xfrm>
            <a:off x="571500" y="476250"/>
            <a:ext cx="1160145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FFFFFF"/>
                </a:solidFill>
                <a:latin typeface="Playfair Display"/>
                <a:ea typeface="Playfair Display"/>
                <a:cs typeface="Playfair Display"/>
                <a:sym typeface="Playfair Display"/>
              </a:rPr>
              <a:t>Yếu tố Di truyền học (DPF)</a:t>
            </a:r>
            <a:endParaRPr/>
          </a:p>
        </p:txBody>
      </p:sp>
      <p:sp>
        <p:nvSpPr>
          <p:cNvPr id="698" name="Google Shape;698;p59"/>
          <p:cNvSpPr txBox="1"/>
          <p:nvPr/>
        </p:nvSpPr>
        <p:spPr>
          <a:xfrm>
            <a:off x="571500" y="2595562"/>
            <a:ext cx="5600700"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FFFFF"/>
                </a:solidFill>
                <a:latin typeface="Playfair Display"/>
                <a:ea typeface="Playfair Display"/>
                <a:cs typeface="Playfair Display"/>
                <a:sym typeface="Playfair Display"/>
              </a:rPr>
              <a:t>Chức năng phả hệ đái tháo đường</a:t>
            </a:r>
            <a:endParaRPr/>
          </a:p>
        </p:txBody>
      </p:sp>
      <p:sp>
        <p:nvSpPr>
          <p:cNvPr id="699" name="Google Shape;699;p59"/>
          <p:cNvSpPr txBox="1"/>
          <p:nvPr/>
        </p:nvSpPr>
        <p:spPr>
          <a:xfrm>
            <a:off x="857250" y="3071812"/>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E2E8F0"/>
                </a:solidFill>
                <a:latin typeface="Nunito"/>
                <a:ea typeface="Nunito"/>
                <a:cs typeface="Nunito"/>
                <a:sym typeface="Nunito"/>
              </a:rPr>
              <a:t>Phân phối của chỉ số DPF (Diabetes Pedigree Function) </a:t>
            </a:r>
            <a:r>
              <a:rPr b="1" i="0" lang="en-US" sz="1350" u="none" cap="none" strike="noStrike">
                <a:solidFill>
                  <a:srgbClr val="BFDBFE"/>
                </a:solidFill>
                <a:latin typeface="Nunito"/>
                <a:ea typeface="Nunito"/>
                <a:cs typeface="Nunito"/>
                <a:sym typeface="Nunito"/>
              </a:rPr>
              <a:t>lệch phải (Right-skewed)</a:t>
            </a:r>
            <a:r>
              <a:rPr b="0" i="0" lang="en-US" sz="1350" u="none" cap="none" strike="noStrike">
                <a:solidFill>
                  <a:srgbClr val="E2E8F0"/>
                </a:solidFill>
                <a:latin typeface="Nunito"/>
                <a:ea typeface="Nunito"/>
                <a:cs typeface="Nunito"/>
                <a:sym typeface="Nunito"/>
              </a:rPr>
              <a:t> cực mạnh.</a:t>
            </a:r>
            <a:endParaRPr/>
          </a:p>
        </p:txBody>
      </p:sp>
      <p:sp>
        <p:nvSpPr>
          <p:cNvPr id="700" name="Google Shape;700;p59"/>
          <p:cNvSpPr txBox="1"/>
          <p:nvPr/>
        </p:nvSpPr>
        <p:spPr>
          <a:xfrm>
            <a:off x="857250" y="3791842"/>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E2E8F0"/>
                </a:solidFill>
                <a:latin typeface="Nunito"/>
                <a:ea typeface="Nunito"/>
                <a:cs typeface="Nunito"/>
                <a:sym typeface="Nunito"/>
              </a:rPr>
              <a:t>Đại đa số quần thể có mức DPF thấp.</a:t>
            </a:r>
            <a:endParaRPr/>
          </a:p>
        </p:txBody>
      </p:sp>
      <p:sp>
        <p:nvSpPr>
          <p:cNvPr id="701" name="Google Shape;701;p59"/>
          <p:cNvSpPr txBox="1"/>
          <p:nvPr/>
        </p:nvSpPr>
        <p:spPr>
          <a:xfrm>
            <a:off x="857250" y="4237583"/>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E2E8F0"/>
                </a:solidFill>
                <a:latin typeface="Nunito"/>
                <a:ea typeface="Nunito"/>
                <a:cs typeface="Nunito"/>
                <a:sym typeface="Nunito"/>
              </a:rPr>
              <a:t>Chỉ một tỷ lệ nhỏ (&lt; 10%) có giá trị </a:t>
            </a:r>
            <a:r>
              <a:rPr b="1" i="0" lang="en-US" sz="1350" u="none" cap="none" strike="noStrike">
                <a:solidFill>
                  <a:srgbClr val="FCA5A5"/>
                </a:solidFill>
                <a:latin typeface="Nunito"/>
                <a:ea typeface="Nunito"/>
                <a:cs typeface="Nunito"/>
                <a:sym typeface="Nunito"/>
              </a:rPr>
              <a:t>DPF &gt; 1.0</a:t>
            </a:r>
            <a:r>
              <a:rPr b="0" i="0" lang="en-US" sz="1350" u="none" cap="none" strike="noStrike">
                <a:solidFill>
                  <a:srgbClr val="E2E8F0"/>
                </a:solidFill>
                <a:latin typeface="Nunito"/>
                <a:ea typeface="Nunito"/>
                <a:cs typeface="Nunito"/>
                <a:sym typeface="Nunito"/>
              </a:rPr>
              <a:t>, thể hiện nguy cơ mang gen di truyền đái tháo đường rất nặng.</a:t>
            </a:r>
            <a:endParaRPr/>
          </a:p>
        </p:txBody>
      </p:sp>
      <p:pic>
        <p:nvPicPr>
          <p:cNvPr descr="image.png" id="702" name="Google Shape;702;p59"/>
          <p:cNvPicPr preferRelativeResize="0"/>
          <p:nvPr/>
        </p:nvPicPr>
        <p:blipFill rotWithShape="1">
          <a:blip r:embed="rId3">
            <a:alphaModFix/>
          </a:blip>
          <a:srcRect b="0" l="0" r="0" t="0"/>
          <a:stretch/>
        </p:blipFill>
        <p:spPr>
          <a:xfrm>
            <a:off x="571500" y="3090862"/>
            <a:ext cx="104775" cy="180975"/>
          </a:xfrm>
          <a:prstGeom prst="rect">
            <a:avLst/>
          </a:prstGeom>
          <a:noFill/>
          <a:ln>
            <a:noFill/>
          </a:ln>
        </p:spPr>
      </p:pic>
      <p:pic>
        <p:nvPicPr>
          <p:cNvPr descr="image.png" id="703" name="Google Shape;703;p59"/>
          <p:cNvPicPr preferRelativeResize="0"/>
          <p:nvPr/>
        </p:nvPicPr>
        <p:blipFill rotWithShape="1">
          <a:blip r:embed="rId3">
            <a:alphaModFix/>
          </a:blip>
          <a:srcRect b="0" l="0" r="0" t="0"/>
          <a:stretch/>
        </p:blipFill>
        <p:spPr>
          <a:xfrm>
            <a:off x="571500" y="3810892"/>
            <a:ext cx="104775" cy="180975"/>
          </a:xfrm>
          <a:prstGeom prst="rect">
            <a:avLst/>
          </a:prstGeom>
          <a:noFill/>
          <a:ln>
            <a:noFill/>
          </a:ln>
        </p:spPr>
      </p:pic>
      <p:pic>
        <p:nvPicPr>
          <p:cNvPr descr="image.png" id="704" name="Google Shape;704;p59"/>
          <p:cNvPicPr preferRelativeResize="0"/>
          <p:nvPr/>
        </p:nvPicPr>
        <p:blipFill rotWithShape="1">
          <a:blip r:embed="rId3">
            <a:alphaModFix/>
          </a:blip>
          <a:srcRect b="0" l="0" r="0" t="0"/>
          <a:stretch/>
        </p:blipFill>
        <p:spPr>
          <a:xfrm>
            <a:off x="571500" y="4256633"/>
            <a:ext cx="104775" cy="180975"/>
          </a:xfrm>
          <a:prstGeom prst="rect">
            <a:avLst/>
          </a:prstGeom>
          <a:noFill/>
          <a:ln>
            <a:noFill/>
          </a:ln>
        </p:spPr>
      </p:pic>
      <p:pic>
        <p:nvPicPr>
          <p:cNvPr id="705" name="Google Shape;705;p59" title="12_Case5_Hist_DPF.png"/>
          <p:cNvPicPr preferRelativeResize="0"/>
          <p:nvPr/>
        </p:nvPicPr>
        <p:blipFill>
          <a:blip r:embed="rId4">
            <a:alphaModFix/>
          </a:blip>
          <a:stretch>
            <a:fillRect/>
          </a:stretch>
        </p:blipFill>
        <p:spPr>
          <a:xfrm>
            <a:off x="6086475" y="1397747"/>
            <a:ext cx="5854049" cy="4333874"/>
          </a:xfrm>
          <a:prstGeom prst="rect">
            <a:avLst/>
          </a:prstGeom>
          <a:noFill/>
          <a:ln>
            <a:noFill/>
          </a:ln>
        </p:spPr>
      </p:pic>
      <p:sp>
        <p:nvSpPr>
          <p:cNvPr id="706" name="Google Shape;706;p59"/>
          <p:cNvSpPr/>
          <p:nvPr/>
        </p:nvSpPr>
        <p:spPr>
          <a:xfrm>
            <a:off x="-1104987" y="487385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707" name="Google Shape;707;p59"/>
          <p:cNvSpPr/>
          <p:nvPr/>
        </p:nvSpPr>
        <p:spPr>
          <a:xfrm>
            <a:off x="222350" y="548475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708" name="Google Shape;708;p59"/>
          <p:cNvSpPr/>
          <p:nvPr/>
        </p:nvSpPr>
        <p:spPr>
          <a:xfrm>
            <a:off x="7927925" y="-206757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709" name="Google Shape;709;p59"/>
          <p:cNvSpPr/>
          <p:nvPr/>
        </p:nvSpPr>
        <p:spPr>
          <a:xfrm>
            <a:off x="6684200" y="-24371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710" name="Google Shape;710;p59"/>
          <p:cNvSpPr/>
          <p:nvPr/>
        </p:nvSpPr>
        <p:spPr>
          <a:xfrm>
            <a:off x="9915925" y="-24371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4" name="Shape 714"/>
        <p:cNvGrpSpPr/>
        <p:nvPr/>
      </p:nvGrpSpPr>
      <p:grpSpPr>
        <a:xfrm>
          <a:off x="0" y="0"/>
          <a:ext cx="0" cy="0"/>
          <a:chOff x="0" y="0"/>
          <a:chExt cx="0" cy="0"/>
        </a:xfrm>
      </p:grpSpPr>
      <p:sp>
        <p:nvSpPr>
          <p:cNvPr id="715" name="Google Shape;715;p60"/>
          <p:cNvSpPr txBox="1"/>
          <p:nvPr/>
        </p:nvSpPr>
        <p:spPr>
          <a:xfrm>
            <a:off x="571500" y="47625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1E3A8A"/>
                </a:solidFill>
                <a:latin typeface="Playfair Display"/>
                <a:ea typeface="Playfair Display"/>
                <a:cs typeface="Playfair Display"/>
                <a:sym typeface="Playfair Display"/>
              </a:rPr>
              <a:t>Phân bố Mật độ KDE: DiabetesPedigreeFunction</a:t>
            </a:r>
            <a:endParaRPr/>
          </a:p>
        </p:txBody>
      </p:sp>
      <p:sp>
        <p:nvSpPr>
          <p:cNvPr id="716" name="Google Shape;716;p60"/>
          <p:cNvSpPr txBox="1"/>
          <p:nvPr/>
        </p:nvSpPr>
        <p:spPr>
          <a:xfrm>
            <a:off x="485925" y="1681416"/>
            <a:ext cx="5600700" cy="600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1950">
                <a:solidFill>
                  <a:schemeClr val="dk2"/>
                </a:solidFill>
                <a:latin typeface="Playfair Display"/>
                <a:ea typeface="Playfair Display"/>
                <a:cs typeface="Playfair Display"/>
                <a:sym typeface="Playfair Display"/>
              </a:rPr>
              <a:t>Biến thiên và Sự dịch chuyển Phân bố (KDE Plot)</a:t>
            </a:r>
            <a:endParaRPr>
              <a:solidFill>
                <a:schemeClr val="dk2"/>
              </a:solidFill>
            </a:endParaRPr>
          </a:p>
          <a:p>
            <a:pPr indent="0" lvl="0" marL="0" marR="0" rtl="0" algn="l">
              <a:spcBef>
                <a:spcPts val="0"/>
              </a:spcBef>
              <a:spcAft>
                <a:spcPts val="0"/>
              </a:spcAft>
              <a:buNone/>
            </a:pPr>
            <a:r>
              <a:t/>
            </a:r>
            <a:endParaRPr b="1" sz="1950">
              <a:solidFill>
                <a:schemeClr val="dk2"/>
              </a:solidFill>
              <a:latin typeface="Playfair Display"/>
              <a:ea typeface="Playfair Display"/>
              <a:cs typeface="Playfair Display"/>
              <a:sym typeface="Playfair Display"/>
            </a:endParaRPr>
          </a:p>
        </p:txBody>
      </p:sp>
      <p:sp>
        <p:nvSpPr>
          <p:cNvPr id="717" name="Google Shape;717;p60"/>
          <p:cNvSpPr txBox="1"/>
          <p:nvPr/>
        </p:nvSpPr>
        <p:spPr>
          <a:xfrm>
            <a:off x="857250" y="2326316"/>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Phân bố lệch phải (Right-skewed):</a:t>
            </a:r>
            <a:r>
              <a:rPr lang="en-US" sz="1100">
                <a:solidFill>
                  <a:schemeClr val="dk1"/>
                </a:solidFill>
                <a:latin typeface="Nunito"/>
                <a:ea typeface="Nunito"/>
                <a:cs typeface="Nunito"/>
                <a:sym typeface="Nunito"/>
              </a:rPr>
              <a:t> Cả hai nhóm đều có phần đỉnh tập trung ở các giá trị thấp (quanh Z-score = -1 đến 0) và kéo một cái "đuôi" rất dài về phía bên phải. Điều này phản ánh thực tế là phần lớn bệnh nhân có chỉ số di truyền thấp, chỉ một số ít có tiền sử gia đình mắc bệnh dày đặc.</a:t>
            </a:r>
            <a:endParaRPr>
              <a:latin typeface="Nunito"/>
              <a:ea typeface="Nunito"/>
              <a:cs typeface="Nunito"/>
              <a:sym typeface="Nunito"/>
            </a:endParaRPr>
          </a:p>
        </p:txBody>
      </p:sp>
      <p:sp>
        <p:nvSpPr>
          <p:cNvPr id="718" name="Google Shape;718;p60"/>
          <p:cNvSpPr txBox="1"/>
          <p:nvPr/>
        </p:nvSpPr>
        <p:spPr>
          <a:xfrm>
            <a:off x="857250" y="3871172"/>
            <a:ext cx="5048400" cy="1252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Đặc điểm nhóm mắc bệnh:</a:t>
            </a:r>
            <a:r>
              <a:rPr lang="en-US" sz="1100">
                <a:solidFill>
                  <a:schemeClr val="dk1"/>
                </a:solidFill>
                <a:latin typeface="Nunito"/>
                <a:ea typeface="Nunito"/>
                <a:cs typeface="Nunito"/>
                <a:sym typeface="Nunito"/>
              </a:rPr>
              <a:t> Đỉnh (peak) của nhóm Outcome = 0 (màu xanh) cao vọt và hẹp, chứng tỏ nhóm an toàn cực kỳ tập trung ở mức phả hệ thấp. Ngược lại, đường cong của nhóm Outcome = 1 (màu đỏ) thấp hơn nhưng phần "đuôi" (từ mức 2.0 trở đi) lại dày hơn hẳn, cho thấy yếu tố di truyền làm tăng đáng kể nguy cơ mắc bệnh.</a:t>
            </a:r>
            <a:endParaRPr>
              <a:solidFill>
                <a:schemeClr val="dk1"/>
              </a:solidFill>
              <a:latin typeface="Nunito"/>
              <a:ea typeface="Nunito"/>
              <a:cs typeface="Nunito"/>
              <a:sym typeface="Nunito"/>
            </a:endParaRPr>
          </a:p>
        </p:txBody>
      </p:sp>
      <p:pic>
        <p:nvPicPr>
          <p:cNvPr descr="image.png" id="719" name="Google Shape;719;p60"/>
          <p:cNvPicPr preferRelativeResize="0"/>
          <p:nvPr/>
        </p:nvPicPr>
        <p:blipFill rotWithShape="1">
          <a:blip r:embed="rId3">
            <a:alphaModFix/>
          </a:blip>
          <a:srcRect b="0" l="0" r="0" t="0"/>
          <a:stretch/>
        </p:blipFill>
        <p:spPr>
          <a:xfrm>
            <a:off x="571500" y="2326316"/>
            <a:ext cx="104775" cy="180975"/>
          </a:xfrm>
          <a:prstGeom prst="rect">
            <a:avLst/>
          </a:prstGeom>
          <a:noFill/>
          <a:ln>
            <a:noFill/>
          </a:ln>
        </p:spPr>
      </p:pic>
      <p:pic>
        <p:nvPicPr>
          <p:cNvPr descr="image.png" id="720" name="Google Shape;720;p60"/>
          <p:cNvPicPr preferRelativeResize="0"/>
          <p:nvPr/>
        </p:nvPicPr>
        <p:blipFill rotWithShape="1">
          <a:blip r:embed="rId3">
            <a:alphaModFix/>
          </a:blip>
          <a:srcRect b="0" l="0" r="0" t="0"/>
          <a:stretch/>
        </p:blipFill>
        <p:spPr>
          <a:xfrm>
            <a:off x="571500" y="3871172"/>
            <a:ext cx="104775" cy="180975"/>
          </a:xfrm>
          <a:prstGeom prst="rect">
            <a:avLst/>
          </a:prstGeom>
          <a:noFill/>
          <a:ln>
            <a:noFill/>
          </a:ln>
        </p:spPr>
      </p:pic>
      <p:pic>
        <p:nvPicPr>
          <p:cNvPr id="721" name="Google Shape;721;p60" title="51_Bonus_Single_KDE_DiabetesPedigreeFunction.png"/>
          <p:cNvPicPr preferRelativeResize="0"/>
          <p:nvPr/>
        </p:nvPicPr>
        <p:blipFill>
          <a:blip r:embed="rId4">
            <a:alphaModFix/>
          </a:blip>
          <a:stretch>
            <a:fillRect/>
          </a:stretch>
        </p:blipFill>
        <p:spPr>
          <a:xfrm>
            <a:off x="6086625" y="1404146"/>
            <a:ext cx="5816426" cy="4554493"/>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6FF"/>
        </a:solidFill>
      </p:bgPr>
    </p:bg>
    <p:spTree>
      <p:nvGrpSpPr>
        <p:cNvPr id="725" name="Shape 725"/>
        <p:cNvGrpSpPr/>
        <p:nvPr/>
      </p:nvGrpSpPr>
      <p:grpSpPr>
        <a:xfrm>
          <a:off x="0" y="0"/>
          <a:ext cx="0" cy="0"/>
          <a:chOff x="0" y="0"/>
          <a:chExt cx="0" cy="0"/>
        </a:xfrm>
      </p:grpSpPr>
      <p:sp>
        <p:nvSpPr>
          <p:cNvPr id="726" name="Google Shape;726;p61"/>
          <p:cNvSpPr txBox="1"/>
          <p:nvPr/>
        </p:nvSpPr>
        <p:spPr>
          <a:xfrm>
            <a:off x="571500" y="476250"/>
            <a:ext cx="5400675"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Di truyền kết hợp Đường huyết</a:t>
            </a:r>
            <a:endParaRPr/>
          </a:p>
        </p:txBody>
      </p:sp>
      <p:sp>
        <p:nvSpPr>
          <p:cNvPr id="727" name="Google Shape;727;p61"/>
          <p:cNvSpPr txBox="1"/>
          <p:nvPr/>
        </p:nvSpPr>
        <p:spPr>
          <a:xfrm>
            <a:off x="571500" y="2458491"/>
            <a:ext cx="5400675"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Phân định vùng nguy cơ</a:t>
            </a:r>
            <a:endParaRPr/>
          </a:p>
        </p:txBody>
      </p:sp>
      <p:sp>
        <p:nvSpPr>
          <p:cNvPr id="728" name="Google Shape;728;p61"/>
          <p:cNvSpPr txBox="1"/>
          <p:nvPr/>
        </p:nvSpPr>
        <p:spPr>
          <a:xfrm>
            <a:off x="857250" y="2934741"/>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E40AF"/>
                </a:solidFill>
                <a:latin typeface="Nunito"/>
                <a:ea typeface="Nunito"/>
                <a:cs typeface="Nunito"/>
                <a:sym typeface="Nunito"/>
              </a:rPr>
              <a:t>Vùng nguy hiểm báo động:</a:t>
            </a:r>
            <a:r>
              <a:rPr b="0" i="0" lang="en-US" sz="1350" u="none" cap="none" strike="noStrike">
                <a:solidFill>
                  <a:srgbClr val="334155"/>
                </a:solidFill>
                <a:latin typeface="Nunito"/>
                <a:ea typeface="Nunito"/>
                <a:cs typeface="Nunito"/>
                <a:sym typeface="Nunito"/>
              </a:rPr>
              <a:t> Chỉ số DPF &gt; 1.0 kết hợp với Glucose &gt; 140 mg/dL.</a:t>
            </a:r>
            <a:endParaRPr/>
          </a:p>
        </p:txBody>
      </p:sp>
      <p:sp>
        <p:nvSpPr>
          <p:cNvPr id="729" name="Google Shape;729;p61"/>
          <p:cNvSpPr txBox="1"/>
          <p:nvPr/>
        </p:nvSpPr>
        <p:spPr>
          <a:xfrm>
            <a:off x="857250" y="3654772"/>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Khu vực này tập trung hầu hết các ca mắc bệnh (tỷ lệ bệnh gần như tuyệt đối).</a:t>
            </a:r>
            <a:endParaRPr/>
          </a:p>
        </p:txBody>
      </p:sp>
      <p:sp>
        <p:nvSpPr>
          <p:cNvPr id="730" name="Google Shape;730;p61"/>
          <p:cNvSpPr txBox="1"/>
          <p:nvPr/>
        </p:nvSpPr>
        <p:spPr>
          <a:xfrm>
            <a:off x="857250" y="4374802"/>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Sự kết hợp đa biến này cải thiện phân loại nguy cơ rõ rệt so với việc chỉ xét từng chỉ số đơn lẻ.</a:t>
            </a:r>
            <a:endParaRPr/>
          </a:p>
        </p:txBody>
      </p:sp>
      <p:pic>
        <p:nvPicPr>
          <p:cNvPr descr="image.png" id="731" name="Google Shape;731;p61"/>
          <p:cNvPicPr preferRelativeResize="0"/>
          <p:nvPr/>
        </p:nvPicPr>
        <p:blipFill rotWithShape="1">
          <a:blip r:embed="rId3">
            <a:alphaModFix/>
          </a:blip>
          <a:srcRect b="0" l="0" r="0" t="0"/>
          <a:stretch/>
        </p:blipFill>
        <p:spPr>
          <a:xfrm>
            <a:off x="571500" y="2953791"/>
            <a:ext cx="104775" cy="180975"/>
          </a:xfrm>
          <a:prstGeom prst="rect">
            <a:avLst/>
          </a:prstGeom>
          <a:noFill/>
          <a:ln>
            <a:noFill/>
          </a:ln>
        </p:spPr>
      </p:pic>
      <p:pic>
        <p:nvPicPr>
          <p:cNvPr descr="image.png" id="732" name="Google Shape;732;p61"/>
          <p:cNvPicPr preferRelativeResize="0"/>
          <p:nvPr/>
        </p:nvPicPr>
        <p:blipFill rotWithShape="1">
          <a:blip r:embed="rId3">
            <a:alphaModFix/>
          </a:blip>
          <a:srcRect b="0" l="0" r="0" t="0"/>
          <a:stretch/>
        </p:blipFill>
        <p:spPr>
          <a:xfrm>
            <a:off x="571500" y="3673822"/>
            <a:ext cx="104775" cy="180975"/>
          </a:xfrm>
          <a:prstGeom prst="rect">
            <a:avLst/>
          </a:prstGeom>
          <a:noFill/>
          <a:ln>
            <a:noFill/>
          </a:ln>
        </p:spPr>
      </p:pic>
      <p:pic>
        <p:nvPicPr>
          <p:cNvPr descr="image.png" id="733" name="Google Shape;733;p61"/>
          <p:cNvPicPr preferRelativeResize="0"/>
          <p:nvPr/>
        </p:nvPicPr>
        <p:blipFill rotWithShape="1">
          <a:blip r:embed="rId3">
            <a:alphaModFix/>
          </a:blip>
          <a:srcRect b="0" l="0" r="0" t="0"/>
          <a:stretch/>
        </p:blipFill>
        <p:spPr>
          <a:xfrm>
            <a:off x="571500" y="4393852"/>
            <a:ext cx="104775" cy="180975"/>
          </a:xfrm>
          <a:prstGeom prst="rect">
            <a:avLst/>
          </a:prstGeom>
          <a:noFill/>
          <a:ln>
            <a:noFill/>
          </a:ln>
        </p:spPr>
      </p:pic>
      <p:pic>
        <p:nvPicPr>
          <p:cNvPr id="734" name="Google Shape;734;p61" title="13_Case5_Scatter_DPF_Glucose_RiskZones.png"/>
          <p:cNvPicPr preferRelativeResize="0"/>
          <p:nvPr/>
        </p:nvPicPr>
        <p:blipFill>
          <a:blip r:embed="rId4">
            <a:alphaModFix/>
          </a:blip>
          <a:stretch>
            <a:fillRect/>
          </a:stretch>
        </p:blipFill>
        <p:spPr>
          <a:xfrm>
            <a:off x="5895975" y="934728"/>
            <a:ext cx="6096000" cy="4988551"/>
          </a:xfrm>
          <a:prstGeom prst="rect">
            <a:avLst/>
          </a:prstGeom>
          <a:noFill/>
          <a:ln cap="flat" cmpd="sng" w="9525">
            <a:solidFill>
              <a:srgbClr val="1E3A8A"/>
            </a:solidFill>
            <a:prstDash val="solid"/>
            <a:round/>
            <a:headEnd len="sm" w="sm" type="none"/>
            <a:tailEnd len="sm" w="sm" type="none"/>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738" name="Shape 738"/>
        <p:cNvGrpSpPr/>
        <p:nvPr/>
      </p:nvGrpSpPr>
      <p:grpSpPr>
        <a:xfrm>
          <a:off x="0" y="0"/>
          <a:ext cx="0" cy="0"/>
          <a:chOff x="0" y="0"/>
          <a:chExt cx="0" cy="0"/>
        </a:xfrm>
      </p:grpSpPr>
      <p:sp>
        <p:nvSpPr>
          <p:cNvPr id="739" name="Google Shape;739;p62"/>
          <p:cNvSpPr txBox="1"/>
          <p:nvPr/>
        </p:nvSpPr>
        <p:spPr>
          <a:xfrm>
            <a:off x="154750" y="508300"/>
            <a:ext cx="53979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Playfair Display"/>
                <a:ea typeface="Playfair Display"/>
                <a:cs typeface="Playfair Display"/>
                <a:sym typeface="Playfair Display"/>
              </a:rPr>
              <a:t>Phân tích Khám phá (EDA): Mối quan hệ Di truyền </a:t>
            </a:r>
            <a:r>
              <a:rPr b="1" lang="en-US" sz="2700">
                <a:solidFill>
                  <a:schemeClr val="lt1"/>
                </a:solidFill>
                <a:latin typeface="Playfair Display"/>
                <a:ea typeface="Playfair Display"/>
                <a:cs typeface="Playfair Display"/>
                <a:sym typeface="Playfair Display"/>
              </a:rPr>
              <a:t>và Glucose </a:t>
            </a:r>
            <a:endParaRPr/>
          </a:p>
        </p:txBody>
      </p:sp>
      <p:sp>
        <p:nvSpPr>
          <p:cNvPr id="740" name="Google Shape;740;p62"/>
          <p:cNvSpPr txBox="1"/>
          <p:nvPr/>
        </p:nvSpPr>
        <p:spPr>
          <a:xfrm>
            <a:off x="67476" y="1806775"/>
            <a:ext cx="56871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FFFFFF"/>
                </a:solidFill>
                <a:latin typeface="Playfair Display"/>
                <a:ea typeface="Playfair Display"/>
                <a:cs typeface="Playfair Display"/>
                <a:sym typeface="Playfair Display"/>
              </a:rPr>
              <a:t>Phân tách lớp dựa trên </a:t>
            </a:r>
            <a:r>
              <a:rPr b="1" lang="en-US" sz="1950">
                <a:solidFill>
                  <a:schemeClr val="lt1"/>
                </a:solidFill>
                <a:latin typeface="Playfair Display"/>
                <a:ea typeface="Playfair Display"/>
                <a:cs typeface="Playfair Display"/>
                <a:sym typeface="Playfair Display"/>
              </a:rPr>
              <a:t>Di truyền </a:t>
            </a:r>
            <a:r>
              <a:rPr b="1" lang="en-US" sz="1950">
                <a:solidFill>
                  <a:srgbClr val="FFFFFF"/>
                </a:solidFill>
                <a:latin typeface="Playfair Display"/>
                <a:ea typeface="Playfair Display"/>
                <a:cs typeface="Playfair Display"/>
                <a:sym typeface="Playfair Display"/>
              </a:rPr>
              <a:t>và </a:t>
            </a:r>
            <a:r>
              <a:rPr b="1" lang="en-US" sz="1950">
                <a:solidFill>
                  <a:schemeClr val="lt1"/>
                </a:solidFill>
                <a:latin typeface="Playfair Display"/>
                <a:ea typeface="Playfair Display"/>
                <a:cs typeface="Playfair Display"/>
                <a:sym typeface="Playfair Display"/>
              </a:rPr>
              <a:t>Đường huyết</a:t>
            </a:r>
            <a:endParaRPr/>
          </a:p>
        </p:txBody>
      </p:sp>
      <p:sp>
        <p:nvSpPr>
          <p:cNvPr id="741" name="Google Shape;741;p62"/>
          <p:cNvSpPr txBox="1"/>
          <p:nvPr/>
        </p:nvSpPr>
        <p:spPr>
          <a:xfrm>
            <a:off x="371050" y="2355041"/>
            <a:ext cx="48579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rPr>
              <a:t>Đặc thù phân bố di truyền:</a:t>
            </a:r>
            <a:r>
              <a:rPr lang="en-US" sz="1100">
                <a:solidFill>
                  <a:schemeClr val="lt1"/>
                </a:solidFill>
              </a:rPr>
              <a:t> Trên trục tung (</a:t>
            </a:r>
            <a:r>
              <a:rPr lang="en-US" sz="1100">
                <a:solidFill>
                  <a:schemeClr val="lt1"/>
                </a:solidFill>
                <a:latin typeface="Roboto Mono"/>
                <a:ea typeface="Roboto Mono"/>
                <a:cs typeface="Roboto Mono"/>
                <a:sym typeface="Roboto Mono"/>
              </a:rPr>
              <a:t>DiabetesPedigreeFunction</a:t>
            </a:r>
            <a:r>
              <a:rPr lang="en-US" sz="1100">
                <a:solidFill>
                  <a:schemeClr val="lt1"/>
                </a:solidFill>
              </a:rPr>
              <a:t>), dữ liệu phần lớn tập trung dày đặc ở các giá trị thấp và thưa thớt dần khi lên cao. Dù có sự chồng chéo, các bệnh nhân mang nhãn dương tính xuất hiện với tần suất cao hơn ở những mức chỉ số di truyền cao.</a:t>
            </a:r>
            <a:endParaRPr>
              <a:solidFill>
                <a:schemeClr val="lt1"/>
              </a:solidFill>
              <a:latin typeface="Nunito"/>
              <a:ea typeface="Nunito"/>
              <a:cs typeface="Nunito"/>
              <a:sym typeface="Nunito"/>
            </a:endParaRPr>
          </a:p>
        </p:txBody>
      </p:sp>
      <p:sp>
        <p:nvSpPr>
          <p:cNvPr id="742" name="Google Shape;742;p62"/>
          <p:cNvSpPr txBox="1"/>
          <p:nvPr/>
        </p:nvSpPr>
        <p:spPr>
          <a:xfrm>
            <a:off x="371050" y="3815037"/>
            <a:ext cx="48579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rPr>
              <a:t>Nhận diện cụm An toàn:</a:t>
            </a:r>
            <a:r>
              <a:rPr lang="en-US" sz="1100">
                <a:solidFill>
                  <a:schemeClr val="lt1"/>
                </a:solidFill>
              </a:rPr>
              <a:t> Ở khu vực góc dưới bên trái (nơi cả </a:t>
            </a:r>
            <a:r>
              <a:rPr lang="en-US" sz="1100">
                <a:solidFill>
                  <a:schemeClr val="lt1"/>
                </a:solidFill>
                <a:latin typeface="Roboto Mono"/>
                <a:ea typeface="Roboto Mono"/>
                <a:cs typeface="Roboto Mono"/>
                <a:sym typeface="Roboto Mono"/>
              </a:rPr>
              <a:t>Glucose</a:t>
            </a:r>
            <a:r>
              <a:rPr lang="en-US" sz="1100">
                <a:solidFill>
                  <a:schemeClr val="lt1"/>
                </a:solidFill>
              </a:rPr>
              <a:t> và chỉ số Phả hệ đều ở mức thấp), đồ thị gần như được phủ kín bởi các điểm màu xanh (</a:t>
            </a:r>
            <a:r>
              <a:rPr lang="en-US" sz="1100">
                <a:solidFill>
                  <a:schemeClr val="lt1"/>
                </a:solidFill>
                <a:latin typeface="Roboto Mono"/>
                <a:ea typeface="Roboto Mono"/>
                <a:cs typeface="Roboto Mono"/>
                <a:sym typeface="Roboto Mono"/>
              </a:rPr>
              <a:t>Outcome = 0</a:t>
            </a:r>
            <a:r>
              <a:rPr lang="en-US" sz="1100">
                <a:solidFill>
                  <a:schemeClr val="lt1"/>
                </a:solidFill>
              </a:rPr>
              <a:t>). Đây là "vùng an toàn" lý tưởng</a:t>
            </a:r>
            <a:endParaRPr>
              <a:solidFill>
                <a:schemeClr val="lt1"/>
              </a:solidFill>
              <a:latin typeface="Nunito"/>
              <a:ea typeface="Nunito"/>
              <a:cs typeface="Nunito"/>
              <a:sym typeface="Nunito"/>
            </a:endParaRPr>
          </a:p>
        </p:txBody>
      </p:sp>
      <p:pic>
        <p:nvPicPr>
          <p:cNvPr descr="image.png" id="743" name="Google Shape;743;p62"/>
          <p:cNvPicPr preferRelativeResize="0"/>
          <p:nvPr/>
        </p:nvPicPr>
        <p:blipFill rotWithShape="1">
          <a:blip r:embed="rId3">
            <a:alphaModFix/>
          </a:blip>
          <a:srcRect b="0" l="0" r="0" t="0"/>
          <a:stretch/>
        </p:blipFill>
        <p:spPr>
          <a:xfrm>
            <a:off x="195275" y="2364541"/>
            <a:ext cx="104775" cy="180975"/>
          </a:xfrm>
          <a:prstGeom prst="rect">
            <a:avLst/>
          </a:prstGeom>
          <a:noFill/>
          <a:ln>
            <a:noFill/>
          </a:ln>
        </p:spPr>
      </p:pic>
      <p:pic>
        <p:nvPicPr>
          <p:cNvPr descr="image.png" id="744" name="Google Shape;744;p62"/>
          <p:cNvPicPr preferRelativeResize="0"/>
          <p:nvPr/>
        </p:nvPicPr>
        <p:blipFill rotWithShape="1">
          <a:blip r:embed="rId3">
            <a:alphaModFix/>
          </a:blip>
          <a:srcRect b="0" l="0" r="0" t="0"/>
          <a:stretch/>
        </p:blipFill>
        <p:spPr>
          <a:xfrm>
            <a:off x="195275" y="3815041"/>
            <a:ext cx="104775" cy="180975"/>
          </a:xfrm>
          <a:prstGeom prst="rect">
            <a:avLst/>
          </a:prstGeom>
          <a:noFill/>
          <a:ln>
            <a:noFill/>
          </a:ln>
        </p:spPr>
      </p:pic>
      <p:sp>
        <p:nvSpPr>
          <p:cNvPr id="745" name="Google Shape;745;p62"/>
          <p:cNvSpPr/>
          <p:nvPr/>
        </p:nvSpPr>
        <p:spPr>
          <a:xfrm>
            <a:off x="9334500" y="-17240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746" name="Google Shape;746;p62"/>
          <p:cNvSpPr/>
          <p:nvPr/>
        </p:nvSpPr>
        <p:spPr>
          <a:xfrm>
            <a:off x="-826600" y="500412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747" name="Google Shape;747;p62"/>
          <p:cNvSpPr/>
          <p:nvPr/>
        </p:nvSpPr>
        <p:spPr>
          <a:xfrm>
            <a:off x="1180900" y="601957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748" name="Google Shape;748;p62"/>
          <p:cNvSpPr/>
          <p:nvPr/>
        </p:nvSpPr>
        <p:spPr>
          <a:xfrm>
            <a:off x="7393725" y="-24545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pic>
        <p:nvPicPr>
          <p:cNvPr id="749" name="Google Shape;749;p62" title="28_Bonus_Combo_Scatter_Glucose_vs_DiabetesPedigreeFunction.png"/>
          <p:cNvPicPr preferRelativeResize="0"/>
          <p:nvPr/>
        </p:nvPicPr>
        <p:blipFill>
          <a:blip r:embed="rId4">
            <a:alphaModFix/>
          </a:blip>
          <a:stretch>
            <a:fillRect/>
          </a:stretch>
        </p:blipFill>
        <p:spPr>
          <a:xfrm>
            <a:off x="5754575" y="937625"/>
            <a:ext cx="6372301" cy="527827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3" name="Shape 753"/>
        <p:cNvGrpSpPr/>
        <p:nvPr/>
      </p:nvGrpSpPr>
      <p:grpSpPr>
        <a:xfrm>
          <a:off x="0" y="0"/>
          <a:ext cx="0" cy="0"/>
          <a:chOff x="0" y="0"/>
          <a:chExt cx="0" cy="0"/>
        </a:xfrm>
      </p:grpSpPr>
      <p:sp>
        <p:nvSpPr>
          <p:cNvPr id="754" name="Google Shape;754;p63"/>
          <p:cNvSpPr txBox="1"/>
          <p:nvPr/>
        </p:nvSpPr>
        <p:spPr>
          <a:xfrm>
            <a:off x="571500" y="476250"/>
            <a:ext cx="11601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chemeClr val="dk1"/>
                </a:solidFill>
                <a:latin typeface="Playfair Display"/>
                <a:ea typeface="Playfair Display"/>
                <a:cs typeface="Playfair Display"/>
                <a:sym typeface="Playfair Display"/>
              </a:rPr>
              <a:t>Phân tích Khám phá (EDA): Mối quan hệ Chỉ số Phả hệ và Độ tuổi</a:t>
            </a:r>
            <a:endParaRPr sz="2400">
              <a:latin typeface="Playfair Display"/>
              <a:ea typeface="Playfair Display"/>
              <a:cs typeface="Playfair Display"/>
              <a:sym typeface="Playfair Display"/>
            </a:endParaRPr>
          </a:p>
        </p:txBody>
      </p:sp>
      <p:sp>
        <p:nvSpPr>
          <p:cNvPr id="755" name="Google Shape;755;p63"/>
          <p:cNvSpPr txBox="1"/>
          <p:nvPr/>
        </p:nvSpPr>
        <p:spPr>
          <a:xfrm>
            <a:off x="676275" y="1432029"/>
            <a:ext cx="56007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chemeClr val="dk1"/>
                </a:solidFill>
                <a:latin typeface="Playfair Display"/>
                <a:ea typeface="Playfair Display"/>
                <a:cs typeface="Playfair Display"/>
                <a:sym typeface="Playfair Display"/>
              </a:rPr>
              <a:t>Sự tương tác giữa Yếu tố Di truyền và Lão hóa</a:t>
            </a:r>
            <a:endParaRPr b="1" sz="1900">
              <a:solidFill>
                <a:schemeClr val="dk2"/>
              </a:solidFill>
              <a:latin typeface="Playfair Display"/>
              <a:ea typeface="Playfair Display"/>
              <a:cs typeface="Playfair Display"/>
              <a:sym typeface="Playfair Display"/>
            </a:endParaRPr>
          </a:p>
        </p:txBody>
      </p:sp>
      <p:sp>
        <p:nvSpPr>
          <p:cNvPr id="756" name="Google Shape;756;p63"/>
          <p:cNvSpPr txBox="1"/>
          <p:nvPr/>
        </p:nvSpPr>
        <p:spPr>
          <a:xfrm>
            <a:off x="857250" y="1906941"/>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Hội tụ tại Vùng An toàn:</a:t>
            </a:r>
            <a:r>
              <a:rPr lang="en-US" sz="1100">
                <a:solidFill>
                  <a:schemeClr val="dk1"/>
                </a:solidFill>
                <a:latin typeface="Nunito"/>
                <a:ea typeface="Nunito"/>
                <a:cs typeface="Nunito"/>
                <a:sym typeface="Nunito"/>
              </a:rPr>
              <a:t> Dữ liệu có sự phân bố cực kỳ mất cân xứng. Phần lớn các điểm dữ liệu tập trung thành một cụm dày đặc ở khu vực góc dưới bên trái (nơi cả Tuổi và Chỉ số Phả hệ đều ở mức thấp). Tại vùng này, màu xanh của nhóm Outcome = 0 (không mắc bệnh) chiếm ưu thế tuyệt đối.</a:t>
            </a:r>
            <a:endParaRPr>
              <a:solidFill>
                <a:schemeClr val="dk1"/>
              </a:solidFill>
              <a:latin typeface="Nunito"/>
              <a:ea typeface="Nunito"/>
              <a:cs typeface="Nunito"/>
              <a:sym typeface="Nunito"/>
            </a:endParaRPr>
          </a:p>
        </p:txBody>
      </p:sp>
      <p:sp>
        <p:nvSpPr>
          <p:cNvPr id="757" name="Google Shape;757;p63"/>
          <p:cNvSpPr txBox="1"/>
          <p:nvPr/>
        </p:nvSpPr>
        <p:spPr>
          <a:xfrm>
            <a:off x="857250" y="3195522"/>
            <a:ext cx="5048400" cy="1252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Sự dịch chuyển của rủi ro:</a:t>
            </a:r>
            <a:r>
              <a:rPr lang="en-US" sz="1100">
                <a:solidFill>
                  <a:schemeClr val="dk1"/>
                </a:solidFill>
                <a:latin typeface="Nunito"/>
                <a:ea typeface="Nunito"/>
                <a:cs typeface="Nunito"/>
                <a:sym typeface="Nunito"/>
              </a:rPr>
              <a:t> Khác với nhóm an toàn, các điểm mang nhãn dương tính (Outcome = 1 - màu cam) có sự phân tán rộng hơn rất nhiều. Chúng có xu hướng lan dịch lên phía trên (tuổi cao hơn) và kéo dài sang bên phải (yếu tố di truyền mạnh hơn). Điều này chứng minh sự kết hợp của hai biến số này làm gia tăng đáng kể xác suất mắc bệnh.</a:t>
            </a:r>
            <a:endParaRPr>
              <a:solidFill>
                <a:schemeClr val="dk1"/>
              </a:solidFill>
              <a:latin typeface="Nunito"/>
              <a:ea typeface="Nunito"/>
              <a:cs typeface="Nunito"/>
              <a:sym typeface="Nunito"/>
            </a:endParaRPr>
          </a:p>
        </p:txBody>
      </p:sp>
      <p:pic>
        <p:nvPicPr>
          <p:cNvPr descr="image.png" id="758" name="Google Shape;758;p63"/>
          <p:cNvPicPr preferRelativeResize="0"/>
          <p:nvPr/>
        </p:nvPicPr>
        <p:blipFill rotWithShape="1">
          <a:blip r:embed="rId3">
            <a:alphaModFix/>
          </a:blip>
          <a:srcRect b="0" l="0" r="0" t="0"/>
          <a:stretch/>
        </p:blipFill>
        <p:spPr>
          <a:xfrm>
            <a:off x="571500" y="1906941"/>
            <a:ext cx="104775" cy="180975"/>
          </a:xfrm>
          <a:prstGeom prst="rect">
            <a:avLst/>
          </a:prstGeom>
          <a:noFill/>
          <a:ln>
            <a:noFill/>
          </a:ln>
        </p:spPr>
      </p:pic>
      <p:pic>
        <p:nvPicPr>
          <p:cNvPr descr="image.png" id="759" name="Google Shape;759;p63"/>
          <p:cNvPicPr preferRelativeResize="0"/>
          <p:nvPr/>
        </p:nvPicPr>
        <p:blipFill rotWithShape="1">
          <a:blip r:embed="rId3">
            <a:alphaModFix/>
          </a:blip>
          <a:srcRect b="0" l="0" r="0" t="0"/>
          <a:stretch/>
        </p:blipFill>
        <p:spPr>
          <a:xfrm>
            <a:off x="571500" y="3195522"/>
            <a:ext cx="104775" cy="180975"/>
          </a:xfrm>
          <a:prstGeom prst="rect">
            <a:avLst/>
          </a:prstGeom>
          <a:noFill/>
          <a:ln>
            <a:noFill/>
          </a:ln>
        </p:spPr>
      </p:pic>
      <p:pic>
        <p:nvPicPr>
          <p:cNvPr id="760" name="Google Shape;760;p63" title="44_Bonus_Combo_Scatter_DiabetesPedigreeFunction_vs_Age.png"/>
          <p:cNvPicPr preferRelativeResize="0"/>
          <p:nvPr/>
        </p:nvPicPr>
        <p:blipFill>
          <a:blip r:embed="rId4">
            <a:alphaModFix/>
          </a:blip>
          <a:stretch>
            <a:fillRect/>
          </a:stretch>
        </p:blipFill>
        <p:spPr>
          <a:xfrm>
            <a:off x="6152675" y="1327850"/>
            <a:ext cx="5800576" cy="4749818"/>
          </a:xfrm>
          <a:prstGeom prst="rect">
            <a:avLst/>
          </a:prstGeom>
          <a:noFill/>
          <a:ln cap="flat" cmpd="sng" w="19050">
            <a:solidFill>
              <a:schemeClr val="dk2"/>
            </a:solidFill>
            <a:prstDash val="solid"/>
            <a:round/>
            <a:headEnd len="sm" w="sm" type="none"/>
            <a:tailEnd len="sm" w="sm" type="none"/>
          </a:ln>
        </p:spPr>
      </p:pic>
      <p:sp>
        <p:nvSpPr>
          <p:cNvPr id="761" name="Google Shape;761;p63"/>
          <p:cNvSpPr txBox="1"/>
          <p:nvPr/>
        </p:nvSpPr>
        <p:spPr>
          <a:xfrm>
            <a:off x="857250" y="4754997"/>
            <a:ext cx="5048400" cy="1252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Đặc điểm điểm dị biệt (Outliers):</a:t>
            </a:r>
            <a:r>
              <a:rPr lang="en-US" sz="1100">
                <a:solidFill>
                  <a:schemeClr val="dk1"/>
                </a:solidFill>
                <a:latin typeface="Nunito"/>
                <a:ea typeface="Nunito"/>
                <a:cs typeface="Nunito"/>
                <a:sym typeface="Nunito"/>
              </a:rPr>
              <a:t> Dọc theo trục hoành, xuất hiện rải rác những điểm dữ liệu có DiabetesPedigreeFunction tăng đột biến (Z-score từ 3 đến 6). Ở vùng giá trị cực đoan này, ranh giới giữa hai lớp vẫn khá lộn xộn, cho thấy các thuật toán tuyến tính đơn giản sẽ khó có thể phân chia dữ liệu hoàn hảo nếu chỉ dùng 2 đặc trưng này.</a:t>
            </a:r>
            <a:endParaRPr>
              <a:solidFill>
                <a:schemeClr val="dk1"/>
              </a:solidFill>
              <a:latin typeface="Nunito"/>
              <a:ea typeface="Nunito"/>
              <a:cs typeface="Nunito"/>
              <a:sym typeface="Nunito"/>
            </a:endParaRPr>
          </a:p>
        </p:txBody>
      </p:sp>
      <p:pic>
        <p:nvPicPr>
          <p:cNvPr descr="image.png" id="762" name="Google Shape;762;p63"/>
          <p:cNvPicPr preferRelativeResize="0"/>
          <p:nvPr/>
        </p:nvPicPr>
        <p:blipFill rotWithShape="1">
          <a:blip r:embed="rId3">
            <a:alphaModFix/>
          </a:blip>
          <a:srcRect b="0" l="0" r="0" t="0"/>
          <a:stretch/>
        </p:blipFill>
        <p:spPr>
          <a:xfrm>
            <a:off x="571500" y="4754997"/>
            <a:ext cx="104775" cy="1809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6FF"/>
        </a:solidFill>
      </p:bgPr>
    </p:bg>
    <p:spTree>
      <p:nvGrpSpPr>
        <p:cNvPr id="766" name="Shape 766"/>
        <p:cNvGrpSpPr/>
        <p:nvPr/>
      </p:nvGrpSpPr>
      <p:grpSpPr>
        <a:xfrm>
          <a:off x="0" y="0"/>
          <a:ext cx="0" cy="0"/>
          <a:chOff x="0" y="0"/>
          <a:chExt cx="0" cy="0"/>
        </a:xfrm>
      </p:grpSpPr>
      <p:sp>
        <p:nvSpPr>
          <p:cNvPr id="767" name="Google Shape;767;p64"/>
          <p:cNvSpPr txBox="1"/>
          <p:nvPr/>
        </p:nvSpPr>
        <p:spPr>
          <a:xfrm>
            <a:off x="571500" y="476250"/>
            <a:ext cx="54006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1E3A8A"/>
                </a:solidFill>
                <a:latin typeface="Playfair Display"/>
                <a:ea typeface="Playfair Display"/>
                <a:cs typeface="Playfair Display"/>
                <a:sym typeface="Playfair Display"/>
              </a:rPr>
              <a:t>Phân tích Khám phá (EDA): Mối quan hệ </a:t>
            </a:r>
            <a:r>
              <a:rPr b="1" lang="en-US" sz="2700">
                <a:solidFill>
                  <a:srgbClr val="1E3A8A"/>
                </a:solidFill>
                <a:latin typeface="Playfair Display"/>
                <a:ea typeface="Playfair Display"/>
                <a:cs typeface="Playfair Display"/>
                <a:sym typeface="Playfair Display"/>
              </a:rPr>
              <a:t>Phả hệ Di truyền</a:t>
            </a:r>
            <a:r>
              <a:rPr b="1" lang="en-US" sz="2700">
                <a:solidFill>
                  <a:srgbClr val="1E3A8A"/>
                </a:solidFill>
                <a:latin typeface="Playfair Display"/>
                <a:ea typeface="Playfair Display"/>
                <a:cs typeface="Playfair Display"/>
                <a:sym typeface="Playfair Display"/>
              </a:rPr>
              <a:t> và </a:t>
            </a:r>
            <a:r>
              <a:rPr b="1" lang="en-US" sz="2700">
                <a:solidFill>
                  <a:srgbClr val="1E3A8A"/>
                </a:solidFill>
                <a:latin typeface="Playfair Display"/>
                <a:ea typeface="Playfair Display"/>
                <a:cs typeface="Playfair Display"/>
                <a:sym typeface="Playfair Display"/>
              </a:rPr>
              <a:t>BMI</a:t>
            </a:r>
            <a:endParaRPr/>
          </a:p>
        </p:txBody>
      </p:sp>
      <p:sp>
        <p:nvSpPr>
          <p:cNvPr id="768" name="Google Shape;768;p64"/>
          <p:cNvSpPr txBox="1"/>
          <p:nvPr/>
        </p:nvSpPr>
        <p:spPr>
          <a:xfrm>
            <a:off x="571500" y="1891091"/>
            <a:ext cx="5400600" cy="6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2563EB"/>
                </a:solidFill>
                <a:latin typeface="Playfair Display"/>
                <a:ea typeface="Playfair Display"/>
                <a:cs typeface="Playfair Display"/>
                <a:sym typeface="Playfair Display"/>
              </a:rPr>
              <a:t>Đánh giá Tương tác giữa Thể trạng và Yếu tố Di truyền</a:t>
            </a:r>
            <a:endParaRPr/>
          </a:p>
        </p:txBody>
      </p:sp>
      <p:sp>
        <p:nvSpPr>
          <p:cNvPr id="769" name="Google Shape;769;p64"/>
          <p:cNvSpPr txBox="1"/>
          <p:nvPr/>
        </p:nvSpPr>
        <p:spPr>
          <a:xfrm>
            <a:off x="857250" y="2816216"/>
            <a:ext cx="4857900" cy="1252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Sự tập trung tại vùng lõi:</a:t>
            </a:r>
            <a:r>
              <a:rPr lang="en-US" sz="1100">
                <a:solidFill>
                  <a:schemeClr val="dk1"/>
                </a:solidFill>
                <a:latin typeface="Nunito"/>
                <a:ea typeface="Nunito"/>
                <a:cs typeface="Nunito"/>
                <a:sym typeface="Nunito"/>
              </a:rPr>
              <a:t> Tương tự các cặp đặc trưng khác, phần trung tâm đồ thị (quanh mức Z-score = 0) chứng kiến sự chồng chéo cực kỳ dày đặc. Tuy nhiên, nhóm không mắc bệnh (Outcome = 0 - màu xanh) quần tụ rất chặt ở khu vực có cả BMI và chỉ số Phả hệ ở mức trung bình hoặc thấp (góc dưới bên trái).</a:t>
            </a:r>
            <a:endParaRPr>
              <a:solidFill>
                <a:schemeClr val="dk1"/>
              </a:solidFill>
              <a:latin typeface="Nunito"/>
              <a:ea typeface="Nunito"/>
              <a:cs typeface="Nunito"/>
              <a:sym typeface="Nunito"/>
            </a:endParaRPr>
          </a:p>
        </p:txBody>
      </p:sp>
      <p:sp>
        <p:nvSpPr>
          <p:cNvPr id="770" name="Google Shape;770;p64"/>
          <p:cNvSpPr txBox="1"/>
          <p:nvPr/>
        </p:nvSpPr>
        <p:spPr>
          <a:xfrm>
            <a:off x="857250" y="4374802"/>
            <a:ext cx="48579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Xu hướng của nhóm rủi ro cao:</a:t>
            </a:r>
            <a:r>
              <a:rPr lang="en-US" sz="1100">
                <a:solidFill>
                  <a:schemeClr val="dk1"/>
                </a:solidFill>
                <a:latin typeface="Nunito"/>
                <a:ea typeface="Nunito"/>
                <a:cs typeface="Nunito"/>
                <a:sym typeface="Nunito"/>
              </a:rPr>
              <a:t> Các điểm mang nhãn dương tính (Outcome = 1 - màu cam) có sự phân tán rộng hơn hẳn. Chúng lan dịch rõ rệt về góc trên bên phải, minh chứng cho việc bệnh nhân vừa béo phì (BMI cao) vừa có tiền sử gia đình (Phả hệ cao) mang tỷ lệ mắc bệnh vượt trội.</a:t>
            </a:r>
            <a:endParaRPr>
              <a:solidFill>
                <a:schemeClr val="dk1"/>
              </a:solidFill>
              <a:latin typeface="Nunito"/>
              <a:ea typeface="Nunito"/>
              <a:cs typeface="Nunito"/>
              <a:sym typeface="Nunito"/>
            </a:endParaRPr>
          </a:p>
        </p:txBody>
      </p:sp>
      <p:pic>
        <p:nvPicPr>
          <p:cNvPr descr="image.png" id="771" name="Google Shape;771;p64"/>
          <p:cNvPicPr preferRelativeResize="0"/>
          <p:nvPr/>
        </p:nvPicPr>
        <p:blipFill rotWithShape="1">
          <a:blip r:embed="rId3">
            <a:alphaModFix/>
          </a:blip>
          <a:srcRect b="0" l="0" r="0" t="0"/>
          <a:stretch/>
        </p:blipFill>
        <p:spPr>
          <a:xfrm>
            <a:off x="571500" y="2835266"/>
            <a:ext cx="104775" cy="180975"/>
          </a:xfrm>
          <a:prstGeom prst="rect">
            <a:avLst/>
          </a:prstGeom>
          <a:noFill/>
          <a:ln>
            <a:noFill/>
          </a:ln>
        </p:spPr>
      </p:pic>
      <p:pic>
        <p:nvPicPr>
          <p:cNvPr descr="image.png" id="772" name="Google Shape;772;p64"/>
          <p:cNvPicPr preferRelativeResize="0"/>
          <p:nvPr/>
        </p:nvPicPr>
        <p:blipFill rotWithShape="1">
          <a:blip r:embed="rId3">
            <a:alphaModFix/>
          </a:blip>
          <a:srcRect b="0" l="0" r="0" t="0"/>
          <a:stretch/>
        </p:blipFill>
        <p:spPr>
          <a:xfrm>
            <a:off x="571500" y="4393852"/>
            <a:ext cx="104775" cy="180975"/>
          </a:xfrm>
          <a:prstGeom prst="rect">
            <a:avLst/>
          </a:prstGeom>
          <a:noFill/>
          <a:ln>
            <a:noFill/>
          </a:ln>
        </p:spPr>
      </p:pic>
      <p:pic>
        <p:nvPicPr>
          <p:cNvPr id="773" name="Google Shape;773;p64" title="42_Bonus_Combo_Scatter_BMI_vs_DiabetesPedigreeFunction.png"/>
          <p:cNvPicPr preferRelativeResize="0"/>
          <p:nvPr/>
        </p:nvPicPr>
        <p:blipFill>
          <a:blip r:embed="rId4">
            <a:alphaModFix/>
          </a:blip>
          <a:stretch>
            <a:fillRect/>
          </a:stretch>
        </p:blipFill>
        <p:spPr>
          <a:xfrm>
            <a:off x="6046100" y="1078450"/>
            <a:ext cx="5915099" cy="4849104"/>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777" name="Shape 777"/>
        <p:cNvGrpSpPr/>
        <p:nvPr/>
      </p:nvGrpSpPr>
      <p:grpSpPr>
        <a:xfrm>
          <a:off x="0" y="0"/>
          <a:ext cx="0" cy="0"/>
          <a:chOff x="0" y="0"/>
          <a:chExt cx="0" cy="0"/>
        </a:xfrm>
      </p:grpSpPr>
      <p:sp>
        <p:nvSpPr>
          <p:cNvPr id="778" name="Google Shape;778;p65"/>
          <p:cNvSpPr txBox="1"/>
          <p:nvPr/>
        </p:nvSpPr>
        <p:spPr>
          <a:xfrm>
            <a:off x="154750" y="508300"/>
            <a:ext cx="53979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Playfair Display"/>
                <a:ea typeface="Playfair Display"/>
                <a:cs typeface="Playfair Display"/>
                <a:sym typeface="Playfair Display"/>
              </a:rPr>
              <a:t>Phân tích Khám phá (EDA): Mối quan hệ Huyết áp và Phả hệ </a:t>
            </a:r>
            <a:endParaRPr/>
          </a:p>
        </p:txBody>
      </p:sp>
      <p:sp>
        <p:nvSpPr>
          <p:cNvPr id="779" name="Google Shape;779;p65"/>
          <p:cNvSpPr txBox="1"/>
          <p:nvPr/>
        </p:nvSpPr>
        <p:spPr>
          <a:xfrm>
            <a:off x="67476" y="1806775"/>
            <a:ext cx="56871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FFFFFF"/>
                </a:solidFill>
                <a:latin typeface="Playfair Display"/>
                <a:ea typeface="Playfair Display"/>
                <a:cs typeface="Playfair Display"/>
                <a:sym typeface="Playfair Display"/>
              </a:rPr>
              <a:t>Sự chồng chéo dữ liệu và Khả năng phân định</a:t>
            </a:r>
            <a:endParaRPr/>
          </a:p>
        </p:txBody>
      </p:sp>
      <p:sp>
        <p:nvSpPr>
          <p:cNvPr id="780" name="Google Shape;780;p65"/>
          <p:cNvSpPr txBox="1"/>
          <p:nvPr/>
        </p:nvSpPr>
        <p:spPr>
          <a:xfrm>
            <a:off x="371050" y="2355041"/>
            <a:ext cx="4857900" cy="77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200">
                <a:solidFill>
                  <a:schemeClr val="lt1"/>
                </a:solidFill>
                <a:latin typeface="Nunito"/>
                <a:ea typeface="Nunito"/>
                <a:cs typeface="Nunito"/>
                <a:sym typeface="Nunito"/>
              </a:rPr>
              <a:t>Hội tụ dày đặc ở trung tâm:</a:t>
            </a:r>
            <a:r>
              <a:rPr lang="en-US" sz="1200">
                <a:solidFill>
                  <a:schemeClr val="lt1"/>
                </a:solidFill>
                <a:latin typeface="Nunito"/>
                <a:ea typeface="Nunito"/>
                <a:cs typeface="Nunito"/>
                <a:sym typeface="Nunito"/>
              </a:rPr>
              <a:t> Tại khu vực giá trị trung bình (quanh mốc Z-score = 0), các điểm dữ liệu của cả nhóm mắc bệnh (màu cam) và không bệnh (màu xanh) đan xen vào nhau cực kỳ chằng chịt.</a:t>
            </a:r>
            <a:endParaRPr sz="1500">
              <a:solidFill>
                <a:schemeClr val="lt1"/>
              </a:solidFill>
              <a:latin typeface="Nunito"/>
              <a:ea typeface="Nunito"/>
              <a:cs typeface="Nunito"/>
              <a:sym typeface="Nunito"/>
            </a:endParaRPr>
          </a:p>
        </p:txBody>
      </p:sp>
      <p:sp>
        <p:nvSpPr>
          <p:cNvPr id="781" name="Google Shape;781;p65"/>
          <p:cNvSpPr txBox="1"/>
          <p:nvPr/>
        </p:nvSpPr>
        <p:spPr>
          <a:xfrm>
            <a:off x="371050" y="3531850"/>
            <a:ext cx="4857900" cy="1071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200">
                <a:solidFill>
                  <a:schemeClr val="lt1"/>
                </a:solidFill>
                <a:latin typeface="Nunito"/>
                <a:ea typeface="Nunito"/>
                <a:cs typeface="Nunito"/>
                <a:sym typeface="Nunito"/>
              </a:rPr>
              <a:t>Ranh giới phân lớp mờ nhạt:</a:t>
            </a:r>
            <a:r>
              <a:rPr lang="en-US" sz="1200">
                <a:solidFill>
                  <a:schemeClr val="lt1"/>
                </a:solidFill>
                <a:latin typeface="Nunito"/>
                <a:ea typeface="Nunito"/>
                <a:cs typeface="Nunito"/>
                <a:sym typeface="Nunito"/>
              </a:rPr>
              <a:t> Khác với sức mạnh của Glucose, Huyết áp (BloodPressure) khi kết hợp với yếu tố di truyền không tạo ra vùng phân tách rõ rệt. Hai đặc trưng này mang lại rất ít giá trị dự đoán nếu chỉ đứng độc lập.</a:t>
            </a:r>
            <a:endParaRPr sz="1500">
              <a:solidFill>
                <a:schemeClr val="lt1"/>
              </a:solidFill>
              <a:latin typeface="Nunito"/>
              <a:ea typeface="Nunito"/>
              <a:cs typeface="Nunito"/>
              <a:sym typeface="Nunito"/>
            </a:endParaRPr>
          </a:p>
        </p:txBody>
      </p:sp>
      <p:pic>
        <p:nvPicPr>
          <p:cNvPr descr="image.png" id="782" name="Google Shape;782;p65"/>
          <p:cNvPicPr preferRelativeResize="0"/>
          <p:nvPr/>
        </p:nvPicPr>
        <p:blipFill rotWithShape="1">
          <a:blip r:embed="rId3">
            <a:alphaModFix/>
          </a:blip>
          <a:srcRect b="0" l="0" r="0" t="0"/>
          <a:stretch/>
        </p:blipFill>
        <p:spPr>
          <a:xfrm>
            <a:off x="195275" y="2364541"/>
            <a:ext cx="104775" cy="180975"/>
          </a:xfrm>
          <a:prstGeom prst="rect">
            <a:avLst/>
          </a:prstGeom>
          <a:noFill/>
          <a:ln>
            <a:noFill/>
          </a:ln>
        </p:spPr>
      </p:pic>
      <p:pic>
        <p:nvPicPr>
          <p:cNvPr descr="image.png" id="783" name="Google Shape;783;p65"/>
          <p:cNvPicPr preferRelativeResize="0"/>
          <p:nvPr/>
        </p:nvPicPr>
        <p:blipFill rotWithShape="1">
          <a:blip r:embed="rId3">
            <a:alphaModFix/>
          </a:blip>
          <a:srcRect b="0" l="0" r="0" t="0"/>
          <a:stretch/>
        </p:blipFill>
        <p:spPr>
          <a:xfrm>
            <a:off x="195275" y="3531853"/>
            <a:ext cx="104775" cy="180975"/>
          </a:xfrm>
          <a:prstGeom prst="rect">
            <a:avLst/>
          </a:prstGeom>
          <a:noFill/>
          <a:ln>
            <a:noFill/>
          </a:ln>
        </p:spPr>
      </p:pic>
      <p:sp>
        <p:nvSpPr>
          <p:cNvPr id="784" name="Google Shape;784;p65"/>
          <p:cNvSpPr/>
          <p:nvPr/>
        </p:nvSpPr>
        <p:spPr>
          <a:xfrm>
            <a:off x="9334500" y="-17240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785" name="Google Shape;785;p65"/>
          <p:cNvSpPr/>
          <p:nvPr/>
        </p:nvSpPr>
        <p:spPr>
          <a:xfrm>
            <a:off x="-826600" y="500412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786" name="Google Shape;786;p65"/>
          <p:cNvSpPr/>
          <p:nvPr/>
        </p:nvSpPr>
        <p:spPr>
          <a:xfrm>
            <a:off x="1180900" y="601957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787" name="Google Shape;787;p65"/>
          <p:cNvSpPr/>
          <p:nvPr/>
        </p:nvSpPr>
        <p:spPr>
          <a:xfrm>
            <a:off x="7393725" y="-24545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pic>
        <p:nvPicPr>
          <p:cNvPr id="788" name="Google Shape;788;p65" title="33_Bonus_Combo_Scatter_BloodPressure_vs_DiabetesPedigreeFunction.png"/>
          <p:cNvPicPr preferRelativeResize="0"/>
          <p:nvPr/>
        </p:nvPicPr>
        <p:blipFill>
          <a:blip r:embed="rId4">
            <a:alphaModFix/>
          </a:blip>
          <a:stretch>
            <a:fillRect/>
          </a:stretch>
        </p:blipFill>
        <p:spPr>
          <a:xfrm>
            <a:off x="5717088" y="1003575"/>
            <a:ext cx="6210776" cy="50160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2" name="Shape 792"/>
        <p:cNvGrpSpPr/>
        <p:nvPr/>
      </p:nvGrpSpPr>
      <p:grpSpPr>
        <a:xfrm>
          <a:off x="0" y="0"/>
          <a:ext cx="0" cy="0"/>
          <a:chOff x="0" y="0"/>
          <a:chExt cx="0" cy="0"/>
        </a:xfrm>
      </p:grpSpPr>
      <p:sp>
        <p:nvSpPr>
          <p:cNvPr id="793" name="Google Shape;793;p66"/>
          <p:cNvSpPr txBox="1"/>
          <p:nvPr/>
        </p:nvSpPr>
        <p:spPr>
          <a:xfrm>
            <a:off x="571500" y="47625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1E3A8A"/>
                </a:solidFill>
                <a:latin typeface="Playfair Display"/>
                <a:ea typeface="Playfair Display"/>
                <a:cs typeface="Playfair Display"/>
                <a:sym typeface="Playfair Display"/>
              </a:rPr>
              <a:t>Phân tích Khám phá: Mang thai và Phả hệ</a:t>
            </a:r>
            <a:endParaRPr/>
          </a:p>
        </p:txBody>
      </p:sp>
      <p:sp>
        <p:nvSpPr>
          <p:cNvPr id="794" name="Google Shape;794;p66"/>
          <p:cNvSpPr txBox="1"/>
          <p:nvPr/>
        </p:nvSpPr>
        <p:spPr>
          <a:xfrm>
            <a:off x="6338600" y="1829599"/>
            <a:ext cx="560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2563EB"/>
                </a:solidFill>
                <a:latin typeface="Playfair Display"/>
                <a:ea typeface="Playfair Display"/>
                <a:cs typeface="Playfair Display"/>
                <a:sym typeface="Playfair Display"/>
              </a:rPr>
              <a:t>Tương quan giữa Số Lần Mang Thai và Phả hệ</a:t>
            </a:r>
            <a:endParaRPr/>
          </a:p>
        </p:txBody>
      </p:sp>
      <p:sp>
        <p:nvSpPr>
          <p:cNvPr id="795" name="Google Shape;795;p66"/>
          <p:cNvSpPr txBox="1"/>
          <p:nvPr/>
        </p:nvSpPr>
        <p:spPr>
          <a:xfrm>
            <a:off x="6614750" y="2650416"/>
            <a:ext cx="50484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Đặc thù phân bố:</a:t>
            </a:r>
            <a:r>
              <a:rPr lang="en-US" sz="1100">
                <a:solidFill>
                  <a:schemeClr val="dk1"/>
                </a:solidFill>
                <a:latin typeface="Nunito"/>
                <a:ea typeface="Nunito"/>
                <a:cs typeface="Nunito"/>
                <a:sym typeface="Nunito"/>
              </a:rPr>
              <a:t> Đồ thị thể hiện rõ sự kết hợp đặc trưng giữa biến đếm rời rạc (Pregnancies - tạo thành các dải dữ liệu dọc) và biến liên tục lệch phải (DiabetesPedigreeFunction - mật độ dày ở dưới, thưa dần lên trên).</a:t>
            </a:r>
            <a:endParaRPr>
              <a:solidFill>
                <a:schemeClr val="dk1"/>
              </a:solidFill>
              <a:latin typeface="Nunito"/>
              <a:ea typeface="Nunito"/>
              <a:cs typeface="Nunito"/>
              <a:sym typeface="Nunito"/>
            </a:endParaRPr>
          </a:p>
        </p:txBody>
      </p:sp>
      <p:sp>
        <p:nvSpPr>
          <p:cNvPr id="796" name="Google Shape;796;p66"/>
          <p:cNvSpPr txBox="1"/>
          <p:nvPr/>
        </p:nvSpPr>
        <p:spPr>
          <a:xfrm>
            <a:off x="6633950" y="3578687"/>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Vùng an toàn cốt lõi:</a:t>
            </a:r>
            <a:r>
              <a:rPr lang="en-US" sz="1100">
                <a:solidFill>
                  <a:schemeClr val="dk1"/>
                </a:solidFill>
                <a:latin typeface="Nunito"/>
                <a:ea typeface="Nunito"/>
                <a:cs typeface="Nunito"/>
                <a:sym typeface="Nunito"/>
              </a:rPr>
              <a:t> Đại đa số bệnh nhân không mắc bệnh (Outcome = 0 - màu xanh dương) hội tụ cực kỳ chặt chẽ ở khu vực góc dưới cùng bên trái. Điều này cho thấy khi số lần mang thai và tiền sử di truyền đều ở mức thấp, rủi ro mắc bệnh là rất nhỏ.</a:t>
            </a:r>
            <a:endParaRPr>
              <a:solidFill>
                <a:schemeClr val="dk1"/>
              </a:solidFill>
              <a:latin typeface="Nunito"/>
              <a:ea typeface="Nunito"/>
              <a:cs typeface="Nunito"/>
              <a:sym typeface="Nunito"/>
            </a:endParaRPr>
          </a:p>
        </p:txBody>
      </p:sp>
      <p:pic>
        <p:nvPicPr>
          <p:cNvPr descr="image.png" id="797" name="Google Shape;797;p66"/>
          <p:cNvPicPr preferRelativeResize="0"/>
          <p:nvPr/>
        </p:nvPicPr>
        <p:blipFill rotWithShape="1">
          <a:blip r:embed="rId3">
            <a:alphaModFix/>
          </a:blip>
          <a:srcRect b="0" l="0" r="0" t="0"/>
          <a:stretch/>
        </p:blipFill>
        <p:spPr>
          <a:xfrm>
            <a:off x="6329000" y="2650416"/>
            <a:ext cx="104775" cy="180975"/>
          </a:xfrm>
          <a:prstGeom prst="rect">
            <a:avLst/>
          </a:prstGeom>
          <a:noFill/>
          <a:ln>
            <a:noFill/>
          </a:ln>
        </p:spPr>
      </p:pic>
      <p:pic>
        <p:nvPicPr>
          <p:cNvPr descr="image.png" id="798" name="Google Shape;798;p66"/>
          <p:cNvPicPr preferRelativeResize="0"/>
          <p:nvPr/>
        </p:nvPicPr>
        <p:blipFill rotWithShape="1">
          <a:blip r:embed="rId3">
            <a:alphaModFix/>
          </a:blip>
          <a:srcRect b="0" l="0" r="0" t="0"/>
          <a:stretch/>
        </p:blipFill>
        <p:spPr>
          <a:xfrm>
            <a:off x="6338600" y="3578687"/>
            <a:ext cx="104775" cy="180975"/>
          </a:xfrm>
          <a:prstGeom prst="rect">
            <a:avLst/>
          </a:prstGeom>
          <a:noFill/>
          <a:ln>
            <a:noFill/>
          </a:ln>
        </p:spPr>
      </p:pic>
      <p:pic>
        <p:nvPicPr>
          <p:cNvPr id="799" name="Google Shape;799;p66" title="22_Bonus_Combo_Scatter_Pregnancies_vs_DiabetesPedigreeFunction.png"/>
          <p:cNvPicPr preferRelativeResize="0"/>
          <p:nvPr/>
        </p:nvPicPr>
        <p:blipFill>
          <a:blip r:embed="rId4">
            <a:alphaModFix/>
          </a:blip>
          <a:stretch>
            <a:fillRect/>
          </a:stretch>
        </p:blipFill>
        <p:spPr>
          <a:xfrm>
            <a:off x="365275" y="1494675"/>
            <a:ext cx="5782750" cy="4471152"/>
          </a:xfrm>
          <a:prstGeom prst="rect">
            <a:avLst/>
          </a:prstGeom>
          <a:noFill/>
          <a:ln cap="flat" cmpd="sng" w="19050">
            <a:solidFill>
              <a:schemeClr val="dk2"/>
            </a:solidFill>
            <a:prstDash val="solid"/>
            <a:round/>
            <a:headEnd len="sm" w="sm" type="none"/>
            <a:tailEnd len="sm" w="sm" type="none"/>
          </a:ln>
        </p:spPr>
      </p:pic>
      <p:sp>
        <p:nvSpPr>
          <p:cNvPr id="800" name="Google Shape;800;p66"/>
          <p:cNvSpPr txBox="1"/>
          <p:nvPr/>
        </p:nvSpPr>
        <p:spPr>
          <a:xfrm>
            <a:off x="6633950" y="4777837"/>
            <a:ext cx="50484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latin typeface="Nunito"/>
                <a:ea typeface="Nunito"/>
                <a:cs typeface="Nunito"/>
                <a:sym typeface="Nunito"/>
              </a:rPr>
              <a:t>Sự phân tán rủi ro:</a:t>
            </a:r>
            <a:r>
              <a:rPr lang="en-US" sz="1100">
                <a:solidFill>
                  <a:schemeClr val="dk1"/>
                </a:solidFill>
                <a:latin typeface="Nunito"/>
                <a:ea typeface="Nunito"/>
                <a:cs typeface="Nunito"/>
                <a:sym typeface="Nunito"/>
              </a:rPr>
              <a:t> Nhóm mắc bệnh (Outcome = 1 - màu cam) có sự phân tán rộng và lộn xộn hơn. Khi tịnh tiến lên các mốc số lần mang thai cao (trục hoành &gt; 1) hoặc chỉ số phả hệ vượt trội (trục tung &gt; 2), mật độ xuất hiện của nhãn dương tính gia tăng đáng kể.</a:t>
            </a:r>
            <a:endParaRPr>
              <a:solidFill>
                <a:schemeClr val="dk1"/>
              </a:solidFill>
              <a:latin typeface="Nunito"/>
              <a:ea typeface="Nunito"/>
              <a:cs typeface="Nunito"/>
              <a:sym typeface="Nunito"/>
            </a:endParaRPr>
          </a:p>
        </p:txBody>
      </p:sp>
      <p:pic>
        <p:nvPicPr>
          <p:cNvPr descr="image.png" id="801" name="Google Shape;801;p66"/>
          <p:cNvPicPr preferRelativeResize="0"/>
          <p:nvPr/>
        </p:nvPicPr>
        <p:blipFill rotWithShape="1">
          <a:blip r:embed="rId3">
            <a:alphaModFix/>
          </a:blip>
          <a:srcRect b="0" l="0" r="0" t="0"/>
          <a:stretch/>
        </p:blipFill>
        <p:spPr>
          <a:xfrm>
            <a:off x="6338600" y="4777837"/>
            <a:ext cx="104775" cy="1809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805" name="Shape 805"/>
        <p:cNvGrpSpPr/>
        <p:nvPr/>
      </p:nvGrpSpPr>
      <p:grpSpPr>
        <a:xfrm>
          <a:off x="0" y="0"/>
          <a:ext cx="0" cy="0"/>
          <a:chOff x="0" y="0"/>
          <a:chExt cx="0" cy="0"/>
        </a:xfrm>
      </p:grpSpPr>
      <p:sp>
        <p:nvSpPr>
          <p:cNvPr id="806" name="Google Shape;806;p67"/>
          <p:cNvSpPr/>
          <p:nvPr/>
        </p:nvSpPr>
        <p:spPr>
          <a:xfrm>
            <a:off x="-1266412" y="5063550"/>
            <a:ext cx="3780600" cy="250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07" name="Google Shape;807;p67"/>
          <p:cNvSpPr txBox="1"/>
          <p:nvPr/>
        </p:nvSpPr>
        <p:spPr>
          <a:xfrm>
            <a:off x="571500" y="476250"/>
            <a:ext cx="63195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Playfair Display"/>
                <a:ea typeface="Playfair Display"/>
                <a:cs typeface="Playfair Display"/>
                <a:sym typeface="Playfair Display"/>
              </a:rPr>
              <a:t>Phân tích Khám phá (EDA): SkinThickness và Phả hệ Di truyền</a:t>
            </a:r>
            <a:endParaRPr/>
          </a:p>
        </p:txBody>
      </p:sp>
      <p:pic>
        <p:nvPicPr>
          <p:cNvPr descr="image.png" id="808" name="Google Shape;808;p67"/>
          <p:cNvPicPr preferRelativeResize="0"/>
          <p:nvPr/>
        </p:nvPicPr>
        <p:blipFill rotWithShape="1">
          <a:blip r:embed="rId3">
            <a:alphaModFix/>
          </a:blip>
          <a:srcRect b="0" l="0" r="0" t="0"/>
          <a:stretch/>
        </p:blipFill>
        <p:spPr>
          <a:xfrm>
            <a:off x="571500" y="2564212"/>
            <a:ext cx="104775" cy="180975"/>
          </a:xfrm>
          <a:prstGeom prst="rect">
            <a:avLst/>
          </a:prstGeom>
          <a:noFill/>
          <a:ln>
            <a:noFill/>
          </a:ln>
        </p:spPr>
      </p:pic>
      <p:pic>
        <p:nvPicPr>
          <p:cNvPr descr="image.png" id="809" name="Google Shape;809;p67"/>
          <p:cNvPicPr preferRelativeResize="0"/>
          <p:nvPr/>
        </p:nvPicPr>
        <p:blipFill rotWithShape="1">
          <a:blip r:embed="rId3">
            <a:alphaModFix/>
          </a:blip>
          <a:srcRect b="0" l="0" r="0" t="0"/>
          <a:stretch/>
        </p:blipFill>
        <p:spPr>
          <a:xfrm>
            <a:off x="571500" y="3810892"/>
            <a:ext cx="104775" cy="180975"/>
          </a:xfrm>
          <a:prstGeom prst="rect">
            <a:avLst/>
          </a:prstGeom>
          <a:noFill/>
          <a:ln>
            <a:noFill/>
          </a:ln>
        </p:spPr>
      </p:pic>
      <p:pic>
        <p:nvPicPr>
          <p:cNvPr descr="image.png" id="810" name="Google Shape;810;p67"/>
          <p:cNvPicPr preferRelativeResize="0"/>
          <p:nvPr/>
        </p:nvPicPr>
        <p:blipFill rotWithShape="1">
          <a:blip r:embed="rId3">
            <a:alphaModFix/>
          </a:blip>
          <a:srcRect b="0" l="0" r="0" t="0"/>
          <a:stretch/>
        </p:blipFill>
        <p:spPr>
          <a:xfrm>
            <a:off x="571500" y="4256633"/>
            <a:ext cx="104775" cy="180975"/>
          </a:xfrm>
          <a:prstGeom prst="rect">
            <a:avLst/>
          </a:prstGeom>
          <a:noFill/>
          <a:ln>
            <a:noFill/>
          </a:ln>
        </p:spPr>
      </p:pic>
      <p:sp>
        <p:nvSpPr>
          <p:cNvPr id="811" name="Google Shape;811;p67"/>
          <p:cNvSpPr/>
          <p:nvPr/>
        </p:nvSpPr>
        <p:spPr>
          <a:xfrm>
            <a:off x="9954600" y="-949825"/>
            <a:ext cx="3780600" cy="250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12" name="Google Shape;812;p67"/>
          <p:cNvSpPr/>
          <p:nvPr/>
        </p:nvSpPr>
        <p:spPr>
          <a:xfrm>
            <a:off x="8489875" y="-94725"/>
            <a:ext cx="3780600" cy="3704400"/>
          </a:xfrm>
          <a:prstGeom prst="roundRect">
            <a:avLst>
              <a:gd fmla="val 50000" name="adj"/>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813" name="Google Shape;813;p67"/>
          <p:cNvSpPr/>
          <p:nvPr/>
        </p:nvSpPr>
        <p:spPr>
          <a:xfrm>
            <a:off x="0" y="3271825"/>
            <a:ext cx="3780600" cy="3704400"/>
          </a:xfrm>
          <a:prstGeom prst="roundRect">
            <a:avLst>
              <a:gd fmla="val 50000" name="adj"/>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814" name="Google Shape;814;p67"/>
          <p:cNvSpPr txBox="1"/>
          <p:nvPr/>
        </p:nvSpPr>
        <p:spPr>
          <a:xfrm>
            <a:off x="585825" y="1948287"/>
            <a:ext cx="540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FFFFFF"/>
                </a:solidFill>
                <a:latin typeface="Playfair Display"/>
                <a:ea typeface="Playfair Display"/>
                <a:cs typeface="Playfair Display"/>
                <a:sym typeface="Playfair Display"/>
              </a:rPr>
              <a:t>Dấu vết Xử lý nhiễu và Sự chồng chéo dữ liệu</a:t>
            </a:r>
            <a:endParaRPr/>
          </a:p>
        </p:txBody>
      </p:sp>
      <p:sp>
        <p:nvSpPr>
          <p:cNvPr id="815" name="Google Shape;815;p67"/>
          <p:cNvSpPr txBox="1"/>
          <p:nvPr/>
        </p:nvSpPr>
        <p:spPr>
          <a:xfrm>
            <a:off x="857175" y="2490062"/>
            <a:ext cx="48579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latin typeface="Nunito"/>
                <a:ea typeface="Nunito"/>
                <a:cs typeface="Nunito"/>
                <a:sym typeface="Nunito"/>
              </a:rPr>
              <a:t>Dấu vết điền khuyết (Imputation):</a:t>
            </a:r>
            <a:r>
              <a:rPr lang="en-US" sz="1100">
                <a:solidFill>
                  <a:schemeClr val="lt1"/>
                </a:solidFill>
                <a:latin typeface="Nunito"/>
                <a:ea typeface="Nunito"/>
                <a:cs typeface="Nunito"/>
                <a:sym typeface="Nunito"/>
              </a:rPr>
              <a:t> Vệt thẳng đứng rất rõ tại mốc SkinThickness ≈ 0 chứng tỏ một lượng lớn dữ liệu thiếu sót của biến này đã được lấp đầy bằng giá trị trung bình/trung vị trước khi chuẩn hóa.</a:t>
            </a:r>
            <a:endParaRPr>
              <a:solidFill>
                <a:schemeClr val="lt1"/>
              </a:solidFill>
              <a:latin typeface="Nunito"/>
              <a:ea typeface="Nunito"/>
              <a:cs typeface="Nunito"/>
              <a:sym typeface="Nunito"/>
            </a:endParaRPr>
          </a:p>
        </p:txBody>
      </p:sp>
      <p:sp>
        <p:nvSpPr>
          <p:cNvPr id="816" name="Google Shape;816;p67"/>
          <p:cNvSpPr txBox="1"/>
          <p:nvPr/>
        </p:nvSpPr>
        <p:spPr>
          <a:xfrm>
            <a:off x="857100" y="3627480"/>
            <a:ext cx="48579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latin typeface="Nunito"/>
                <a:ea typeface="Nunito"/>
                <a:cs typeface="Nunito"/>
                <a:sym typeface="Nunito"/>
              </a:rPr>
              <a:t>Độ chồng chéo cực cao:</a:t>
            </a:r>
            <a:r>
              <a:rPr lang="en-US" sz="1100">
                <a:solidFill>
                  <a:schemeClr val="lt1"/>
                </a:solidFill>
                <a:latin typeface="Nunito"/>
                <a:ea typeface="Nunito"/>
                <a:cs typeface="Nunito"/>
                <a:sym typeface="Nunito"/>
              </a:rPr>
              <a:t> Ở vùng giá trị thấp của cả hai trục (góc dưới bên trái), nhóm mắc bệnh (cam) và không bệnh (xanh) đan xen vào nhau dày đặc, gần như không thể tìm ra ranh giới phân lớp bằng các mô hình tuyến tính.</a:t>
            </a:r>
            <a:endParaRPr sz="1350">
              <a:solidFill>
                <a:schemeClr val="lt1"/>
              </a:solidFill>
              <a:latin typeface="Nunito"/>
              <a:ea typeface="Nunito"/>
              <a:cs typeface="Nunito"/>
              <a:sym typeface="Nunito"/>
            </a:endParaRPr>
          </a:p>
        </p:txBody>
      </p:sp>
      <p:sp>
        <p:nvSpPr>
          <p:cNvPr id="817" name="Google Shape;817;p67"/>
          <p:cNvSpPr txBox="1"/>
          <p:nvPr/>
        </p:nvSpPr>
        <p:spPr>
          <a:xfrm>
            <a:off x="871425" y="4764933"/>
            <a:ext cx="48579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lt1"/>
                </a:solidFill>
                <a:latin typeface="Nunito"/>
                <a:ea typeface="Nunito"/>
                <a:cs typeface="Nunito"/>
                <a:sym typeface="Nunito"/>
              </a:rPr>
              <a:t>Phân bố điểm dị biệt (Outliers):</a:t>
            </a:r>
            <a:r>
              <a:rPr lang="en-US" sz="1100">
                <a:solidFill>
                  <a:schemeClr val="lt1"/>
                </a:solidFill>
                <a:latin typeface="Nunito"/>
                <a:ea typeface="Nunito"/>
                <a:cs typeface="Nunito"/>
                <a:sym typeface="Nunito"/>
              </a:rPr>
              <a:t> Nhóm mắc bệnh có độ phân tán rộng hơn hẳn. Hầu hết các điểm dị biệt nằm xa về phía trục tung (Chỉ số phả hệ &gt; 3) hoặc trục hoành (Độ dày da cực đại ≈ 8) đều thuộc về nhóm dương tính.</a:t>
            </a:r>
            <a:endParaRPr>
              <a:solidFill>
                <a:schemeClr val="lt1"/>
              </a:solidFill>
              <a:latin typeface="Nunito"/>
              <a:ea typeface="Nunito"/>
              <a:cs typeface="Nunito"/>
              <a:sym typeface="Nunito"/>
            </a:endParaRPr>
          </a:p>
        </p:txBody>
      </p:sp>
      <p:pic>
        <p:nvPicPr>
          <p:cNvPr descr="image.png" id="818" name="Google Shape;818;p67"/>
          <p:cNvPicPr preferRelativeResize="0"/>
          <p:nvPr/>
        </p:nvPicPr>
        <p:blipFill rotWithShape="1">
          <a:blip r:embed="rId3">
            <a:alphaModFix/>
          </a:blip>
          <a:srcRect b="0" l="0" r="0" t="0"/>
          <a:stretch/>
        </p:blipFill>
        <p:spPr>
          <a:xfrm>
            <a:off x="571500" y="3640962"/>
            <a:ext cx="104775" cy="180975"/>
          </a:xfrm>
          <a:prstGeom prst="rect">
            <a:avLst/>
          </a:prstGeom>
          <a:noFill/>
          <a:ln>
            <a:noFill/>
          </a:ln>
        </p:spPr>
      </p:pic>
      <p:pic>
        <p:nvPicPr>
          <p:cNvPr descr="image.png" id="819" name="Google Shape;819;p67"/>
          <p:cNvPicPr preferRelativeResize="0"/>
          <p:nvPr/>
        </p:nvPicPr>
        <p:blipFill rotWithShape="1">
          <a:blip r:embed="rId3">
            <a:alphaModFix/>
          </a:blip>
          <a:srcRect b="0" l="0" r="0" t="0"/>
          <a:stretch/>
        </p:blipFill>
        <p:spPr>
          <a:xfrm>
            <a:off x="585825" y="4764925"/>
            <a:ext cx="104775" cy="180975"/>
          </a:xfrm>
          <a:prstGeom prst="rect">
            <a:avLst/>
          </a:prstGeom>
          <a:noFill/>
          <a:ln>
            <a:noFill/>
          </a:ln>
        </p:spPr>
      </p:pic>
      <p:pic>
        <p:nvPicPr>
          <p:cNvPr id="820" name="Google Shape;820;p67" title="37_Bonus_Combo_Scatter_SkinThickness_vs_DiabetesPedigreeFunction.png"/>
          <p:cNvPicPr preferRelativeResize="0"/>
          <p:nvPr/>
        </p:nvPicPr>
        <p:blipFill>
          <a:blip r:embed="rId4">
            <a:alphaModFix/>
          </a:blip>
          <a:stretch>
            <a:fillRect/>
          </a:stretch>
        </p:blipFill>
        <p:spPr>
          <a:xfrm>
            <a:off x="5895975" y="1476050"/>
            <a:ext cx="6015402" cy="45895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6FF"/>
        </a:solidFill>
      </p:bgPr>
    </p:bg>
    <p:spTree>
      <p:nvGrpSpPr>
        <p:cNvPr id="824" name="Shape 824"/>
        <p:cNvGrpSpPr/>
        <p:nvPr/>
      </p:nvGrpSpPr>
      <p:grpSpPr>
        <a:xfrm>
          <a:off x="0" y="0"/>
          <a:ext cx="0" cy="0"/>
          <a:chOff x="0" y="0"/>
          <a:chExt cx="0" cy="0"/>
        </a:xfrm>
      </p:grpSpPr>
      <p:sp>
        <p:nvSpPr>
          <p:cNvPr id="825" name="Google Shape;825;p68"/>
          <p:cNvSpPr txBox="1"/>
          <p:nvPr/>
        </p:nvSpPr>
        <p:spPr>
          <a:xfrm>
            <a:off x="459150" y="465500"/>
            <a:ext cx="85461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1E3A8A"/>
                </a:solidFill>
                <a:latin typeface="Playfair Display"/>
                <a:ea typeface="Playfair Display"/>
                <a:cs typeface="Playfair Display"/>
                <a:sym typeface="Playfair Display"/>
              </a:rPr>
              <a:t>Phân tích Khám phá (EDA): Mối quan hệ Insulin và Phả hệ Di truyền</a:t>
            </a:r>
            <a:endParaRPr/>
          </a:p>
        </p:txBody>
      </p:sp>
      <p:sp>
        <p:nvSpPr>
          <p:cNvPr id="826" name="Google Shape;826;p68"/>
          <p:cNvSpPr txBox="1"/>
          <p:nvPr/>
        </p:nvSpPr>
        <p:spPr>
          <a:xfrm>
            <a:off x="571500" y="1891091"/>
            <a:ext cx="540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2563EB"/>
                </a:solidFill>
                <a:latin typeface="Playfair Display"/>
                <a:ea typeface="Playfair Display"/>
                <a:cs typeface="Playfair Display"/>
                <a:sym typeface="Playfair Display"/>
              </a:rPr>
              <a:t>Dấu vết Điền khuyết và Khả năng Phân tách lớp</a:t>
            </a:r>
            <a:endParaRPr/>
          </a:p>
        </p:txBody>
      </p:sp>
      <p:sp>
        <p:nvSpPr>
          <p:cNvPr id="827" name="Google Shape;827;p68"/>
          <p:cNvSpPr txBox="1"/>
          <p:nvPr/>
        </p:nvSpPr>
        <p:spPr>
          <a:xfrm>
            <a:off x="857250" y="2480291"/>
            <a:ext cx="4857900" cy="71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Hiện tượng điền khuyết (Imputation):</a:t>
            </a:r>
            <a:r>
              <a:rPr lang="en-US" sz="1100">
                <a:solidFill>
                  <a:schemeClr val="dk1"/>
                </a:solidFill>
              </a:rPr>
              <a:t> Đồ thị tiếp tục cho thấy vệt dữ liệu thẳng đứng rất rõ rệt tại vị trí </a:t>
            </a:r>
            <a:r>
              <a:rPr lang="en-US" sz="1100">
                <a:solidFill>
                  <a:srgbClr val="188038"/>
                </a:solidFill>
                <a:latin typeface="Roboto Mono"/>
                <a:ea typeface="Roboto Mono"/>
                <a:cs typeface="Roboto Mono"/>
                <a:sym typeface="Roboto Mono"/>
              </a:rPr>
              <a:t>Insulin ≈ 0</a:t>
            </a:r>
            <a:r>
              <a:rPr lang="en-US" sz="1100">
                <a:solidFill>
                  <a:schemeClr val="dk1"/>
                </a:solidFill>
              </a:rPr>
              <a:t>. Đây là kết quả của bước tiền xử lý, khi các giá trị thiếu sót được lấp đầy bằng trung bình/trung vị.</a:t>
            </a:r>
            <a:endParaRPr>
              <a:solidFill>
                <a:schemeClr val="dk1"/>
              </a:solidFill>
              <a:latin typeface="Nunito"/>
              <a:ea typeface="Nunito"/>
              <a:cs typeface="Nunito"/>
              <a:sym typeface="Nunito"/>
            </a:endParaRPr>
          </a:p>
        </p:txBody>
      </p:sp>
      <p:sp>
        <p:nvSpPr>
          <p:cNvPr id="828" name="Google Shape;828;p68"/>
          <p:cNvSpPr txBox="1"/>
          <p:nvPr/>
        </p:nvSpPr>
        <p:spPr>
          <a:xfrm>
            <a:off x="857250" y="3480202"/>
            <a:ext cx="48579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Chồng chéo tại vùng lõi:</a:t>
            </a:r>
            <a:r>
              <a:rPr lang="en-US" sz="1100">
                <a:solidFill>
                  <a:schemeClr val="dk1"/>
                </a:solidFill>
              </a:rPr>
              <a:t> Ở góc dưới bên trái (nơi cả lượng Insulin và chỉ số Phả hệ ở mức thấp), cả hai nhóm bệnh nhân đan xen vào nhau cực kỳ đặc. Sự kết hợp của hai chỉ số này chưa đủ mạnh để phân định rạch ròi vùng an toàn.</a:t>
            </a:r>
            <a:endParaRPr>
              <a:solidFill>
                <a:schemeClr val="dk1"/>
              </a:solidFill>
              <a:latin typeface="Nunito"/>
              <a:ea typeface="Nunito"/>
              <a:cs typeface="Nunito"/>
              <a:sym typeface="Nunito"/>
            </a:endParaRPr>
          </a:p>
        </p:txBody>
      </p:sp>
      <p:pic>
        <p:nvPicPr>
          <p:cNvPr descr="image.png" id="829" name="Google Shape;829;p68"/>
          <p:cNvPicPr preferRelativeResize="0"/>
          <p:nvPr/>
        </p:nvPicPr>
        <p:blipFill rotWithShape="1">
          <a:blip r:embed="rId3">
            <a:alphaModFix/>
          </a:blip>
          <a:srcRect b="0" l="0" r="0" t="0"/>
          <a:stretch/>
        </p:blipFill>
        <p:spPr>
          <a:xfrm>
            <a:off x="571500" y="2499341"/>
            <a:ext cx="104775" cy="180975"/>
          </a:xfrm>
          <a:prstGeom prst="rect">
            <a:avLst/>
          </a:prstGeom>
          <a:noFill/>
          <a:ln>
            <a:noFill/>
          </a:ln>
        </p:spPr>
      </p:pic>
      <p:pic>
        <p:nvPicPr>
          <p:cNvPr descr="image.png" id="830" name="Google Shape;830;p68"/>
          <p:cNvPicPr preferRelativeResize="0"/>
          <p:nvPr/>
        </p:nvPicPr>
        <p:blipFill rotWithShape="1">
          <a:blip r:embed="rId3">
            <a:alphaModFix/>
          </a:blip>
          <a:srcRect b="0" l="0" r="0" t="0"/>
          <a:stretch/>
        </p:blipFill>
        <p:spPr>
          <a:xfrm>
            <a:off x="571500" y="3499252"/>
            <a:ext cx="104775" cy="180975"/>
          </a:xfrm>
          <a:prstGeom prst="rect">
            <a:avLst/>
          </a:prstGeom>
          <a:noFill/>
          <a:ln>
            <a:noFill/>
          </a:ln>
        </p:spPr>
      </p:pic>
      <p:pic>
        <p:nvPicPr>
          <p:cNvPr id="831" name="Google Shape;831;p68" title="40_Bonus_Combo_Scatter_Insulin_vs_DiabetesPedigreeFunction.png"/>
          <p:cNvPicPr preferRelativeResize="0"/>
          <p:nvPr/>
        </p:nvPicPr>
        <p:blipFill>
          <a:blip r:embed="rId4">
            <a:alphaModFix/>
          </a:blip>
          <a:stretch>
            <a:fillRect/>
          </a:stretch>
        </p:blipFill>
        <p:spPr>
          <a:xfrm>
            <a:off x="6075400" y="1398675"/>
            <a:ext cx="5845601" cy="4696024"/>
          </a:xfrm>
          <a:prstGeom prst="rect">
            <a:avLst/>
          </a:prstGeom>
          <a:noFill/>
          <a:ln cap="flat" cmpd="sng" w="19050">
            <a:solidFill>
              <a:schemeClr val="dk2"/>
            </a:solidFill>
            <a:prstDash val="solid"/>
            <a:round/>
            <a:headEnd len="sm" w="sm" type="none"/>
            <a:tailEnd len="sm" w="sm" type="none"/>
          </a:ln>
        </p:spPr>
      </p:pic>
      <p:sp>
        <p:nvSpPr>
          <p:cNvPr id="832" name="Google Shape;832;p68"/>
          <p:cNvSpPr txBox="1"/>
          <p:nvPr/>
        </p:nvSpPr>
        <p:spPr>
          <a:xfrm>
            <a:off x="857250" y="4751002"/>
            <a:ext cx="4857900" cy="981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100">
                <a:solidFill>
                  <a:schemeClr val="dk1"/>
                </a:solidFill>
              </a:rPr>
              <a:t>Sự phân tán của nhóm rủi ro:</a:t>
            </a:r>
            <a:r>
              <a:rPr lang="en-US" sz="1100">
                <a:solidFill>
                  <a:schemeClr val="dk1"/>
                </a:solidFill>
              </a:rPr>
              <a:t> Nhóm mắc bệnh (</a:t>
            </a:r>
            <a:r>
              <a:rPr lang="en-US" sz="1100">
                <a:solidFill>
                  <a:srgbClr val="188038"/>
                </a:solidFill>
                <a:latin typeface="Roboto Mono"/>
                <a:ea typeface="Roboto Mono"/>
                <a:cs typeface="Roboto Mono"/>
                <a:sym typeface="Roboto Mono"/>
              </a:rPr>
              <a:t>Outcome = 1</a:t>
            </a:r>
            <a:r>
              <a:rPr lang="en-US" sz="1100">
                <a:solidFill>
                  <a:schemeClr val="dk1"/>
                </a:solidFill>
              </a:rPr>
              <a:t> - màu cam) có xu hướng vươn xa hơn trên đồ thị. Những bệnh nhân có mức Insulin tăng vọt (trục hoành &gt; 2) hoặc chỉ số di truyền cao (trục tung &gt; 2) thường có xác suất dương tính cao hơn hẳn.</a:t>
            </a:r>
            <a:endParaRPr>
              <a:solidFill>
                <a:schemeClr val="dk1"/>
              </a:solidFill>
              <a:latin typeface="Nunito"/>
              <a:ea typeface="Nunito"/>
              <a:cs typeface="Nunito"/>
              <a:sym typeface="Nunito"/>
            </a:endParaRPr>
          </a:p>
        </p:txBody>
      </p:sp>
      <p:pic>
        <p:nvPicPr>
          <p:cNvPr descr="image.png" id="833" name="Google Shape;833;p68"/>
          <p:cNvPicPr preferRelativeResize="0"/>
          <p:nvPr/>
        </p:nvPicPr>
        <p:blipFill rotWithShape="1">
          <a:blip r:embed="rId3">
            <a:alphaModFix/>
          </a:blip>
          <a:srcRect b="0" l="0" r="0" t="0"/>
          <a:stretch/>
        </p:blipFill>
        <p:spPr>
          <a:xfrm>
            <a:off x="571500" y="4770052"/>
            <a:ext cx="104775" cy="1809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8A"/>
        </a:solidFill>
      </p:bgPr>
    </p:bg>
    <p:spTree>
      <p:nvGrpSpPr>
        <p:cNvPr id="837" name="Shape 837"/>
        <p:cNvGrpSpPr/>
        <p:nvPr/>
      </p:nvGrpSpPr>
      <p:grpSpPr>
        <a:xfrm>
          <a:off x="0" y="0"/>
          <a:ext cx="0" cy="0"/>
          <a:chOff x="0" y="0"/>
          <a:chExt cx="0" cy="0"/>
        </a:xfrm>
      </p:grpSpPr>
      <p:sp>
        <p:nvSpPr>
          <p:cNvPr id="838" name="Google Shape;838;p69"/>
          <p:cNvSpPr txBox="1"/>
          <p:nvPr/>
        </p:nvSpPr>
        <p:spPr>
          <a:xfrm>
            <a:off x="300050" y="220925"/>
            <a:ext cx="69210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Playfair Display"/>
                <a:ea typeface="Playfair Display"/>
                <a:cs typeface="Playfair Display"/>
                <a:sym typeface="Playfair Display"/>
              </a:rPr>
              <a:t>Phân tích Khám phá (EDA): Mối liên hệ giữa Số lần Mang thai và Outcome</a:t>
            </a:r>
            <a:endParaRPr/>
          </a:p>
        </p:txBody>
      </p:sp>
      <p:sp>
        <p:nvSpPr>
          <p:cNvPr id="839" name="Google Shape;839;p69"/>
          <p:cNvSpPr txBox="1"/>
          <p:nvPr/>
        </p:nvSpPr>
        <p:spPr>
          <a:xfrm>
            <a:off x="300051" y="1594200"/>
            <a:ext cx="5687100" cy="6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50">
                <a:solidFill>
                  <a:srgbClr val="FFFFFF"/>
                </a:solidFill>
                <a:latin typeface="Playfair Display"/>
                <a:ea typeface="Playfair Display"/>
                <a:cs typeface="Playfair Display"/>
                <a:sym typeface="Playfair Display"/>
              </a:rPr>
              <a:t>Sự khác biệt phân bổ và các giá trị ngoại lệ (Outliers)</a:t>
            </a:r>
            <a:endParaRPr/>
          </a:p>
        </p:txBody>
      </p:sp>
      <p:sp>
        <p:nvSpPr>
          <p:cNvPr id="840" name="Google Shape;840;p69"/>
          <p:cNvSpPr txBox="1"/>
          <p:nvPr/>
        </p:nvSpPr>
        <p:spPr>
          <a:xfrm>
            <a:off x="371050" y="2355041"/>
            <a:ext cx="4857900" cy="1071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200">
                <a:solidFill>
                  <a:schemeClr val="lt1"/>
                </a:solidFill>
                <a:latin typeface="Nunito"/>
                <a:ea typeface="Nunito"/>
                <a:cs typeface="Nunito"/>
                <a:sym typeface="Nunito"/>
              </a:rPr>
              <a:t>Xu hướng tăng theo bệnh lý:</a:t>
            </a:r>
            <a:r>
              <a:rPr lang="en-US" sz="1200">
                <a:solidFill>
                  <a:schemeClr val="lt1"/>
                </a:solidFill>
                <a:latin typeface="Nunito"/>
                <a:ea typeface="Nunito"/>
                <a:cs typeface="Nunito"/>
                <a:sym typeface="Nunito"/>
              </a:rPr>
              <a:t> Nhóm có kết quả dương tính (Outcome 1 - màu cam) thường có số lần mang thai cao hơn rõ rệt. Giá trị trung vị (median) của nhóm này nằm ở mức ~4 lần, cao gấp đôi so với nhóm âm tính (Outcome 0 - màu xanh) vốn chỉ ở mức ~2 lần.</a:t>
            </a:r>
            <a:endParaRPr sz="1600">
              <a:solidFill>
                <a:schemeClr val="lt1"/>
              </a:solidFill>
              <a:latin typeface="Nunito"/>
              <a:ea typeface="Nunito"/>
              <a:cs typeface="Nunito"/>
              <a:sym typeface="Nunito"/>
            </a:endParaRPr>
          </a:p>
        </p:txBody>
      </p:sp>
      <p:sp>
        <p:nvSpPr>
          <p:cNvPr id="841" name="Google Shape;841;p69"/>
          <p:cNvSpPr txBox="1"/>
          <p:nvPr/>
        </p:nvSpPr>
        <p:spPr>
          <a:xfrm>
            <a:off x="371050" y="3531850"/>
            <a:ext cx="4857900" cy="1662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200">
                <a:solidFill>
                  <a:schemeClr val="lt1"/>
                </a:solidFill>
                <a:latin typeface="Nunito"/>
                <a:ea typeface="Nunito"/>
                <a:cs typeface="Nunito"/>
                <a:sym typeface="Nunito"/>
              </a:rPr>
              <a:t>Kiểm soát Outliers và Chồng lấn:</a:t>
            </a:r>
            <a:r>
              <a:rPr lang="en-US" sz="1200">
                <a:solidFill>
                  <a:schemeClr val="lt1"/>
                </a:solidFill>
                <a:latin typeface="Nunito"/>
                <a:ea typeface="Nunito"/>
                <a:cs typeface="Nunito"/>
                <a:sym typeface="Nunito"/>
              </a:rPr>
              <a:t> Nhóm không mắc bệnh xuất hiện các điểm ngoại lệ (Outliers) có số lần mang thai bất thường (trên 12 lần). Mặc dù dải dữ liệu của nhóm bệnh rộng hơn (lên tới 17 lần), nhưng hai nhóm vẫn có vùng chồng lấn lớn ở khoảng 0-5 lần mang thai, cho thấy đây là một đặc trưng quan trọng nhưng chưa đủ để phân loại hoàn toàn nếu không kết hợp các yếu tố khác.a</a:t>
            </a:r>
            <a:endParaRPr sz="1600">
              <a:solidFill>
                <a:schemeClr val="lt1"/>
              </a:solidFill>
              <a:latin typeface="Nunito"/>
              <a:ea typeface="Nunito"/>
              <a:cs typeface="Nunito"/>
              <a:sym typeface="Nunito"/>
            </a:endParaRPr>
          </a:p>
        </p:txBody>
      </p:sp>
      <p:pic>
        <p:nvPicPr>
          <p:cNvPr descr="image.png" id="842" name="Google Shape;842;p69"/>
          <p:cNvPicPr preferRelativeResize="0"/>
          <p:nvPr/>
        </p:nvPicPr>
        <p:blipFill rotWithShape="1">
          <a:blip r:embed="rId3">
            <a:alphaModFix/>
          </a:blip>
          <a:srcRect b="0" l="0" r="0" t="0"/>
          <a:stretch/>
        </p:blipFill>
        <p:spPr>
          <a:xfrm>
            <a:off x="195275" y="2364541"/>
            <a:ext cx="104775" cy="180975"/>
          </a:xfrm>
          <a:prstGeom prst="rect">
            <a:avLst/>
          </a:prstGeom>
          <a:noFill/>
          <a:ln>
            <a:noFill/>
          </a:ln>
        </p:spPr>
      </p:pic>
      <p:pic>
        <p:nvPicPr>
          <p:cNvPr descr="image.png" id="843" name="Google Shape;843;p69"/>
          <p:cNvPicPr preferRelativeResize="0"/>
          <p:nvPr/>
        </p:nvPicPr>
        <p:blipFill rotWithShape="1">
          <a:blip r:embed="rId3">
            <a:alphaModFix/>
          </a:blip>
          <a:srcRect b="0" l="0" r="0" t="0"/>
          <a:stretch/>
        </p:blipFill>
        <p:spPr>
          <a:xfrm>
            <a:off x="195275" y="3531853"/>
            <a:ext cx="104775" cy="180975"/>
          </a:xfrm>
          <a:prstGeom prst="rect">
            <a:avLst/>
          </a:prstGeom>
          <a:noFill/>
          <a:ln>
            <a:noFill/>
          </a:ln>
        </p:spPr>
      </p:pic>
      <p:sp>
        <p:nvSpPr>
          <p:cNvPr id="844" name="Google Shape;844;p69"/>
          <p:cNvSpPr/>
          <p:nvPr/>
        </p:nvSpPr>
        <p:spPr>
          <a:xfrm>
            <a:off x="9334500" y="-17240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845" name="Google Shape;845;p69"/>
          <p:cNvSpPr/>
          <p:nvPr/>
        </p:nvSpPr>
        <p:spPr>
          <a:xfrm>
            <a:off x="-1237012" y="519415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846" name="Google Shape;846;p69"/>
          <p:cNvSpPr/>
          <p:nvPr/>
        </p:nvSpPr>
        <p:spPr>
          <a:xfrm>
            <a:off x="744600" y="6075525"/>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sp>
        <p:nvSpPr>
          <p:cNvPr id="847" name="Google Shape;847;p69"/>
          <p:cNvSpPr/>
          <p:nvPr/>
        </p:nvSpPr>
        <p:spPr>
          <a:xfrm>
            <a:off x="7393725" y="-2454500"/>
            <a:ext cx="2857500" cy="2857500"/>
          </a:xfrm>
          <a:prstGeom prst="roundRect">
            <a:avLst>
              <a:gd fmla="val 5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highlight>
                <a:srgbClr val="FFFFFF"/>
              </a:highlight>
              <a:latin typeface="Calibri"/>
              <a:ea typeface="Calibri"/>
              <a:cs typeface="Calibri"/>
              <a:sym typeface="Calibri"/>
            </a:endParaRPr>
          </a:p>
        </p:txBody>
      </p:sp>
      <p:pic>
        <p:nvPicPr>
          <p:cNvPr id="848" name="Google Shape;848;p69" title="14_Case6_Boxplot_Pregnancies.png"/>
          <p:cNvPicPr preferRelativeResize="0"/>
          <p:nvPr/>
        </p:nvPicPr>
        <p:blipFill>
          <a:blip r:embed="rId4">
            <a:alphaModFix/>
          </a:blip>
          <a:stretch>
            <a:fillRect/>
          </a:stretch>
        </p:blipFill>
        <p:spPr>
          <a:xfrm>
            <a:off x="5392525" y="1133488"/>
            <a:ext cx="6658248" cy="46799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6FF"/>
        </a:solidFill>
      </p:bgPr>
    </p:bg>
    <p:spTree>
      <p:nvGrpSpPr>
        <p:cNvPr id="852" name="Shape 852"/>
        <p:cNvGrpSpPr/>
        <p:nvPr/>
      </p:nvGrpSpPr>
      <p:grpSpPr>
        <a:xfrm>
          <a:off x="0" y="0"/>
          <a:ext cx="0" cy="0"/>
          <a:chOff x="0" y="0"/>
          <a:chExt cx="0" cy="0"/>
        </a:xfrm>
      </p:grpSpPr>
      <p:sp>
        <p:nvSpPr>
          <p:cNvPr id="853" name="Google Shape;853;p70"/>
          <p:cNvSpPr txBox="1"/>
          <p:nvPr/>
        </p:nvSpPr>
        <p:spPr>
          <a:xfrm>
            <a:off x="571500" y="476250"/>
            <a:ext cx="1160145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Ma trận Tương quan (Heatmap)</a:t>
            </a:r>
            <a:endParaRPr/>
          </a:p>
        </p:txBody>
      </p:sp>
      <p:sp>
        <p:nvSpPr>
          <p:cNvPr id="854" name="Google Shape;854;p70"/>
          <p:cNvSpPr txBox="1"/>
          <p:nvPr/>
        </p:nvSpPr>
        <p:spPr>
          <a:xfrm>
            <a:off x="571500" y="2458491"/>
            <a:ext cx="5600700"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Đo lường toán học độ phụ thuộc</a:t>
            </a:r>
            <a:endParaRPr/>
          </a:p>
        </p:txBody>
      </p:sp>
      <p:sp>
        <p:nvSpPr>
          <p:cNvPr id="855" name="Google Shape;855;p70"/>
          <p:cNvSpPr txBox="1"/>
          <p:nvPr/>
        </p:nvSpPr>
        <p:spPr>
          <a:xfrm>
            <a:off x="857250" y="2934741"/>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Phân tích Pearson Correlation khẳng định bằng toán học mức độ ảnh hưởng của từng biến số.</a:t>
            </a:r>
            <a:endParaRPr/>
          </a:p>
        </p:txBody>
      </p:sp>
      <p:sp>
        <p:nvSpPr>
          <p:cNvPr id="856" name="Google Shape;856;p70"/>
          <p:cNvSpPr txBox="1"/>
          <p:nvPr/>
        </p:nvSpPr>
        <p:spPr>
          <a:xfrm>
            <a:off x="857250" y="3654772"/>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E40AF"/>
                </a:solidFill>
                <a:latin typeface="Nunito"/>
                <a:ea typeface="Nunito"/>
                <a:cs typeface="Nunito"/>
                <a:sym typeface="Nunito"/>
              </a:rPr>
              <a:t>Glucose</a:t>
            </a:r>
            <a:r>
              <a:rPr b="0" i="0" lang="en-US" sz="1350" u="none" cap="none" strike="noStrike">
                <a:solidFill>
                  <a:srgbClr val="334155"/>
                </a:solidFill>
                <a:latin typeface="Nunito"/>
                <a:ea typeface="Nunito"/>
                <a:cs typeface="Nunito"/>
                <a:sym typeface="Nunito"/>
              </a:rPr>
              <a:t> có độ tương quan dương mạnh nhất với biến Outcome (Hệ số </a:t>
            </a:r>
            <a:r>
              <a:rPr b="1" i="0" lang="en-US" sz="1350" u="none" cap="none" strike="noStrike">
                <a:solidFill>
                  <a:srgbClr val="E11D48"/>
                </a:solidFill>
                <a:latin typeface="Nunito"/>
                <a:ea typeface="Nunito"/>
                <a:cs typeface="Nunito"/>
                <a:sym typeface="Nunito"/>
              </a:rPr>
              <a:t>0.47</a:t>
            </a:r>
            <a:r>
              <a:rPr b="0" i="0" lang="en-US" sz="1350" u="none" cap="none" strike="noStrike">
                <a:solidFill>
                  <a:srgbClr val="334155"/>
                </a:solidFill>
                <a:latin typeface="Nunito"/>
                <a:ea typeface="Nunito"/>
                <a:cs typeface="Nunito"/>
                <a:sym typeface="Nunito"/>
              </a:rPr>
              <a:t>).</a:t>
            </a:r>
            <a:endParaRPr/>
          </a:p>
        </p:txBody>
      </p:sp>
      <p:sp>
        <p:nvSpPr>
          <p:cNvPr id="857" name="Google Shape;857;p70"/>
          <p:cNvSpPr txBox="1"/>
          <p:nvPr/>
        </p:nvSpPr>
        <p:spPr>
          <a:xfrm>
            <a:off x="857250" y="4374802"/>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Tiếp theo lần lượt là các chỉ số: BMI (0.29), Tuổi tác (0.24) và Số lần mang thai (0.22).</a:t>
            </a:r>
            <a:endParaRPr/>
          </a:p>
        </p:txBody>
      </p:sp>
      <p:pic>
        <p:nvPicPr>
          <p:cNvPr descr="image.png" id="858" name="Google Shape;858;p70"/>
          <p:cNvPicPr preferRelativeResize="0"/>
          <p:nvPr/>
        </p:nvPicPr>
        <p:blipFill rotWithShape="1">
          <a:blip r:embed="rId3">
            <a:alphaModFix/>
          </a:blip>
          <a:srcRect b="0" l="0" r="0" t="0"/>
          <a:stretch/>
        </p:blipFill>
        <p:spPr>
          <a:xfrm>
            <a:off x="571500" y="2953791"/>
            <a:ext cx="104775" cy="180975"/>
          </a:xfrm>
          <a:prstGeom prst="rect">
            <a:avLst/>
          </a:prstGeom>
          <a:noFill/>
          <a:ln>
            <a:noFill/>
          </a:ln>
        </p:spPr>
      </p:pic>
      <p:pic>
        <p:nvPicPr>
          <p:cNvPr descr="image.png" id="859" name="Google Shape;859;p70"/>
          <p:cNvPicPr preferRelativeResize="0"/>
          <p:nvPr/>
        </p:nvPicPr>
        <p:blipFill rotWithShape="1">
          <a:blip r:embed="rId3">
            <a:alphaModFix/>
          </a:blip>
          <a:srcRect b="0" l="0" r="0" t="0"/>
          <a:stretch/>
        </p:blipFill>
        <p:spPr>
          <a:xfrm>
            <a:off x="571500" y="3673822"/>
            <a:ext cx="104775" cy="180975"/>
          </a:xfrm>
          <a:prstGeom prst="rect">
            <a:avLst/>
          </a:prstGeom>
          <a:noFill/>
          <a:ln>
            <a:noFill/>
          </a:ln>
        </p:spPr>
      </p:pic>
      <p:pic>
        <p:nvPicPr>
          <p:cNvPr descr="image.png" id="860" name="Google Shape;860;p70"/>
          <p:cNvPicPr preferRelativeResize="0"/>
          <p:nvPr/>
        </p:nvPicPr>
        <p:blipFill rotWithShape="1">
          <a:blip r:embed="rId3">
            <a:alphaModFix/>
          </a:blip>
          <a:srcRect b="0" l="0" r="0" t="0"/>
          <a:stretch/>
        </p:blipFill>
        <p:spPr>
          <a:xfrm>
            <a:off x="571500" y="4393852"/>
            <a:ext cx="104775" cy="180975"/>
          </a:xfrm>
          <a:prstGeom prst="rect">
            <a:avLst/>
          </a:prstGeom>
          <a:noFill/>
          <a:ln>
            <a:noFill/>
          </a:ln>
        </p:spPr>
      </p:pic>
      <p:pic>
        <p:nvPicPr>
          <p:cNvPr id="861" name="Google Shape;861;p70" title="15_Case7_Heatmap_Correlation.png"/>
          <p:cNvPicPr preferRelativeResize="0"/>
          <p:nvPr/>
        </p:nvPicPr>
        <p:blipFill>
          <a:blip r:embed="rId4">
            <a:alphaModFix/>
          </a:blip>
          <a:stretch>
            <a:fillRect/>
          </a:stretch>
        </p:blipFill>
        <p:spPr>
          <a:xfrm>
            <a:off x="6086475" y="1106725"/>
            <a:ext cx="5813248" cy="514337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5" name="Shape 865"/>
        <p:cNvGrpSpPr/>
        <p:nvPr/>
      </p:nvGrpSpPr>
      <p:grpSpPr>
        <a:xfrm>
          <a:off x="0" y="0"/>
          <a:ext cx="0" cy="0"/>
          <a:chOff x="0" y="0"/>
          <a:chExt cx="0" cy="0"/>
        </a:xfrm>
      </p:grpSpPr>
      <p:sp>
        <p:nvSpPr>
          <p:cNvPr id="866" name="Google Shape;866;p71"/>
          <p:cNvSpPr txBox="1"/>
          <p:nvPr/>
        </p:nvSpPr>
        <p:spPr>
          <a:xfrm>
            <a:off x="571500" y="476250"/>
            <a:ext cx="5400675"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1E3A8A"/>
                </a:solidFill>
                <a:latin typeface="Playfair Display"/>
                <a:ea typeface="Playfair Display"/>
                <a:cs typeface="Playfair Display"/>
                <a:sym typeface="Playfair Display"/>
              </a:rPr>
              <a:t>Kiểm tra Đa cộng tuyến (VIF)</a:t>
            </a:r>
            <a:endParaRPr/>
          </a:p>
        </p:txBody>
      </p:sp>
      <p:sp>
        <p:nvSpPr>
          <p:cNvPr id="867" name="Google Shape;867;p71"/>
          <p:cNvSpPr txBox="1"/>
          <p:nvPr/>
        </p:nvSpPr>
        <p:spPr>
          <a:xfrm>
            <a:off x="571500" y="2458491"/>
            <a:ext cx="5400675"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Playfair Display"/>
                <a:ea typeface="Playfair Display"/>
                <a:cs typeface="Playfair Display"/>
                <a:sym typeface="Playfair Display"/>
              </a:rPr>
              <a:t>Đánh giá độ sạch của mô hình</a:t>
            </a:r>
            <a:endParaRPr/>
          </a:p>
        </p:txBody>
      </p:sp>
      <p:sp>
        <p:nvSpPr>
          <p:cNvPr id="868" name="Google Shape;868;p71"/>
          <p:cNvSpPr txBox="1"/>
          <p:nvPr/>
        </p:nvSpPr>
        <p:spPr>
          <a:xfrm>
            <a:off x="857250" y="2934741"/>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Chỉ số VIF (Variance Inflation Factor) của tất cả các biến độc lập đều </a:t>
            </a:r>
            <a:r>
              <a:rPr b="1" i="0" lang="en-US" sz="1350" u="none" cap="none" strike="noStrike">
                <a:solidFill>
                  <a:srgbClr val="1E40AF"/>
                </a:solidFill>
                <a:latin typeface="Nunito"/>
                <a:ea typeface="Nunito"/>
                <a:cs typeface="Nunito"/>
                <a:sym typeface="Nunito"/>
              </a:rPr>
              <a:t>&lt; 2</a:t>
            </a:r>
            <a:r>
              <a:rPr b="0" i="0" lang="en-US" sz="1350" u="none" cap="none" strike="noStrike">
                <a:solidFill>
                  <a:srgbClr val="334155"/>
                </a:solidFill>
                <a:latin typeface="Nunito"/>
                <a:ea typeface="Nunito"/>
                <a:cs typeface="Nunito"/>
                <a:sym typeface="Nunito"/>
              </a:rPr>
              <a:t>.</a:t>
            </a:r>
            <a:endParaRPr/>
          </a:p>
        </p:txBody>
      </p:sp>
      <p:sp>
        <p:nvSpPr>
          <p:cNvPr id="869" name="Google Shape;869;p71"/>
          <p:cNvSpPr txBox="1"/>
          <p:nvPr/>
        </p:nvSpPr>
        <p:spPr>
          <a:xfrm>
            <a:off x="857250" y="3654772"/>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Khẳng định không có hiện tượng đa cộng tuyến nghiêm trọng (chồng chéo thông tin) xảy ra.</a:t>
            </a:r>
            <a:endParaRPr/>
          </a:p>
        </p:txBody>
      </p:sp>
      <p:sp>
        <p:nvSpPr>
          <p:cNvPr id="870" name="Google Shape;870;p71"/>
          <p:cNvSpPr txBox="1"/>
          <p:nvPr/>
        </p:nvSpPr>
        <p:spPr>
          <a:xfrm>
            <a:off x="857250" y="4374802"/>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Nunito"/>
                <a:ea typeface="Nunito"/>
                <a:cs typeface="Nunito"/>
                <a:sym typeface="Nunito"/>
              </a:rPr>
              <a:t>Dữ liệu ở mức độ ổn định cực cao, hoàn toàn sẵn sàng để đưa vào huấn luyện các thuật toán Học máy.</a:t>
            </a:r>
            <a:endParaRPr/>
          </a:p>
        </p:txBody>
      </p:sp>
      <p:pic>
        <p:nvPicPr>
          <p:cNvPr descr="image.png" id="871" name="Google Shape;871;p71"/>
          <p:cNvPicPr preferRelativeResize="0"/>
          <p:nvPr/>
        </p:nvPicPr>
        <p:blipFill rotWithShape="1">
          <a:blip r:embed="rId3">
            <a:alphaModFix/>
          </a:blip>
          <a:srcRect b="0" l="0" r="0" t="0"/>
          <a:stretch/>
        </p:blipFill>
        <p:spPr>
          <a:xfrm>
            <a:off x="571500" y="2953791"/>
            <a:ext cx="104775" cy="180975"/>
          </a:xfrm>
          <a:prstGeom prst="rect">
            <a:avLst/>
          </a:prstGeom>
          <a:noFill/>
          <a:ln>
            <a:noFill/>
          </a:ln>
        </p:spPr>
      </p:pic>
      <p:pic>
        <p:nvPicPr>
          <p:cNvPr descr="image.png" id="872" name="Google Shape;872;p71"/>
          <p:cNvPicPr preferRelativeResize="0"/>
          <p:nvPr/>
        </p:nvPicPr>
        <p:blipFill rotWithShape="1">
          <a:blip r:embed="rId3">
            <a:alphaModFix/>
          </a:blip>
          <a:srcRect b="0" l="0" r="0" t="0"/>
          <a:stretch/>
        </p:blipFill>
        <p:spPr>
          <a:xfrm>
            <a:off x="571500" y="3673822"/>
            <a:ext cx="104775" cy="180975"/>
          </a:xfrm>
          <a:prstGeom prst="rect">
            <a:avLst/>
          </a:prstGeom>
          <a:noFill/>
          <a:ln>
            <a:noFill/>
          </a:ln>
        </p:spPr>
      </p:pic>
      <p:pic>
        <p:nvPicPr>
          <p:cNvPr descr="image.png" id="873" name="Google Shape;873;p71"/>
          <p:cNvPicPr preferRelativeResize="0"/>
          <p:nvPr/>
        </p:nvPicPr>
        <p:blipFill rotWithShape="1">
          <a:blip r:embed="rId3">
            <a:alphaModFix/>
          </a:blip>
          <a:srcRect b="0" l="0" r="0" t="0"/>
          <a:stretch/>
        </p:blipFill>
        <p:spPr>
          <a:xfrm>
            <a:off x="571500" y="4393852"/>
            <a:ext cx="104775" cy="180975"/>
          </a:xfrm>
          <a:prstGeom prst="rect">
            <a:avLst/>
          </a:prstGeom>
          <a:noFill/>
          <a:ln>
            <a:noFill/>
          </a:ln>
        </p:spPr>
      </p:pic>
      <p:pic>
        <p:nvPicPr>
          <p:cNvPr id="874" name="Google Shape;874;p71" title="16_Case7_VIF_Factor_Barplot.png"/>
          <p:cNvPicPr preferRelativeResize="0"/>
          <p:nvPr/>
        </p:nvPicPr>
        <p:blipFill>
          <a:blip r:embed="rId4">
            <a:alphaModFix/>
          </a:blip>
          <a:stretch>
            <a:fillRect/>
          </a:stretch>
        </p:blipFill>
        <p:spPr>
          <a:xfrm>
            <a:off x="6086150" y="1766839"/>
            <a:ext cx="5829873" cy="3994950"/>
          </a:xfrm>
          <a:prstGeom prst="rect">
            <a:avLst/>
          </a:prstGeom>
          <a:noFill/>
          <a:ln cap="flat" cmpd="sng" w="19050">
            <a:solidFill>
              <a:srgbClr val="1E3A8A"/>
            </a:solidFill>
            <a:prstDash val="solid"/>
            <a:round/>
            <a:headEnd len="sm" w="sm" type="none"/>
            <a:tailEnd len="sm" w="sm" type="none"/>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pic>
        <p:nvPicPr>
          <p:cNvPr descr="image.png" id="879" name="Google Shape;879;p7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80" name="Google Shape;880;p72"/>
          <p:cNvPicPr preferRelativeResize="0"/>
          <p:nvPr/>
        </p:nvPicPr>
        <p:blipFill rotWithShape="1">
          <a:blip r:embed="rId4">
            <a:alphaModFix/>
          </a:blip>
          <a:srcRect b="0" l="0" r="0" t="0"/>
          <a:stretch/>
        </p:blipFill>
        <p:spPr>
          <a:xfrm>
            <a:off x="762000" y="2137320"/>
            <a:ext cx="3365450" cy="3958679"/>
          </a:xfrm>
          <a:prstGeom prst="rect">
            <a:avLst/>
          </a:prstGeom>
          <a:noFill/>
          <a:ln>
            <a:noFill/>
          </a:ln>
        </p:spPr>
      </p:pic>
      <p:pic>
        <p:nvPicPr>
          <p:cNvPr descr="image.png" id="881" name="Google Shape;881;p72"/>
          <p:cNvPicPr preferRelativeResize="0"/>
          <p:nvPr/>
        </p:nvPicPr>
        <p:blipFill rotWithShape="1">
          <a:blip r:embed="rId5">
            <a:alphaModFix/>
          </a:blip>
          <a:srcRect b="0" l="0" r="0" t="0"/>
          <a:stretch/>
        </p:blipFill>
        <p:spPr>
          <a:xfrm>
            <a:off x="4413200" y="2137320"/>
            <a:ext cx="3365450" cy="3958679"/>
          </a:xfrm>
          <a:prstGeom prst="rect">
            <a:avLst/>
          </a:prstGeom>
          <a:noFill/>
          <a:ln>
            <a:noFill/>
          </a:ln>
        </p:spPr>
      </p:pic>
      <p:pic>
        <p:nvPicPr>
          <p:cNvPr descr="image.png" id="882" name="Google Shape;882;p72"/>
          <p:cNvPicPr preferRelativeResize="0"/>
          <p:nvPr/>
        </p:nvPicPr>
        <p:blipFill rotWithShape="1">
          <a:blip r:embed="rId6">
            <a:alphaModFix/>
          </a:blip>
          <a:srcRect b="0" l="0" r="0" t="0"/>
          <a:stretch/>
        </p:blipFill>
        <p:spPr>
          <a:xfrm>
            <a:off x="8064400" y="2137320"/>
            <a:ext cx="3365450" cy="3958679"/>
          </a:xfrm>
          <a:prstGeom prst="rect">
            <a:avLst/>
          </a:prstGeom>
          <a:noFill/>
          <a:ln>
            <a:noFill/>
          </a:ln>
        </p:spPr>
      </p:pic>
      <p:sp>
        <p:nvSpPr>
          <p:cNvPr id="883" name="Google Shape;883;p72"/>
          <p:cNvSpPr txBox="1"/>
          <p:nvPr/>
        </p:nvSpPr>
        <p:spPr>
          <a:xfrm>
            <a:off x="762000" y="571500"/>
            <a:ext cx="11201400" cy="600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900" u="none" cap="none" strike="noStrike">
                <a:solidFill>
                  <a:srgbClr val="FFFFFF"/>
                </a:solidFill>
                <a:latin typeface="Plus Jakarta Sans"/>
                <a:ea typeface="Plus Jakarta Sans"/>
                <a:cs typeface="Plus Jakarta Sans"/>
                <a:sym typeface="Plus Jakarta Sans"/>
              </a:rPr>
              <a:t>Xếp hạng Yếu tố Nguy cơ</a:t>
            </a:r>
            <a:endParaRPr/>
          </a:p>
        </p:txBody>
      </p:sp>
      <p:sp>
        <p:nvSpPr>
          <p:cNvPr id="884" name="Google Shape;884;p72"/>
          <p:cNvSpPr txBox="1"/>
          <p:nvPr/>
        </p:nvSpPr>
        <p:spPr>
          <a:xfrm>
            <a:off x="762000" y="1280070"/>
            <a:ext cx="10668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38BDF8"/>
                </a:solidFill>
                <a:latin typeface="Plus Jakarta Sans Medium"/>
                <a:ea typeface="Plus Jakarta Sans Medium"/>
                <a:cs typeface="Plus Jakarta Sans Medium"/>
                <a:sym typeface="Plus Jakarta Sans Medium"/>
              </a:rPr>
              <a:t>CÁC BIẾN QUYẾT ĐỊNH</a:t>
            </a:r>
            <a:endParaRPr/>
          </a:p>
        </p:txBody>
      </p:sp>
      <p:sp>
        <p:nvSpPr>
          <p:cNvPr id="885" name="Google Shape;885;p72"/>
          <p:cNvSpPr/>
          <p:nvPr/>
        </p:nvSpPr>
        <p:spPr>
          <a:xfrm>
            <a:off x="762000" y="1565820"/>
            <a:ext cx="381000" cy="285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886" name="Google Shape;886;p72"/>
          <p:cNvPicPr preferRelativeResize="0"/>
          <p:nvPr/>
        </p:nvPicPr>
        <p:blipFill rotWithShape="1">
          <a:blip r:embed="rId7">
            <a:alphaModFix/>
          </a:blip>
          <a:srcRect b="0" l="0" r="0" t="0"/>
          <a:stretch/>
        </p:blipFill>
        <p:spPr>
          <a:xfrm>
            <a:off x="1104900" y="2556420"/>
            <a:ext cx="666750" cy="666750"/>
          </a:xfrm>
          <a:prstGeom prst="rect">
            <a:avLst/>
          </a:prstGeom>
          <a:noFill/>
          <a:ln>
            <a:noFill/>
          </a:ln>
        </p:spPr>
      </p:pic>
      <p:sp>
        <p:nvSpPr>
          <p:cNvPr id="887" name="Google Shape;887;p72"/>
          <p:cNvSpPr txBox="1"/>
          <p:nvPr/>
        </p:nvSpPr>
        <p:spPr>
          <a:xfrm>
            <a:off x="1104900" y="3508920"/>
            <a:ext cx="2813700" cy="300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950" u="none" cap="none" strike="noStrike">
                <a:solidFill>
                  <a:srgbClr val="FFFFFF"/>
                </a:solidFill>
                <a:latin typeface="Plus Jakarta Sans SemiBold"/>
                <a:ea typeface="Plus Jakarta Sans SemiBold"/>
                <a:cs typeface="Plus Jakarta Sans SemiBold"/>
                <a:sym typeface="Plus Jakarta Sans SemiBold"/>
              </a:rPr>
              <a:t>Biến Trung Tâm</a:t>
            </a:r>
            <a:endParaRPr/>
          </a:p>
        </p:txBody>
      </p:sp>
      <p:sp>
        <p:nvSpPr>
          <p:cNvPr id="888" name="Google Shape;888;p72"/>
          <p:cNvSpPr txBox="1"/>
          <p:nvPr/>
        </p:nvSpPr>
        <p:spPr>
          <a:xfrm>
            <a:off x="1104900" y="4021335"/>
            <a:ext cx="26796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DA4AF"/>
                </a:solidFill>
                <a:latin typeface="Plus Jakarta Sans SemiBold"/>
                <a:ea typeface="Plus Jakarta Sans SemiBold"/>
                <a:cs typeface="Plus Jakarta Sans SemiBold"/>
                <a:sym typeface="Plus Jakarta Sans SemiBold"/>
              </a:rPr>
              <a:t>Glucose</a:t>
            </a:r>
            <a:r>
              <a:rPr b="0" i="0" lang="en-US" sz="1425" u="none" cap="none" strike="noStrike">
                <a:solidFill>
                  <a:srgbClr val="CBD5E1"/>
                </a:solidFill>
                <a:latin typeface="Plus Jakarta Sans"/>
                <a:ea typeface="Plus Jakarta Sans"/>
                <a:cs typeface="Plus Jakarta Sans"/>
                <a:sym typeface="Plus Jakarta Sans"/>
              </a:rPr>
              <a:t> luôn giữ vị trí là biến trung tâm và quan trọng nhất trong việc chẩn đoán bệnh.</a:t>
            </a:r>
            <a:endParaRPr/>
          </a:p>
        </p:txBody>
      </p:sp>
      <p:pic>
        <p:nvPicPr>
          <p:cNvPr descr="image.png" id="889" name="Google Shape;889;p72"/>
          <p:cNvPicPr preferRelativeResize="0"/>
          <p:nvPr/>
        </p:nvPicPr>
        <p:blipFill rotWithShape="1">
          <a:blip r:embed="rId8">
            <a:alphaModFix/>
          </a:blip>
          <a:srcRect b="0" l="0" r="0" t="0"/>
          <a:stretch/>
        </p:blipFill>
        <p:spPr>
          <a:xfrm>
            <a:off x="4756100" y="2556420"/>
            <a:ext cx="666750" cy="666750"/>
          </a:xfrm>
          <a:prstGeom prst="rect">
            <a:avLst/>
          </a:prstGeom>
          <a:noFill/>
          <a:ln>
            <a:noFill/>
          </a:ln>
        </p:spPr>
      </p:pic>
      <p:sp>
        <p:nvSpPr>
          <p:cNvPr id="890" name="Google Shape;890;p72"/>
          <p:cNvSpPr txBox="1"/>
          <p:nvPr/>
        </p:nvSpPr>
        <p:spPr>
          <a:xfrm>
            <a:off x="4756100" y="3508920"/>
            <a:ext cx="2813700" cy="300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950" u="none" cap="none" strike="noStrike">
                <a:solidFill>
                  <a:srgbClr val="FFFFFF"/>
                </a:solidFill>
                <a:latin typeface="Plus Jakarta Sans SemiBold"/>
                <a:ea typeface="Plus Jakarta Sans SemiBold"/>
                <a:cs typeface="Plus Jakarta Sans SemiBold"/>
                <a:sym typeface="Plus Jakarta Sans SemiBold"/>
              </a:rPr>
              <a:t>Biến Điều Chỉnh</a:t>
            </a:r>
            <a:endParaRPr/>
          </a:p>
        </p:txBody>
      </p:sp>
      <p:sp>
        <p:nvSpPr>
          <p:cNvPr id="891" name="Google Shape;891;p72"/>
          <p:cNvSpPr txBox="1"/>
          <p:nvPr/>
        </p:nvSpPr>
        <p:spPr>
          <a:xfrm>
            <a:off x="4756100" y="4021335"/>
            <a:ext cx="26796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Nhóm </a:t>
            </a:r>
            <a:r>
              <a:rPr b="0" i="0" lang="en-US" sz="1425" u="none" cap="none" strike="noStrike">
                <a:solidFill>
                  <a:srgbClr val="6EE7B7"/>
                </a:solidFill>
                <a:latin typeface="Plus Jakarta Sans SemiBold"/>
                <a:ea typeface="Plus Jakarta Sans SemiBold"/>
                <a:cs typeface="Plus Jakarta Sans SemiBold"/>
                <a:sym typeface="Plus Jakarta Sans SemiBold"/>
              </a:rPr>
              <a:t>BMI</a:t>
            </a:r>
            <a:r>
              <a:rPr b="0" i="0" lang="en-US" sz="1425" u="none" cap="none" strike="noStrike">
                <a:solidFill>
                  <a:srgbClr val="CBD5E1"/>
                </a:solidFill>
                <a:latin typeface="Plus Jakarta Sans"/>
                <a:ea typeface="Plus Jakarta Sans"/>
                <a:cs typeface="Plus Jakarta Sans"/>
                <a:sym typeface="Plus Jakarta Sans"/>
              </a:rPr>
              <a:t>, </a:t>
            </a:r>
            <a:r>
              <a:rPr b="0" i="0" lang="en-US" sz="1425" u="none" cap="none" strike="noStrike">
                <a:solidFill>
                  <a:srgbClr val="6EE7B7"/>
                </a:solidFill>
                <a:latin typeface="Plus Jakarta Sans SemiBold"/>
                <a:ea typeface="Plus Jakarta Sans SemiBold"/>
                <a:cs typeface="Plus Jakarta Sans SemiBold"/>
                <a:sym typeface="Plus Jakarta Sans SemiBold"/>
              </a:rPr>
              <a:t>Tuổi (Age)</a:t>
            </a:r>
            <a:r>
              <a:rPr b="0" i="0" lang="en-US" sz="1425" u="none" cap="none" strike="noStrike">
                <a:solidFill>
                  <a:srgbClr val="CBD5E1"/>
                </a:solidFill>
                <a:latin typeface="Plus Jakarta Sans"/>
                <a:ea typeface="Plus Jakarta Sans"/>
                <a:cs typeface="Plus Jakarta Sans"/>
                <a:sym typeface="Plus Jakarta Sans"/>
              </a:rPr>
              <a:t> và </a:t>
            </a:r>
            <a:r>
              <a:rPr b="0" i="0" lang="en-US" sz="1425" u="none" cap="none" strike="noStrike">
                <a:solidFill>
                  <a:srgbClr val="6EE7B7"/>
                </a:solidFill>
                <a:latin typeface="Plus Jakarta Sans SemiBold"/>
                <a:ea typeface="Plus Jakarta Sans SemiBold"/>
                <a:cs typeface="Plus Jakarta Sans SemiBold"/>
                <a:sym typeface="Plus Jakarta Sans SemiBold"/>
              </a:rPr>
              <a:t>Di truyền (DPF)</a:t>
            </a:r>
            <a:r>
              <a:rPr b="0" i="0" lang="en-US" sz="1425" u="none" cap="none" strike="noStrike">
                <a:solidFill>
                  <a:srgbClr val="CBD5E1"/>
                </a:solidFill>
                <a:latin typeface="Plus Jakarta Sans"/>
                <a:ea typeface="Plus Jakarta Sans"/>
                <a:cs typeface="Plus Jakarta Sans"/>
                <a:sym typeface="Plus Jakarta Sans"/>
              </a:rPr>
              <a:t> đóng vai trò là các biến điều chỉnh nguy cơ chính.</a:t>
            </a:r>
            <a:endParaRPr/>
          </a:p>
        </p:txBody>
      </p:sp>
      <p:pic>
        <p:nvPicPr>
          <p:cNvPr descr="image.png" id="892" name="Google Shape;892;p72"/>
          <p:cNvPicPr preferRelativeResize="0"/>
          <p:nvPr/>
        </p:nvPicPr>
        <p:blipFill rotWithShape="1">
          <a:blip r:embed="rId9">
            <a:alphaModFix/>
          </a:blip>
          <a:srcRect b="0" l="0" r="0" t="0"/>
          <a:stretch/>
        </p:blipFill>
        <p:spPr>
          <a:xfrm>
            <a:off x="8407300" y="2556420"/>
            <a:ext cx="666750" cy="666750"/>
          </a:xfrm>
          <a:prstGeom prst="rect">
            <a:avLst/>
          </a:prstGeom>
          <a:noFill/>
          <a:ln>
            <a:noFill/>
          </a:ln>
        </p:spPr>
      </p:pic>
      <p:sp>
        <p:nvSpPr>
          <p:cNvPr id="893" name="Google Shape;893;p72"/>
          <p:cNvSpPr txBox="1"/>
          <p:nvPr/>
        </p:nvSpPr>
        <p:spPr>
          <a:xfrm>
            <a:off x="8407300" y="3508920"/>
            <a:ext cx="2813700" cy="300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950" u="none" cap="none" strike="noStrike">
                <a:solidFill>
                  <a:srgbClr val="FFFFFF"/>
                </a:solidFill>
                <a:latin typeface="Plus Jakarta Sans SemiBold"/>
                <a:ea typeface="Plus Jakarta Sans SemiBold"/>
                <a:cs typeface="Plus Jakarta Sans SemiBold"/>
                <a:sym typeface="Plus Jakarta Sans SemiBold"/>
              </a:rPr>
              <a:t>Mức Ảnh Hưởng Thấp</a:t>
            </a:r>
            <a:endParaRPr/>
          </a:p>
        </p:txBody>
      </p:sp>
      <p:sp>
        <p:nvSpPr>
          <p:cNvPr id="894" name="Google Shape;894;p72"/>
          <p:cNvSpPr txBox="1"/>
          <p:nvPr/>
        </p:nvSpPr>
        <p:spPr>
          <a:xfrm>
            <a:off x="8407300" y="4021335"/>
            <a:ext cx="2679600" cy="16224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Ngược lại, </a:t>
            </a:r>
            <a:r>
              <a:rPr b="0" i="0" lang="en-US" sz="1425" u="none" cap="none" strike="noStrike">
                <a:solidFill>
                  <a:srgbClr val="7DD3FC"/>
                </a:solidFill>
                <a:latin typeface="Plus Jakarta Sans SemiBold"/>
                <a:ea typeface="Plus Jakarta Sans SemiBold"/>
                <a:cs typeface="Plus Jakarta Sans SemiBold"/>
                <a:sym typeface="Plus Jakarta Sans SemiBold"/>
              </a:rPr>
              <a:t>Huyết áp</a:t>
            </a:r>
            <a:r>
              <a:rPr b="0" i="0" lang="en-US" sz="1425" u="none" cap="none" strike="noStrike">
                <a:solidFill>
                  <a:srgbClr val="CBD5E1"/>
                </a:solidFill>
                <a:latin typeface="Plus Jakarta Sans"/>
                <a:ea typeface="Plus Jakarta Sans"/>
                <a:cs typeface="Plus Jakarta Sans"/>
                <a:sym typeface="Plus Jakarta Sans"/>
              </a:rPr>
              <a:t> (Blood Pressure) và </a:t>
            </a:r>
            <a:r>
              <a:rPr b="0" i="0" lang="en-US" sz="1425" u="none" cap="none" strike="noStrike">
                <a:solidFill>
                  <a:srgbClr val="7DD3FC"/>
                </a:solidFill>
                <a:latin typeface="Plus Jakarta Sans SemiBold"/>
                <a:ea typeface="Plus Jakarta Sans SemiBold"/>
                <a:cs typeface="Plus Jakarta Sans SemiBold"/>
                <a:sym typeface="Plus Jakarta Sans SemiBold"/>
              </a:rPr>
              <a:t>Độ dày da</a:t>
            </a:r>
            <a:r>
              <a:rPr b="0" i="0" lang="en-US" sz="1425" u="none" cap="none" strike="noStrike">
                <a:solidFill>
                  <a:srgbClr val="CBD5E1"/>
                </a:solidFill>
                <a:latin typeface="Plus Jakarta Sans"/>
                <a:ea typeface="Plus Jakarta Sans"/>
                <a:cs typeface="Plus Jakarta Sans"/>
                <a:sym typeface="Plus Jakarta Sans"/>
              </a:rPr>
              <a:t> (SkinThickness) có mức độ ảnh hưởng rất thấp trong quần thể này.</a:t>
            </a:r>
            <a:endParaRPr/>
          </a:p>
        </p:txBody>
      </p:sp>
      <p:pic>
        <p:nvPicPr>
          <p:cNvPr descr="image.png" id="895" name="Google Shape;895;p72"/>
          <p:cNvPicPr preferRelativeResize="0"/>
          <p:nvPr/>
        </p:nvPicPr>
        <p:blipFill rotWithShape="1">
          <a:blip r:embed="rId10">
            <a:alphaModFix/>
          </a:blip>
          <a:srcRect b="0" l="0" r="0" t="0"/>
          <a:stretch/>
        </p:blipFill>
        <p:spPr>
          <a:xfrm>
            <a:off x="1328737" y="2746920"/>
            <a:ext cx="219075" cy="285750"/>
          </a:xfrm>
          <a:prstGeom prst="rect">
            <a:avLst/>
          </a:prstGeom>
          <a:noFill/>
          <a:ln>
            <a:noFill/>
          </a:ln>
        </p:spPr>
      </p:pic>
      <p:pic>
        <p:nvPicPr>
          <p:cNvPr descr="image.png" id="896" name="Google Shape;896;p72"/>
          <p:cNvPicPr preferRelativeResize="0"/>
          <p:nvPr/>
        </p:nvPicPr>
        <p:blipFill rotWithShape="1">
          <a:blip r:embed="rId11">
            <a:alphaModFix/>
          </a:blip>
          <a:srcRect b="0" l="0" r="0" t="0"/>
          <a:stretch/>
        </p:blipFill>
        <p:spPr>
          <a:xfrm>
            <a:off x="4908500" y="2746920"/>
            <a:ext cx="361950" cy="285750"/>
          </a:xfrm>
          <a:prstGeom prst="rect">
            <a:avLst/>
          </a:prstGeom>
          <a:noFill/>
          <a:ln>
            <a:noFill/>
          </a:ln>
        </p:spPr>
      </p:pic>
      <p:pic>
        <p:nvPicPr>
          <p:cNvPr descr="image.png" id="897" name="Google Shape;897;p72"/>
          <p:cNvPicPr preferRelativeResize="0"/>
          <p:nvPr/>
        </p:nvPicPr>
        <p:blipFill rotWithShape="1">
          <a:blip r:embed="rId12">
            <a:alphaModFix/>
          </a:blip>
          <a:srcRect b="0" l="0" r="0" t="0"/>
          <a:stretch/>
        </p:blipFill>
        <p:spPr>
          <a:xfrm>
            <a:off x="8578750" y="2746920"/>
            <a:ext cx="323850" cy="2857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01" name="Shape 901"/>
        <p:cNvGrpSpPr/>
        <p:nvPr/>
      </p:nvGrpSpPr>
      <p:grpSpPr>
        <a:xfrm>
          <a:off x="0" y="0"/>
          <a:ext cx="0" cy="0"/>
          <a:chOff x="0" y="0"/>
          <a:chExt cx="0" cy="0"/>
        </a:xfrm>
      </p:grpSpPr>
      <p:pic>
        <p:nvPicPr>
          <p:cNvPr descr="image.png" id="902" name="Google Shape;902;p7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03" name="Google Shape;903;p73"/>
          <p:cNvPicPr preferRelativeResize="0"/>
          <p:nvPr/>
        </p:nvPicPr>
        <p:blipFill rotWithShape="1">
          <a:blip r:embed="rId4">
            <a:alphaModFix/>
          </a:blip>
          <a:srcRect b="0" l="0" r="0" t="0"/>
          <a:stretch/>
        </p:blipFill>
        <p:spPr>
          <a:xfrm>
            <a:off x="762000" y="2232719"/>
            <a:ext cx="2777579" cy="352425"/>
          </a:xfrm>
          <a:prstGeom prst="rect">
            <a:avLst/>
          </a:prstGeom>
          <a:noFill/>
          <a:ln>
            <a:noFill/>
          </a:ln>
        </p:spPr>
      </p:pic>
      <p:pic>
        <p:nvPicPr>
          <p:cNvPr descr="image.png" id="904" name="Google Shape;904;p73"/>
          <p:cNvPicPr preferRelativeResize="0"/>
          <p:nvPr/>
        </p:nvPicPr>
        <p:blipFill rotWithShape="1">
          <a:blip r:embed="rId5">
            <a:alphaModFix/>
          </a:blip>
          <a:srcRect b="0" l="0" r="0" t="0"/>
          <a:stretch/>
        </p:blipFill>
        <p:spPr>
          <a:xfrm>
            <a:off x="5372100" y="1057275"/>
            <a:ext cx="5867400" cy="2491680"/>
          </a:xfrm>
          <a:prstGeom prst="rect">
            <a:avLst/>
          </a:prstGeom>
          <a:noFill/>
          <a:ln>
            <a:noFill/>
          </a:ln>
        </p:spPr>
      </p:pic>
      <p:pic>
        <p:nvPicPr>
          <p:cNvPr descr="image.png" id="905" name="Google Shape;905;p73"/>
          <p:cNvPicPr preferRelativeResize="0"/>
          <p:nvPr/>
        </p:nvPicPr>
        <p:blipFill rotWithShape="1">
          <a:blip r:embed="rId6">
            <a:alphaModFix/>
          </a:blip>
          <a:srcRect b="0" l="0" r="0" t="0"/>
          <a:stretch/>
        </p:blipFill>
        <p:spPr>
          <a:xfrm>
            <a:off x="5372100" y="3834705"/>
            <a:ext cx="5867400" cy="1965870"/>
          </a:xfrm>
          <a:prstGeom prst="rect">
            <a:avLst/>
          </a:prstGeom>
          <a:noFill/>
          <a:ln>
            <a:noFill/>
          </a:ln>
        </p:spPr>
      </p:pic>
      <p:pic>
        <p:nvPicPr>
          <p:cNvPr descr="image.png" id="906" name="Google Shape;906;p73"/>
          <p:cNvPicPr preferRelativeResize="0"/>
          <p:nvPr/>
        </p:nvPicPr>
        <p:blipFill rotWithShape="1">
          <a:blip r:embed="rId7">
            <a:alphaModFix/>
          </a:blip>
          <a:srcRect b="0" l="0" r="0" t="0"/>
          <a:stretch/>
        </p:blipFill>
        <p:spPr>
          <a:xfrm>
            <a:off x="5829300" y="2596455"/>
            <a:ext cx="4383434" cy="609600"/>
          </a:xfrm>
          <a:prstGeom prst="rect">
            <a:avLst/>
          </a:prstGeom>
          <a:noFill/>
          <a:ln>
            <a:noFill/>
          </a:ln>
        </p:spPr>
      </p:pic>
      <p:pic>
        <p:nvPicPr>
          <p:cNvPr descr="image.png" id="907" name="Google Shape;907;p73"/>
          <p:cNvPicPr preferRelativeResize="0"/>
          <p:nvPr/>
        </p:nvPicPr>
        <p:blipFill rotWithShape="1">
          <a:blip r:embed="rId8">
            <a:alphaModFix/>
          </a:blip>
          <a:srcRect b="0" l="0" r="0" t="0"/>
          <a:stretch/>
        </p:blipFill>
        <p:spPr>
          <a:xfrm>
            <a:off x="9324975" y="371475"/>
            <a:ext cx="171450" cy="152400"/>
          </a:xfrm>
          <a:prstGeom prst="rect">
            <a:avLst/>
          </a:prstGeom>
          <a:noFill/>
          <a:ln>
            <a:noFill/>
          </a:ln>
        </p:spPr>
      </p:pic>
      <p:sp>
        <p:nvSpPr>
          <p:cNvPr id="908" name="Google Shape;908;p73"/>
          <p:cNvSpPr txBox="1"/>
          <p:nvPr/>
        </p:nvSpPr>
        <p:spPr>
          <a:xfrm>
            <a:off x="762000" y="2870894"/>
            <a:ext cx="4240500" cy="1357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4200" u="none" cap="none" strike="noStrike">
                <a:solidFill>
                  <a:srgbClr val="0F172A"/>
                </a:solidFill>
                <a:latin typeface="Plus Jakarta Sans ExtraBold"/>
                <a:ea typeface="Plus Jakarta Sans ExtraBold"/>
                <a:cs typeface="Plus Jakarta Sans ExtraBold"/>
                <a:sym typeface="Plus Jakarta Sans ExtraBold"/>
              </a:rPr>
              <a:t>Phân tích Cụm</a:t>
            </a:r>
            <a:br>
              <a:rPr b="0" i="0" lang="en-US" sz="1800" u="none" cap="none" strike="noStrike">
                <a:solidFill>
                  <a:schemeClr val="dk1"/>
                </a:solidFill>
                <a:latin typeface="Calibri"/>
                <a:ea typeface="Calibri"/>
                <a:cs typeface="Calibri"/>
                <a:sym typeface="Calibri"/>
              </a:rPr>
            </a:br>
            <a:r>
              <a:rPr b="0" i="0" lang="en-US" sz="4200" u="none" cap="none" strike="noStrike">
                <a:solidFill>
                  <a:srgbClr val="0F172A"/>
                </a:solidFill>
                <a:latin typeface="Plus Jakarta Sans ExtraBold"/>
                <a:ea typeface="Plus Jakarta Sans ExtraBold"/>
                <a:cs typeface="Plus Jakarta Sans ExtraBold"/>
                <a:sym typeface="Plus Jakarta Sans ExtraBold"/>
              </a:rPr>
              <a:t> bệnh nhân</a:t>
            </a:r>
            <a:endParaRPr/>
          </a:p>
        </p:txBody>
      </p:sp>
      <p:sp>
        <p:nvSpPr>
          <p:cNvPr id="909" name="Google Shape;909;p73"/>
          <p:cNvSpPr txBox="1"/>
          <p:nvPr/>
        </p:nvSpPr>
        <p:spPr>
          <a:xfrm>
            <a:off x="762000" y="4139505"/>
            <a:ext cx="4038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2563EB"/>
                </a:solidFill>
                <a:latin typeface="Plus Jakarta Sans SemiBold"/>
                <a:ea typeface="Plus Jakarta Sans SemiBold"/>
                <a:cs typeface="Plus Jakarta Sans SemiBold"/>
                <a:sym typeface="Plus Jakarta Sans SemiBold"/>
              </a:rPr>
              <a:t>(Clustering)</a:t>
            </a:r>
            <a:endParaRPr/>
          </a:p>
        </p:txBody>
      </p:sp>
      <p:pic>
        <p:nvPicPr>
          <p:cNvPr descr="image.png" id="910" name="Google Shape;910;p73"/>
          <p:cNvPicPr preferRelativeResize="0"/>
          <p:nvPr/>
        </p:nvPicPr>
        <p:blipFill rotWithShape="1">
          <a:blip r:embed="rId9">
            <a:alphaModFix/>
          </a:blip>
          <a:srcRect b="0" l="0" r="0" t="0"/>
          <a:stretch/>
        </p:blipFill>
        <p:spPr>
          <a:xfrm>
            <a:off x="952500" y="2342257"/>
            <a:ext cx="165794" cy="133350"/>
          </a:xfrm>
          <a:prstGeom prst="rect">
            <a:avLst/>
          </a:prstGeom>
          <a:noFill/>
          <a:ln>
            <a:noFill/>
          </a:ln>
        </p:spPr>
      </p:pic>
      <p:sp>
        <p:nvSpPr>
          <p:cNvPr id="911" name="Google Shape;911;p73"/>
          <p:cNvSpPr txBox="1"/>
          <p:nvPr/>
        </p:nvSpPr>
        <p:spPr>
          <a:xfrm>
            <a:off x="5829300" y="1857375"/>
            <a:ext cx="50196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Nhóm bệnh nhân Béo phì (BMI ~ 37) kết hợp Glucose tăng cao (Mean ~ 161). Đây là nhóm cần can thiệp y tế khẩn cấp.</a:t>
            </a:r>
            <a:endParaRPr/>
          </a:p>
        </p:txBody>
      </p:sp>
      <p:sp>
        <p:nvSpPr>
          <p:cNvPr id="912" name="Google Shape;912;p73"/>
          <p:cNvSpPr txBox="1"/>
          <p:nvPr/>
        </p:nvSpPr>
        <p:spPr>
          <a:xfrm>
            <a:off x="5829300" y="4634805"/>
            <a:ext cx="50196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Nhóm người béo phì nhưng mức glucose vẫn ở ngưỡng bình thường. Mặc dù chưa phát bệnh, đối tượng này cần được đưa vào diện quản lý lối sống và theo dõi dinh dưỡng từ sớm.</a:t>
            </a:r>
            <a:endParaRPr/>
          </a:p>
        </p:txBody>
      </p:sp>
      <p:pic>
        <p:nvPicPr>
          <p:cNvPr descr="image.png" id="913" name="Google Shape;913;p73"/>
          <p:cNvPicPr preferRelativeResize="0"/>
          <p:nvPr/>
        </p:nvPicPr>
        <p:blipFill rotWithShape="1">
          <a:blip r:embed="rId10">
            <a:alphaModFix/>
          </a:blip>
          <a:srcRect b="0" l="0" r="0" t="0"/>
          <a:stretch/>
        </p:blipFill>
        <p:spPr>
          <a:xfrm>
            <a:off x="5829300" y="1423987"/>
            <a:ext cx="266700" cy="266700"/>
          </a:xfrm>
          <a:prstGeom prst="rect">
            <a:avLst/>
          </a:prstGeom>
          <a:noFill/>
          <a:ln>
            <a:noFill/>
          </a:ln>
        </p:spPr>
      </p:pic>
      <p:sp>
        <p:nvSpPr>
          <p:cNvPr id="914" name="Google Shape;914;p73"/>
          <p:cNvSpPr txBox="1"/>
          <p:nvPr/>
        </p:nvSpPr>
        <p:spPr>
          <a:xfrm>
            <a:off x="6238875" y="1400175"/>
            <a:ext cx="27804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172A"/>
                </a:solidFill>
                <a:latin typeface="Plus Jakarta Sans"/>
                <a:ea typeface="Plus Jakarta Sans"/>
                <a:cs typeface="Plus Jakarta Sans"/>
                <a:sym typeface="Plus Jakarta Sans"/>
              </a:rPr>
              <a:t>Cụm nguy cơ cao nhất</a:t>
            </a:r>
            <a:endParaRPr/>
          </a:p>
        </p:txBody>
      </p:sp>
      <p:pic>
        <p:nvPicPr>
          <p:cNvPr descr="image.png" id="915" name="Google Shape;915;p73"/>
          <p:cNvPicPr preferRelativeResize="0"/>
          <p:nvPr/>
        </p:nvPicPr>
        <p:blipFill rotWithShape="1">
          <a:blip r:embed="rId11">
            <a:alphaModFix/>
          </a:blip>
          <a:srcRect b="0" l="0" r="0" t="0"/>
          <a:stretch/>
        </p:blipFill>
        <p:spPr>
          <a:xfrm>
            <a:off x="6076950" y="2786955"/>
            <a:ext cx="257175" cy="228600"/>
          </a:xfrm>
          <a:prstGeom prst="rect">
            <a:avLst/>
          </a:prstGeom>
          <a:noFill/>
          <a:ln>
            <a:noFill/>
          </a:ln>
        </p:spPr>
      </p:pic>
      <p:sp>
        <p:nvSpPr>
          <p:cNvPr id="916" name="Google Shape;916;p73"/>
          <p:cNvSpPr txBox="1"/>
          <p:nvPr/>
        </p:nvSpPr>
        <p:spPr>
          <a:xfrm>
            <a:off x="6477000" y="2806005"/>
            <a:ext cx="2392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991B1B"/>
                </a:solidFill>
                <a:latin typeface="Inter SemiBold"/>
                <a:ea typeface="Inter SemiBold"/>
                <a:cs typeface="Inter SemiBold"/>
                <a:sym typeface="Inter SemiBold"/>
              </a:rPr>
              <a:t>TỶ LỆ MẮC BỆNH BÁO ĐỘNG:</a:t>
            </a:r>
            <a:endParaRPr/>
          </a:p>
        </p:txBody>
      </p:sp>
      <p:sp>
        <p:nvSpPr>
          <p:cNvPr id="917" name="Google Shape;917;p73"/>
          <p:cNvSpPr txBox="1"/>
          <p:nvPr/>
        </p:nvSpPr>
        <p:spPr>
          <a:xfrm>
            <a:off x="8934448" y="2746725"/>
            <a:ext cx="11577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400" u="none" cap="none" strike="noStrike">
                <a:solidFill>
                  <a:srgbClr val="EF4444"/>
                </a:solidFill>
                <a:latin typeface="Plus Jakarta Sans ExtraBold"/>
                <a:ea typeface="Plus Jakarta Sans ExtraBold"/>
                <a:cs typeface="Plus Jakarta Sans ExtraBold"/>
                <a:sym typeface="Plus Jakarta Sans ExtraBold"/>
              </a:rPr>
              <a:t>67.7%</a:t>
            </a:r>
            <a:endParaRPr/>
          </a:p>
        </p:txBody>
      </p:sp>
      <p:pic>
        <p:nvPicPr>
          <p:cNvPr descr="image.png" id="918" name="Google Shape;918;p73"/>
          <p:cNvPicPr preferRelativeResize="0"/>
          <p:nvPr/>
        </p:nvPicPr>
        <p:blipFill rotWithShape="1">
          <a:blip r:embed="rId12">
            <a:alphaModFix/>
          </a:blip>
          <a:srcRect b="0" l="0" r="0" t="0"/>
          <a:stretch/>
        </p:blipFill>
        <p:spPr>
          <a:xfrm>
            <a:off x="5829300" y="4201417"/>
            <a:ext cx="333375" cy="266700"/>
          </a:xfrm>
          <a:prstGeom prst="rect">
            <a:avLst/>
          </a:prstGeom>
          <a:noFill/>
          <a:ln>
            <a:noFill/>
          </a:ln>
        </p:spPr>
      </p:pic>
      <p:sp>
        <p:nvSpPr>
          <p:cNvPr id="919" name="Google Shape;919;p73"/>
          <p:cNvSpPr txBox="1"/>
          <p:nvPr/>
        </p:nvSpPr>
        <p:spPr>
          <a:xfrm>
            <a:off x="6305550" y="4177605"/>
            <a:ext cx="19902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172A"/>
                </a:solidFill>
                <a:latin typeface="Plus Jakarta Sans"/>
                <a:ea typeface="Plus Jakarta Sans"/>
                <a:cs typeface="Plus Jakarta Sans"/>
                <a:sym typeface="Plus Jakarta Sans"/>
              </a:rPr>
              <a:t>Cụm nguy cơ ẩn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923" name="Shape 923"/>
        <p:cNvGrpSpPr/>
        <p:nvPr/>
      </p:nvGrpSpPr>
      <p:grpSpPr>
        <a:xfrm>
          <a:off x="0" y="0"/>
          <a:ext cx="0" cy="0"/>
          <a:chOff x="0" y="0"/>
          <a:chExt cx="0" cy="0"/>
        </a:xfrm>
      </p:grpSpPr>
      <p:pic>
        <p:nvPicPr>
          <p:cNvPr descr="image.png" id="924" name="Google Shape;924;p74"/>
          <p:cNvPicPr preferRelativeResize="0"/>
          <p:nvPr/>
        </p:nvPicPr>
        <p:blipFill rotWithShape="1">
          <a:blip r:embed="rId3">
            <a:alphaModFix/>
          </a:blip>
          <a:srcRect b="0" l="0" r="0" t="0"/>
          <a:stretch/>
        </p:blipFill>
        <p:spPr>
          <a:xfrm>
            <a:off x="952500" y="1914525"/>
            <a:ext cx="10287000" cy="2438400"/>
          </a:xfrm>
          <a:prstGeom prst="rect">
            <a:avLst/>
          </a:prstGeom>
          <a:noFill/>
          <a:ln>
            <a:noFill/>
          </a:ln>
        </p:spPr>
      </p:pic>
      <p:pic>
        <p:nvPicPr>
          <p:cNvPr descr="image.png" id="925" name="Google Shape;925;p74"/>
          <p:cNvPicPr preferRelativeResize="0"/>
          <p:nvPr/>
        </p:nvPicPr>
        <p:blipFill rotWithShape="1">
          <a:blip r:embed="rId4">
            <a:alphaModFix/>
          </a:blip>
          <a:srcRect b="0" l="0" r="0" t="0"/>
          <a:stretch/>
        </p:blipFill>
        <p:spPr>
          <a:xfrm>
            <a:off x="4538662" y="6248400"/>
            <a:ext cx="190500" cy="152400"/>
          </a:xfrm>
          <a:prstGeom prst="rect">
            <a:avLst/>
          </a:prstGeom>
          <a:noFill/>
          <a:ln>
            <a:noFill/>
          </a:ln>
        </p:spPr>
      </p:pic>
      <p:sp>
        <p:nvSpPr>
          <p:cNvPr id="926" name="Google Shape;926;p74"/>
          <p:cNvSpPr txBox="1"/>
          <p:nvPr/>
        </p:nvSpPr>
        <p:spPr>
          <a:xfrm>
            <a:off x="952500" y="762000"/>
            <a:ext cx="108015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1E3A8A"/>
                </a:solidFill>
                <a:latin typeface="Plus Jakarta Sans ExtraBold"/>
                <a:ea typeface="Plus Jakarta Sans ExtraBold"/>
                <a:cs typeface="Plus Jakarta Sans ExtraBold"/>
                <a:sym typeface="Plus Jakarta Sans ExtraBold"/>
              </a:rPr>
              <a:t>Tổng kết Phát hiện Chính</a:t>
            </a:r>
            <a:endParaRPr/>
          </a:p>
        </p:txBody>
      </p:sp>
      <p:sp>
        <p:nvSpPr>
          <p:cNvPr id="927" name="Google Shape;927;p74"/>
          <p:cNvSpPr txBox="1"/>
          <p:nvPr/>
        </p:nvSpPr>
        <p:spPr>
          <a:xfrm>
            <a:off x="1195387" y="2333625"/>
            <a:ext cx="98013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2563EB"/>
                </a:solidFill>
                <a:latin typeface="Plus Jakarta Sans"/>
                <a:ea typeface="Plus Jakarta Sans"/>
                <a:cs typeface="Plus Jakarta Sans"/>
                <a:sym typeface="Plus Jakarta Sans"/>
              </a:rPr>
              <a:t>Tóm lược Insight Lâm sàng</a:t>
            </a:r>
            <a:endParaRPr/>
          </a:p>
        </p:txBody>
      </p:sp>
      <p:sp>
        <p:nvSpPr>
          <p:cNvPr id="928" name="Google Shape;928;p74"/>
          <p:cNvSpPr txBox="1"/>
          <p:nvPr/>
        </p:nvSpPr>
        <p:spPr>
          <a:xfrm>
            <a:off x="1428750" y="2943225"/>
            <a:ext cx="9334500" cy="1062000"/>
          </a:xfrm>
          <a:prstGeom prst="rect">
            <a:avLst/>
          </a:prstGeom>
          <a:noFill/>
          <a:ln>
            <a:noFill/>
          </a:ln>
        </p:spPr>
        <p:txBody>
          <a:bodyPr anchorCtr="0" anchor="t" bIns="0" lIns="0" spcFirstLastPara="1" rIns="0" wrap="square" tIns="0">
            <a:spAutoFit/>
          </a:bodyPr>
          <a:lstStyle/>
          <a:p>
            <a:pPr indent="0" lvl="0" marL="0" marR="0" rtl="0" algn="ctr">
              <a:lnSpc>
                <a:spcPct val="180000"/>
              </a:lnSpc>
              <a:spcBef>
                <a:spcPts val="0"/>
              </a:spcBef>
              <a:spcAft>
                <a:spcPts val="0"/>
              </a:spcAft>
              <a:buNone/>
            </a:pPr>
            <a:r>
              <a:rPr b="0" i="0" lang="en-US" sz="1500" u="none" cap="none" strike="noStrike">
                <a:solidFill>
                  <a:srgbClr val="475569"/>
                </a:solidFill>
                <a:latin typeface="Inter"/>
                <a:ea typeface="Inter"/>
                <a:cs typeface="Inter"/>
                <a:sym typeface="Inter"/>
              </a:rPr>
              <a:t>Dataset có tính đặc thù cao đối với phụ nữ Pima. Chỉ số </a:t>
            </a:r>
            <a:r>
              <a:rPr b="1" i="0" lang="en-US" sz="1500" u="none" cap="none" strike="noStrike">
                <a:solidFill>
                  <a:srgbClr val="1E3A8A"/>
                </a:solidFill>
                <a:latin typeface="Inter"/>
                <a:ea typeface="Inter"/>
                <a:cs typeface="Inter"/>
                <a:sym typeface="Inter"/>
              </a:rPr>
              <a:t>DPF</a:t>
            </a:r>
            <a:r>
              <a:rPr b="0" i="0" lang="en-US" sz="1500" u="none" cap="none" strike="noStrike">
                <a:solidFill>
                  <a:srgbClr val="475569"/>
                </a:solidFill>
                <a:latin typeface="Inter"/>
                <a:ea typeface="Inter"/>
                <a:cs typeface="Inter"/>
                <a:sym typeface="Inter"/>
              </a:rPr>
              <a:t> nổi bật nhấn mạnh yếu tố gen di truyền cực đoan trong cộng đồng này, kết hợp cùng các yếu tố dưới đây tạo thành </a:t>
            </a:r>
            <a:r>
              <a:rPr b="0" i="0" lang="en-US" sz="1500" u="none" cap="none" strike="noStrike">
                <a:solidFill>
                  <a:srgbClr val="1E3A8A"/>
                </a:solidFill>
                <a:latin typeface="Inter ExtraBold"/>
                <a:ea typeface="Inter ExtraBold"/>
                <a:cs typeface="Inter ExtraBold"/>
                <a:sym typeface="Inter ExtraBold"/>
              </a:rPr>
              <a:t>BỘ TỨ CỐT LÕI</a:t>
            </a:r>
            <a:r>
              <a:rPr b="0" i="0" lang="en-US" sz="1500" u="none" cap="none" strike="noStrike">
                <a:solidFill>
                  <a:srgbClr val="475569"/>
                </a:solidFill>
                <a:latin typeface="Inter"/>
                <a:ea typeface="Inter"/>
                <a:cs typeface="Inter"/>
                <a:sym typeface="Inter"/>
              </a:rPr>
              <a:t> quyết định bệnh lý.</a:t>
            </a:r>
            <a:endParaRPr/>
          </a:p>
        </p:txBody>
      </p:sp>
      <p:sp>
        <p:nvSpPr>
          <p:cNvPr id="929" name="Google Shape;929;p74"/>
          <p:cNvSpPr txBox="1"/>
          <p:nvPr/>
        </p:nvSpPr>
        <p:spPr>
          <a:xfrm>
            <a:off x="1747837" y="5867400"/>
            <a:ext cx="838200" cy="5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334155"/>
                </a:solidFill>
                <a:latin typeface="Plus Jakarta Sans"/>
                <a:ea typeface="Plus Jakarta Sans"/>
                <a:cs typeface="Plus Jakarta Sans"/>
                <a:sym typeface="Plus Jakarta Sans"/>
              </a:rPr>
              <a:t>Glucose</a:t>
            </a:r>
            <a:endParaRPr/>
          </a:p>
        </p:txBody>
      </p:sp>
      <p:sp>
        <p:nvSpPr>
          <p:cNvPr id="930" name="Google Shape;930;p74"/>
          <p:cNvSpPr txBox="1"/>
          <p:nvPr/>
        </p:nvSpPr>
        <p:spPr>
          <a:xfrm>
            <a:off x="4591050" y="5867400"/>
            <a:ext cx="3906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334155"/>
                </a:solidFill>
                <a:latin typeface="Plus Jakarta Sans"/>
                <a:ea typeface="Plus Jakarta Sans"/>
                <a:cs typeface="Plus Jakarta Sans"/>
                <a:sym typeface="Plus Jakarta Sans"/>
              </a:rPr>
              <a:t>BMI</a:t>
            </a:r>
            <a:endParaRPr/>
          </a:p>
        </p:txBody>
      </p:sp>
      <p:sp>
        <p:nvSpPr>
          <p:cNvPr id="931" name="Google Shape;931;p74"/>
          <p:cNvSpPr txBox="1"/>
          <p:nvPr/>
        </p:nvSpPr>
        <p:spPr>
          <a:xfrm>
            <a:off x="7010400" y="5867400"/>
            <a:ext cx="790500" cy="5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334155"/>
                </a:solidFill>
                <a:latin typeface="Plus Jakarta Sans"/>
                <a:ea typeface="Plus Jakarta Sans"/>
                <a:cs typeface="Plus Jakarta Sans"/>
                <a:sym typeface="Plus Jakarta Sans"/>
              </a:rPr>
              <a:t>Tuổi tác</a:t>
            </a:r>
            <a:endParaRPr/>
          </a:p>
        </p:txBody>
      </p:sp>
      <p:sp>
        <p:nvSpPr>
          <p:cNvPr id="932" name="Google Shape;932;p74"/>
          <p:cNvSpPr txBox="1"/>
          <p:nvPr/>
        </p:nvSpPr>
        <p:spPr>
          <a:xfrm>
            <a:off x="9272587" y="5867400"/>
            <a:ext cx="1505100" cy="5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E11D48"/>
                </a:solidFill>
                <a:latin typeface="Plus Jakarta Sans"/>
                <a:ea typeface="Plus Jakarta Sans"/>
                <a:cs typeface="Plus Jakarta Sans"/>
                <a:sym typeface="Plus Jakarta Sans"/>
              </a:rPr>
              <a:t>Di truyền (DPF)</a:t>
            </a:r>
            <a:endParaRPr/>
          </a:p>
        </p:txBody>
      </p:sp>
      <p:pic>
        <p:nvPicPr>
          <p:cNvPr descr="image.png" id="933" name="Google Shape;933;p74"/>
          <p:cNvPicPr preferRelativeResize="0"/>
          <p:nvPr/>
        </p:nvPicPr>
        <p:blipFill rotWithShape="1">
          <a:blip r:embed="rId5">
            <a:alphaModFix/>
          </a:blip>
          <a:srcRect b="0" l="0" r="0" t="0"/>
          <a:stretch/>
        </p:blipFill>
        <p:spPr>
          <a:xfrm>
            <a:off x="1909762" y="5162550"/>
            <a:ext cx="514350" cy="457200"/>
          </a:xfrm>
          <a:prstGeom prst="rect">
            <a:avLst/>
          </a:prstGeom>
          <a:noFill/>
          <a:ln>
            <a:noFill/>
          </a:ln>
        </p:spPr>
      </p:pic>
      <p:pic>
        <p:nvPicPr>
          <p:cNvPr descr="image.png" id="934" name="Google Shape;934;p74"/>
          <p:cNvPicPr preferRelativeResize="0"/>
          <p:nvPr/>
        </p:nvPicPr>
        <p:blipFill rotWithShape="1">
          <a:blip r:embed="rId6">
            <a:alphaModFix/>
          </a:blip>
          <a:srcRect b="0" l="0" r="0" t="0"/>
          <a:stretch/>
        </p:blipFill>
        <p:spPr>
          <a:xfrm>
            <a:off x="4557712" y="5162550"/>
            <a:ext cx="457200" cy="457200"/>
          </a:xfrm>
          <a:prstGeom prst="rect">
            <a:avLst/>
          </a:prstGeom>
          <a:noFill/>
          <a:ln>
            <a:noFill/>
          </a:ln>
        </p:spPr>
      </p:pic>
      <p:pic>
        <p:nvPicPr>
          <p:cNvPr descr="image.png" id="935" name="Google Shape;935;p74"/>
          <p:cNvPicPr preferRelativeResize="0"/>
          <p:nvPr/>
        </p:nvPicPr>
        <p:blipFill rotWithShape="1">
          <a:blip r:embed="rId7">
            <a:alphaModFix/>
          </a:blip>
          <a:srcRect b="0" l="0" r="0" t="0"/>
          <a:stretch/>
        </p:blipFill>
        <p:spPr>
          <a:xfrm>
            <a:off x="7234237" y="5162550"/>
            <a:ext cx="342900" cy="457200"/>
          </a:xfrm>
          <a:prstGeom prst="rect">
            <a:avLst/>
          </a:prstGeom>
          <a:noFill/>
          <a:ln>
            <a:noFill/>
          </a:ln>
        </p:spPr>
      </p:pic>
      <p:pic>
        <p:nvPicPr>
          <p:cNvPr descr="image.png" id="936" name="Google Shape;936;p74"/>
          <p:cNvPicPr preferRelativeResize="0"/>
          <p:nvPr/>
        </p:nvPicPr>
        <p:blipFill rotWithShape="1">
          <a:blip r:embed="rId8">
            <a:alphaModFix/>
          </a:blip>
          <a:srcRect b="0" l="0" r="0" t="0"/>
          <a:stretch/>
        </p:blipFill>
        <p:spPr>
          <a:xfrm>
            <a:off x="9825037" y="5162550"/>
            <a:ext cx="400050" cy="4572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pic>
        <p:nvPicPr>
          <p:cNvPr descr="preencoded.png" id="942" name="Google Shape;942;p75"/>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pic>
        <p:nvPicPr>
          <p:cNvPr descr="image.png" id="947" name="Google Shape;947;p7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48" name="Google Shape;948;p76"/>
          <p:cNvPicPr preferRelativeResize="0"/>
          <p:nvPr/>
        </p:nvPicPr>
        <p:blipFill rotWithShape="1">
          <a:blip r:embed="rId4">
            <a:alphaModFix/>
          </a:blip>
          <a:srcRect b="0" l="0" r="0" t="0"/>
          <a:stretch/>
        </p:blipFill>
        <p:spPr>
          <a:xfrm>
            <a:off x="762000" y="2020200"/>
            <a:ext cx="8565351" cy="1285875"/>
          </a:xfrm>
          <a:prstGeom prst="rect">
            <a:avLst/>
          </a:prstGeom>
          <a:noFill/>
          <a:ln>
            <a:noFill/>
          </a:ln>
        </p:spPr>
      </p:pic>
      <p:pic>
        <p:nvPicPr>
          <p:cNvPr descr="image.png" id="949" name="Google Shape;949;p76"/>
          <p:cNvPicPr preferRelativeResize="0"/>
          <p:nvPr/>
        </p:nvPicPr>
        <p:blipFill rotWithShape="1">
          <a:blip r:embed="rId5">
            <a:alphaModFix/>
          </a:blip>
          <a:srcRect b="0" l="0" r="0" t="0"/>
          <a:stretch/>
        </p:blipFill>
        <p:spPr>
          <a:xfrm>
            <a:off x="762000" y="3496575"/>
            <a:ext cx="8565351" cy="1285875"/>
          </a:xfrm>
          <a:prstGeom prst="rect">
            <a:avLst/>
          </a:prstGeom>
          <a:noFill/>
          <a:ln>
            <a:noFill/>
          </a:ln>
        </p:spPr>
      </p:pic>
      <p:pic>
        <p:nvPicPr>
          <p:cNvPr descr="image.png" id="950" name="Google Shape;950;p76"/>
          <p:cNvPicPr preferRelativeResize="0"/>
          <p:nvPr/>
        </p:nvPicPr>
        <p:blipFill rotWithShape="1">
          <a:blip r:embed="rId6">
            <a:alphaModFix/>
          </a:blip>
          <a:srcRect b="0" l="0" r="0" t="0"/>
          <a:stretch/>
        </p:blipFill>
        <p:spPr>
          <a:xfrm>
            <a:off x="762000" y="4972950"/>
            <a:ext cx="8565351" cy="1285875"/>
          </a:xfrm>
          <a:prstGeom prst="rect">
            <a:avLst/>
          </a:prstGeom>
          <a:noFill/>
          <a:ln>
            <a:noFill/>
          </a:ln>
        </p:spPr>
      </p:pic>
      <p:sp>
        <p:nvSpPr>
          <p:cNvPr id="951" name="Google Shape;951;p76"/>
          <p:cNvSpPr txBox="1"/>
          <p:nvPr/>
        </p:nvSpPr>
        <p:spPr>
          <a:xfrm>
            <a:off x="762000" y="571500"/>
            <a:ext cx="11201400" cy="554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FFFFF"/>
                </a:solidFill>
                <a:latin typeface="Plus Jakarta Sans"/>
                <a:ea typeface="Plus Jakarta Sans"/>
                <a:cs typeface="Plus Jakarta Sans"/>
                <a:sym typeface="Plus Jakarta Sans"/>
              </a:rPr>
              <a:t>Hạn chế &amp; Hướng nghiên cứu tiếp theo</a:t>
            </a:r>
            <a:endParaRPr/>
          </a:p>
        </p:txBody>
      </p:sp>
      <p:sp>
        <p:nvSpPr>
          <p:cNvPr id="952" name="Google Shape;952;p76"/>
          <p:cNvSpPr txBox="1"/>
          <p:nvPr/>
        </p:nvSpPr>
        <p:spPr>
          <a:xfrm>
            <a:off x="762000" y="1234380"/>
            <a:ext cx="106680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8BDF8"/>
                </a:solidFill>
                <a:latin typeface="Plus Jakarta Sans SemiBold"/>
                <a:ea typeface="Plus Jakarta Sans SemiBold"/>
                <a:cs typeface="Plus Jakarta Sans SemiBold"/>
                <a:sym typeface="Plus Jakarta Sans SemiBold"/>
              </a:rPr>
              <a:t>MỞ RỘNG TIỀM NĂNG NGHIÊN CỨU</a:t>
            </a:r>
            <a:endParaRPr/>
          </a:p>
        </p:txBody>
      </p:sp>
      <p:sp>
        <p:nvSpPr>
          <p:cNvPr id="953" name="Google Shape;953;p76"/>
          <p:cNvSpPr/>
          <p:nvPr/>
        </p:nvSpPr>
        <p:spPr>
          <a:xfrm>
            <a:off x="762000" y="1472505"/>
            <a:ext cx="285900" cy="192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954" name="Google Shape;954;p76"/>
          <p:cNvPicPr preferRelativeResize="0"/>
          <p:nvPr/>
        </p:nvPicPr>
        <p:blipFill rotWithShape="1">
          <a:blip r:embed="rId7">
            <a:alphaModFix/>
          </a:blip>
          <a:srcRect b="0" l="0" r="0" t="0"/>
          <a:stretch/>
        </p:blipFill>
        <p:spPr>
          <a:xfrm>
            <a:off x="1066800" y="2258317"/>
            <a:ext cx="476250" cy="476250"/>
          </a:xfrm>
          <a:prstGeom prst="rect">
            <a:avLst/>
          </a:prstGeom>
          <a:noFill/>
          <a:ln>
            <a:noFill/>
          </a:ln>
        </p:spPr>
      </p:pic>
      <p:pic>
        <p:nvPicPr>
          <p:cNvPr descr="image.png" id="955" name="Google Shape;955;p76"/>
          <p:cNvPicPr preferRelativeResize="0"/>
          <p:nvPr/>
        </p:nvPicPr>
        <p:blipFill rotWithShape="1">
          <a:blip r:embed="rId8">
            <a:alphaModFix/>
          </a:blip>
          <a:srcRect b="0" l="0" r="0" t="0"/>
          <a:stretch/>
        </p:blipFill>
        <p:spPr>
          <a:xfrm>
            <a:off x="1066800" y="3734692"/>
            <a:ext cx="476250" cy="476250"/>
          </a:xfrm>
          <a:prstGeom prst="rect">
            <a:avLst/>
          </a:prstGeom>
          <a:noFill/>
          <a:ln>
            <a:noFill/>
          </a:ln>
        </p:spPr>
      </p:pic>
      <p:pic>
        <p:nvPicPr>
          <p:cNvPr descr="image.png" id="956" name="Google Shape;956;p76"/>
          <p:cNvPicPr preferRelativeResize="0"/>
          <p:nvPr/>
        </p:nvPicPr>
        <p:blipFill rotWithShape="1">
          <a:blip r:embed="rId9">
            <a:alphaModFix/>
          </a:blip>
          <a:srcRect b="0" l="0" r="0" t="0"/>
          <a:stretch/>
        </p:blipFill>
        <p:spPr>
          <a:xfrm>
            <a:off x="1066800" y="5211067"/>
            <a:ext cx="476250" cy="476250"/>
          </a:xfrm>
          <a:prstGeom prst="rect">
            <a:avLst/>
          </a:prstGeom>
          <a:noFill/>
          <a:ln>
            <a:noFill/>
          </a:ln>
        </p:spPr>
      </p:pic>
      <p:pic>
        <p:nvPicPr>
          <p:cNvPr descr="image.png" id="957" name="Google Shape;957;p76"/>
          <p:cNvPicPr preferRelativeResize="0"/>
          <p:nvPr/>
        </p:nvPicPr>
        <p:blipFill rotWithShape="1">
          <a:blip r:embed="rId10">
            <a:alphaModFix/>
          </a:blip>
          <a:srcRect b="0" l="0" r="0" t="0"/>
          <a:stretch/>
        </p:blipFill>
        <p:spPr>
          <a:xfrm>
            <a:off x="1200150" y="2391667"/>
            <a:ext cx="209550" cy="209550"/>
          </a:xfrm>
          <a:prstGeom prst="rect">
            <a:avLst/>
          </a:prstGeom>
          <a:noFill/>
          <a:ln>
            <a:noFill/>
          </a:ln>
        </p:spPr>
      </p:pic>
      <p:sp>
        <p:nvSpPr>
          <p:cNvPr id="958" name="Google Shape;958;p76"/>
          <p:cNvSpPr txBox="1"/>
          <p:nvPr/>
        </p:nvSpPr>
        <p:spPr>
          <a:xfrm>
            <a:off x="1733550" y="2258317"/>
            <a:ext cx="53781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FFFFFF"/>
                </a:solidFill>
                <a:latin typeface="Plus Jakarta Sans SemiBold"/>
                <a:ea typeface="Plus Jakarta Sans SemiBold"/>
                <a:cs typeface="Plus Jakarta Sans SemiBold"/>
                <a:sym typeface="Plus Jakarta Sans SemiBold"/>
              </a:rPr>
              <a:t>Hạn chế dữ liệu hiện tại</a:t>
            </a:r>
            <a:endParaRPr/>
          </a:p>
        </p:txBody>
      </p:sp>
      <p:sp>
        <p:nvSpPr>
          <p:cNvPr id="959" name="Google Shape;959;p76"/>
          <p:cNvSpPr txBox="1"/>
          <p:nvPr/>
        </p:nvSpPr>
        <p:spPr>
          <a:xfrm>
            <a:off x="1733550" y="2582175"/>
            <a:ext cx="7164600" cy="4905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CBD5E1"/>
                </a:solidFill>
                <a:latin typeface="Plus Jakarta Sans"/>
                <a:ea typeface="Plus Jakarta Sans"/>
                <a:cs typeface="Plus Jakarta Sans"/>
                <a:sym typeface="Plus Jakarta Sans"/>
              </a:rPr>
              <a:t>Dataset hiện tại thiếu các biến lâm sàng quan trọng như HbA1c, chỉ số lipid máu, và các thói quen ăn uống sinh hoạt.</a:t>
            </a:r>
            <a:endParaRPr/>
          </a:p>
        </p:txBody>
      </p:sp>
      <p:pic>
        <p:nvPicPr>
          <p:cNvPr descr="image.png" id="960" name="Google Shape;960;p76"/>
          <p:cNvPicPr preferRelativeResize="0"/>
          <p:nvPr/>
        </p:nvPicPr>
        <p:blipFill rotWithShape="1">
          <a:blip r:embed="rId11">
            <a:alphaModFix/>
          </a:blip>
          <a:srcRect b="0" l="0" r="0" t="0"/>
          <a:stretch/>
        </p:blipFill>
        <p:spPr>
          <a:xfrm>
            <a:off x="1200150" y="3868042"/>
            <a:ext cx="209550" cy="209550"/>
          </a:xfrm>
          <a:prstGeom prst="rect">
            <a:avLst/>
          </a:prstGeom>
          <a:noFill/>
          <a:ln>
            <a:noFill/>
          </a:ln>
        </p:spPr>
      </p:pic>
      <p:sp>
        <p:nvSpPr>
          <p:cNvPr id="961" name="Google Shape;961;p76"/>
          <p:cNvSpPr txBox="1"/>
          <p:nvPr/>
        </p:nvSpPr>
        <p:spPr>
          <a:xfrm>
            <a:off x="1733550" y="3734692"/>
            <a:ext cx="53781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FFFFFF"/>
                </a:solidFill>
                <a:latin typeface="Plus Jakarta Sans SemiBold"/>
                <a:ea typeface="Plus Jakarta Sans SemiBold"/>
                <a:cs typeface="Plus Jakarta Sans SemiBold"/>
                <a:sym typeface="Plus Jakarta Sans SemiBold"/>
              </a:rPr>
              <a:t>Mở rộng dữ liệu quần thể</a:t>
            </a:r>
            <a:endParaRPr/>
          </a:p>
        </p:txBody>
      </p:sp>
      <p:sp>
        <p:nvSpPr>
          <p:cNvPr id="962" name="Google Shape;962;p76"/>
          <p:cNvSpPr txBox="1"/>
          <p:nvPr/>
        </p:nvSpPr>
        <p:spPr>
          <a:xfrm>
            <a:off x="1733550" y="4058550"/>
            <a:ext cx="6928500" cy="4905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CBD5E1"/>
                </a:solidFill>
                <a:latin typeface="Plus Jakarta Sans"/>
                <a:ea typeface="Plus Jakarta Sans"/>
                <a:cs typeface="Plus Jakarta Sans"/>
                <a:sym typeface="Plus Jakarta Sans"/>
              </a:rPr>
              <a:t>Cần thu thập và mở rộng dữ liệu trên các quần thể đa sắc tộc, đa giới tính để mô hình dự đoán mang tính phổ quát hơn.</a:t>
            </a:r>
            <a:endParaRPr/>
          </a:p>
        </p:txBody>
      </p:sp>
      <p:pic>
        <p:nvPicPr>
          <p:cNvPr descr="image.png" id="963" name="Google Shape;963;p76"/>
          <p:cNvPicPr preferRelativeResize="0"/>
          <p:nvPr/>
        </p:nvPicPr>
        <p:blipFill rotWithShape="1">
          <a:blip r:embed="rId12">
            <a:alphaModFix/>
          </a:blip>
          <a:srcRect b="0" l="0" r="0" t="0"/>
          <a:stretch/>
        </p:blipFill>
        <p:spPr>
          <a:xfrm>
            <a:off x="1200150" y="5344417"/>
            <a:ext cx="209550" cy="209550"/>
          </a:xfrm>
          <a:prstGeom prst="rect">
            <a:avLst/>
          </a:prstGeom>
          <a:noFill/>
          <a:ln>
            <a:noFill/>
          </a:ln>
        </p:spPr>
      </p:pic>
      <p:sp>
        <p:nvSpPr>
          <p:cNvPr id="964" name="Google Shape;964;p76"/>
          <p:cNvSpPr txBox="1"/>
          <p:nvPr/>
        </p:nvSpPr>
        <p:spPr>
          <a:xfrm>
            <a:off x="1733550" y="5211067"/>
            <a:ext cx="53781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FFFFFF"/>
                </a:solidFill>
                <a:latin typeface="Plus Jakarta Sans SemiBold"/>
                <a:ea typeface="Plus Jakarta Sans SemiBold"/>
                <a:cs typeface="Plus Jakarta Sans SemiBold"/>
                <a:sym typeface="Plus Jakarta Sans SemiBold"/>
              </a:rPr>
              <a:t>Nâng cao thuật toán AI</a:t>
            </a:r>
            <a:endParaRPr/>
          </a:p>
        </p:txBody>
      </p:sp>
      <p:sp>
        <p:nvSpPr>
          <p:cNvPr id="965" name="Google Shape;965;p76"/>
          <p:cNvSpPr txBox="1"/>
          <p:nvPr/>
        </p:nvSpPr>
        <p:spPr>
          <a:xfrm>
            <a:off x="1733550" y="5534925"/>
            <a:ext cx="6928500" cy="4905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CBD5E1"/>
                </a:solidFill>
                <a:latin typeface="Plus Jakarta Sans"/>
                <a:ea typeface="Plus Jakarta Sans"/>
                <a:cs typeface="Plus Jakarta Sans"/>
                <a:sym typeface="Plus Jakarta Sans"/>
              </a:rPr>
              <a:t>Áp dụng Deep Learning hoặc Survival Analysis để dự đoán chính xác hơn tiến trình chuyển từ Tiền ĐTĐ thành ĐTĐ Type 2.</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pic>
        <p:nvPicPr>
          <p:cNvPr id="970" name="Google Shape;970;p77" title="1.png"/>
          <p:cNvPicPr preferRelativeResize="0"/>
          <p:nvPr/>
        </p:nvPicPr>
        <p:blipFill>
          <a:blip r:embed="rId3">
            <a:alphaModFix/>
          </a:blip>
          <a:stretch>
            <a:fillRect/>
          </a:stretch>
        </p:blipFill>
        <p:spPr>
          <a:xfrm>
            <a:off x="152400" y="152400"/>
            <a:ext cx="11650133" cy="6553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